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8288000" cy="10287000"/>
  <p:notesSz cx="6858000" cy="9144000"/>
  <p:embeddedFontLst>
    <p:embeddedFont>
      <p:font typeface="Hakgyoansim Gaeulsopung B" panose="02000803000000000000" pitchFamily="2" charset="-127"/>
      <p:bold r:id="rId28"/>
    </p:embeddedFont>
    <p:embeddedFont>
      <p:font typeface="Pretendard Bold" panose="02000803000000020004" pitchFamily="2" charset="-127"/>
      <p:bold r:id="rId29"/>
    </p:embeddedFont>
    <p:embeddedFont>
      <p:font typeface="Pretendard Light" panose="02000403000000020004" pitchFamily="2" charset="-127"/>
      <p:regular r:id="rId30"/>
    </p:embeddedFont>
    <p:embeddedFont>
      <p:font typeface="Pretendard Medium" panose="02000603000000020004" pitchFamily="2" charset="-127"/>
      <p:regular r:id="rId31"/>
      <p:bold r:id="rId32"/>
    </p:embeddedFont>
    <p:embeddedFont>
      <p:font typeface="Pretendard Regular" panose="02000503000000020004" pitchFamily="2" charset="-127"/>
      <p:regular r:id="rId33"/>
    </p:embeddedFont>
    <p:embeddedFont>
      <p:font typeface="Pretendard SemiBold" panose="02000703000000020004" pitchFamily="2" charset="-127"/>
      <p:regular r:id="rId34"/>
      <p:bold r:id="rId35"/>
    </p:embeddedFont>
    <p:embeddedFont>
      <p:font typeface="맑은 고딕" panose="020B0503020000020004" pitchFamily="34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29" autoAdjust="0"/>
  </p:normalViewPr>
  <p:slideViewPr>
    <p:cSldViewPr>
      <p:cViewPr varScale="1">
        <p:scale>
          <a:sx n="72" d="100"/>
          <a:sy n="72" d="100"/>
        </p:scale>
        <p:origin x="76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89DFB-2448-4B42-8AF6-EC0DC8CF724C}" type="datetimeFigureOut">
              <a:rPr kumimoji="1" lang="ko-KR" altLang="en-US" smtClean="0"/>
              <a:t>2024. 7. 25.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3BC88-43DA-5E4F-A285-25D538DE44E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235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857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7870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2802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1582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9970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3416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2499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1630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7733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3269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3263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5915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8414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68993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270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1678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2330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8679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63588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9640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692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2218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5269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3BC88-43DA-5E4F-A285-25D538DE44E8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492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9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7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9.png"/><Relationship Id="rId9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7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9.png"/><Relationship Id="rId9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300" y="2006600"/>
            <a:ext cx="8001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1900" y="5143500"/>
            <a:ext cx="2692400" cy="2222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489700" y="5626100"/>
            <a:ext cx="5410200" cy="1003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9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후백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매출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상승을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위한</a:t>
            </a:r>
          </a:p>
          <a:p>
            <a:pPr lvl="0" algn="ctr">
              <a:lnSpc>
                <a:spcPct val="119519"/>
              </a:lnSpc>
            </a:pP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마케팅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솔루션</a:t>
            </a:r>
            <a:r>
              <a:rPr lang="en-US" sz="2800" b="1" i="0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Pretendard Light"/>
              </a:rPr>
              <a:t>기획안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7700" y="3848100"/>
            <a:ext cx="11912600" cy="195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1000" b="0" i="0" u="none" strike="noStrike">
                <a:solidFill>
                  <a:srgbClr val="A3957D"/>
                </a:solidFill>
                <a:latin typeface="Pretendard Bold"/>
              </a:rPr>
              <a:t>HU 100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19000" y="1295400"/>
            <a:ext cx="46990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Light"/>
              </a:rPr>
              <a:t>BRAND</a:t>
            </a:r>
          </a:p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000000"/>
                </a:solidFill>
                <a:latin typeface="Pretendard Light"/>
              </a:rPr>
              <a:t>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271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8700" y="2095500"/>
            <a:ext cx="850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7734300"/>
            <a:ext cx="8509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600"/>
            <a:ext cx="18605500" cy="1765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2300" y="2552700"/>
            <a:ext cx="7874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3898900"/>
            <a:ext cx="7874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6900" y="5270500"/>
            <a:ext cx="787400" cy="1016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4200" y="6553200"/>
            <a:ext cx="800100" cy="91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2300" y="7772400"/>
            <a:ext cx="787400" cy="1003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778500" y="4572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목차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97800" y="2540000"/>
            <a:ext cx="5410200" cy="599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자사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현황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판매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제품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SWOT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문제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인식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문제점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도출</a:t>
            </a:r>
          </a:p>
          <a:p>
            <a:pPr lvl="0" algn="l">
              <a:lnSpc>
                <a:spcPct val="151890"/>
              </a:lnSpc>
            </a:pP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TARGET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PERSONA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마케팅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신규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유입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marL="342900" lvl="0" indent="-342900" algn="l">
              <a:lnSpc>
                <a:spcPct val="151890"/>
              </a:lnSpc>
              <a:buClr>
                <a:srgbClr val="8D776A"/>
              </a:buClr>
              <a:buFont typeface="Arial"/>
              <a:buChar char="●"/>
            </a:pP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구매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전환</a:t>
            </a:r>
            <a:r>
              <a:rPr lang="en-US" sz="16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16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  <a:p>
            <a:pPr lvl="0" algn="l">
              <a:lnSpc>
                <a:spcPct val="151890"/>
              </a:lnSpc>
            </a:pP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목표</a:t>
            </a:r>
            <a:r>
              <a:rPr lang="en-US" sz="33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300" b="0" i="0" u="none" strike="noStrike">
                <a:solidFill>
                  <a:srgbClr val="8D776A"/>
                </a:solidFill>
                <a:ea typeface="Pretendard SemiBold"/>
              </a:rPr>
              <a:t>성과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63500"/>
            <a:ext cx="18605500" cy="176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7900" y="4102100"/>
            <a:ext cx="800100" cy="124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7632700"/>
            <a:ext cx="800100" cy="124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3000" y="2882900"/>
            <a:ext cx="3200400" cy="2425700"/>
          </a:xfrm>
          <a:prstGeom prst="rect">
            <a:avLst/>
          </a:prstGeom>
          <a:effectLst>
            <a:outerShdw blurRad="58837" dist="56091" dir="2700000">
              <a:srgbClr val="000000">
                <a:alpha val="5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4100" y="2895600"/>
            <a:ext cx="3175000" cy="2438400"/>
          </a:xfrm>
          <a:prstGeom prst="rect">
            <a:avLst/>
          </a:prstGeom>
          <a:effectLst>
            <a:outerShdw blurRad="59189" dist="56258" dir="2700000">
              <a:srgbClr val="000000">
                <a:alpha val="5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6500" y="2908300"/>
            <a:ext cx="3213100" cy="2438400"/>
          </a:xfrm>
          <a:prstGeom prst="rect">
            <a:avLst/>
          </a:prstGeom>
          <a:effectLst>
            <a:outerShdw blurRad="59189" dist="56258" dir="2700000">
              <a:srgbClr val="000000">
                <a:alpha val="5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4300" y="1485900"/>
            <a:ext cx="2616200" cy="2616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727700" y="4191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브랜드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판매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자사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2600" y="5384800"/>
            <a:ext cx="4495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답례품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80g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60200" y="5384800"/>
            <a:ext cx="487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답례품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2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/3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/4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48500" y="5384800"/>
            <a:ext cx="4495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실속형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3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팩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120g x 3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호두정과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 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9200" y="6896100"/>
            <a:ext cx="3213100" cy="2413000"/>
          </a:xfrm>
          <a:prstGeom prst="rect">
            <a:avLst/>
          </a:prstGeom>
          <a:effectLst>
            <a:outerShdw blurRad="58290" dist="55829" dir="2700000">
              <a:srgbClr val="000000">
                <a:alpha val="5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6604000" y="9372600"/>
            <a:ext cx="4876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호두강정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낱개포장</a:t>
            </a:r>
            <a:r>
              <a:rPr lang="en-US" sz="2000" b="0" i="0" u="none" strike="noStrike">
                <a:solidFill>
                  <a:srgbClr val="8D776A"/>
                </a:solidFill>
                <a:latin typeface="Pretendard SemiBold"/>
              </a:rPr>
              <a:t> 12</a:t>
            </a:r>
            <a:r>
              <a:rPr lang="ko-KR" sz="2000" b="0" i="0" u="none" strike="noStrike">
                <a:solidFill>
                  <a:srgbClr val="8D776A"/>
                </a:solidFill>
                <a:ea typeface="Pretendard SemiBold"/>
              </a:rPr>
              <a:t>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19400" y="2032000"/>
            <a:ext cx="33020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000" b="0" i="0" u="none" strike="noStrike">
                <a:solidFill>
                  <a:srgbClr val="DB0000"/>
                </a:solidFill>
                <a:ea typeface="Hakgyoansim Gaeulsopung B"/>
              </a:rPr>
              <a:t>주력</a:t>
            </a:r>
            <a:r>
              <a:rPr lang="en-US" sz="5000" b="0" i="0" u="none" strike="noStrike">
                <a:solidFill>
                  <a:srgbClr val="DB0000"/>
                </a:solidFill>
                <a:latin typeface="Hakgyoansim Gaeulsopung B"/>
              </a:rPr>
              <a:t> </a:t>
            </a:r>
            <a:r>
              <a:rPr lang="ko-KR" sz="5000" b="0" i="0" u="none" strike="noStrike">
                <a:solidFill>
                  <a:srgbClr val="DB0000"/>
                </a:solidFill>
                <a:ea typeface="Hakgyoansim Gaeulsopung B"/>
              </a:rPr>
              <a:t>상품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271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0" y="2082800"/>
            <a:ext cx="8509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7480300"/>
            <a:ext cx="8509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5448300"/>
            <a:ext cx="15913100" cy="13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5613400" y="5422900"/>
            <a:ext cx="6769100" cy="139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276600"/>
            <a:ext cx="127000" cy="127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784600"/>
            <a:ext cx="127000" cy="12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4292600"/>
            <a:ext cx="127000" cy="12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4826000"/>
            <a:ext cx="127000" cy="12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3213100"/>
            <a:ext cx="127000" cy="12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3721100"/>
            <a:ext cx="127000" cy="127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4254500"/>
            <a:ext cx="127000" cy="12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4762500"/>
            <a:ext cx="127000" cy="12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7099300"/>
            <a:ext cx="127000" cy="12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7632700"/>
            <a:ext cx="127000" cy="1270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1682635700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800" y="6959600"/>
            <a:ext cx="127000" cy="127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7800" y="7505700"/>
            <a:ext cx="127000" cy="127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01600"/>
            <a:ext cx="18605500" cy="1765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25700" y="3987800"/>
            <a:ext cx="3987800" cy="139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17200" y="5003800"/>
            <a:ext cx="3187700" cy="114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28300" y="3937000"/>
            <a:ext cx="3187700" cy="114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4500" y="4470400"/>
            <a:ext cx="4648200" cy="114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778500" y="457200"/>
            <a:ext cx="66421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SWOT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분석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0800" y="2082800"/>
            <a:ext cx="2019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-100">
                <a:solidFill>
                  <a:srgbClr val="8D776A"/>
                </a:solidFill>
                <a:latin typeface="Pretendard SemiBold"/>
              </a:rPr>
              <a:t>S</a:t>
            </a: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trength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4800" y="2095500"/>
            <a:ext cx="24892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000" b="0" i="0" u="none" strike="noStrike" spc="-100">
                <a:solidFill>
                  <a:srgbClr val="8D776A"/>
                </a:solidFill>
                <a:latin typeface="Pretendard SemiBold"/>
              </a:rPr>
              <a:t>W</a:t>
            </a: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eekness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8100" y="5626100"/>
            <a:ext cx="30988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100">
                <a:solidFill>
                  <a:srgbClr val="8D776A"/>
                </a:solidFill>
                <a:latin typeface="Pretendard SemiBold"/>
              </a:rPr>
              <a:t>O</a:t>
            </a:r>
            <a:r>
              <a:rPr lang="en-US" sz="3200" b="0" i="0" u="none" strike="noStrike">
                <a:solidFill>
                  <a:srgbClr val="8D776A"/>
                </a:solidFill>
                <a:latin typeface="Pretendard SemiBold"/>
              </a:rPr>
              <a:t>ppertunity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4800" y="5638800"/>
            <a:ext cx="1727200" cy="1143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6400" b="0" i="0" u="none" strike="noStrike" spc="-100">
                <a:solidFill>
                  <a:srgbClr val="8D776A"/>
                </a:solidFill>
                <a:latin typeface="Pretendard SemiBold"/>
              </a:rPr>
              <a:t>T</a:t>
            </a:r>
            <a:r>
              <a:rPr lang="en-US" sz="3200" b="0" i="0" u="none" strike="noStrike">
                <a:solidFill>
                  <a:srgbClr val="8D776A"/>
                </a:solidFill>
                <a:latin typeface="Pretendard SemiBold"/>
              </a:rPr>
              <a:t>hreat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63800" y="3111500"/>
            <a:ext cx="5664200" cy="193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리뷰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,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평점이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좋음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수제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제작으로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퀄리티가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높음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고객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응대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속도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빠름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주문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신속한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배송처리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68000" y="3035300"/>
            <a:ext cx="5829300" cy="193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제품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,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맛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다양성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상세페이지의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디자인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광고를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통한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유입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대비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구매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전환율이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낮음</a:t>
            </a:r>
          </a:p>
          <a:p>
            <a:pPr lvl="0" algn="l">
              <a:lnSpc>
                <a:spcPct val="159359"/>
              </a:lnSpc>
            </a:pP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SNS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채널의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홍보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부족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25700" y="6946900"/>
            <a:ext cx="66421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건강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식품의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유행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호두에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다양한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맛을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추가하여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소비자의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폭을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확대할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있음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53700" y="6807200"/>
            <a:ext cx="5664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답례품의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시장에서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와인의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비중이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높아지는중</a:t>
            </a:r>
          </a:p>
          <a:p>
            <a:pPr lvl="0" algn="l">
              <a:lnSpc>
                <a:spcPct val="159359"/>
              </a:lnSpc>
            </a:pP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호두를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싫어하거나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알러지가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있는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사람들에게</a:t>
            </a:r>
            <a:r>
              <a:rPr lang="en-US" sz="2100" b="0" i="0" u="none" strike="noStrike">
                <a:solidFill>
                  <a:srgbClr val="787878"/>
                </a:solidFill>
                <a:latin typeface="Pretendard SemiBold"/>
              </a:rPr>
              <a:t> </a:t>
            </a:r>
            <a:r>
              <a:rPr lang="ko-KR" sz="2100" b="0" i="0" u="none" strike="noStrike">
                <a:solidFill>
                  <a:srgbClr val="787878"/>
                </a:solidFill>
                <a:ea typeface="Pretendard SemiBold"/>
              </a:rPr>
              <a:t>외면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자사분석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500" y="2641600"/>
            <a:ext cx="8064500" cy="6108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315200" y="444500"/>
            <a:ext cx="3657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PERSONA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25900" y="215900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TARGET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4100" y="4635500"/>
            <a:ext cx="7340600" cy="180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유입수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결제수</a:t>
            </a:r>
            <a:r>
              <a:rPr lang="en-US" sz="36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600" b="0" i="0" u="none" strike="noStrike">
                <a:solidFill>
                  <a:srgbClr val="000000"/>
                </a:solidFill>
                <a:ea typeface="Pretendard Bold"/>
              </a:rPr>
              <a:t>대비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  <a:p>
            <a:pPr lvl="0" algn="l">
              <a:lnSpc>
                <a:spcPct val="99600"/>
              </a:lnSpc>
            </a:pPr>
            <a:br>
              <a:rPr/>
            </a:b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주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구매자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31~35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세</a:t>
            </a: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700" b="0" i="0" u="none" strike="noStrike">
                <a:solidFill>
                  <a:srgbClr val="000000"/>
                </a:solidFill>
                <a:ea typeface="Pretendard Bold"/>
              </a:rPr>
              <a:t>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2362200"/>
            <a:ext cx="4787900" cy="617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4203700"/>
            <a:ext cx="2806700" cy="80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7200900"/>
            <a:ext cx="2692400" cy="800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0700" y="3937000"/>
            <a:ext cx="7607300" cy="800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3100" y="6908800"/>
            <a:ext cx="4546600" cy="86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6400" y="3962400"/>
            <a:ext cx="2222500" cy="10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34800" y="4406900"/>
            <a:ext cx="3632200" cy="101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955800" y="5905500"/>
            <a:ext cx="18034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en-US" sz="2800" b="0" i="0" u="none" strike="noStrike">
                <a:solidFill>
                  <a:srgbClr val="8D776A"/>
                </a:solidFill>
                <a:latin typeface="Pretendard SemiBold"/>
              </a:rPr>
              <a:t>Profile</a:t>
            </a:r>
          </a:p>
          <a:p>
            <a:pPr lvl="0" algn="l">
              <a:lnSpc>
                <a:spcPct val="106240"/>
              </a:lnSpc>
            </a:pPr>
            <a:r>
              <a:rPr lang="en-US" sz="2800" b="0" i="0" u="none" strike="noStrike">
                <a:solidFill>
                  <a:srgbClr val="8D776A"/>
                </a:solidFill>
                <a:latin typeface="Pretendard SemiBold"/>
              </a:rPr>
              <a:t>   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이름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황보정</a:t>
            </a:r>
          </a:p>
          <a:p>
            <a:pPr lvl="0" algn="l">
              <a:lnSpc>
                <a:spcPct val="10624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나이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31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세</a:t>
            </a:r>
          </a:p>
          <a:p>
            <a:pPr lvl="0" algn="l">
              <a:lnSpc>
                <a:spcPct val="10624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직업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배우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28200" y="3098800"/>
            <a:ext cx="72771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07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NEEDS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고급스러우면서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가격이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부담되지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않는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답례품을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원함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결혼식에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오신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어르신과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동료를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고려한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답례품을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찾고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있음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48900" y="5384800"/>
            <a:ext cx="7670800" cy="223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5369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PAIN POINT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제품의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합리적이지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못한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가격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고급스럽지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못한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패키징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배송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날짜가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맞지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않음</a:t>
            </a:r>
          </a:p>
          <a:p>
            <a:pPr lvl="0" algn="l">
              <a:lnSpc>
                <a:spcPct val="115369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너무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맛이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달면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안됨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4800" y="3225800"/>
            <a:ext cx="27051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SemiBold"/>
              </a:rPr>
              <a:t>BIO</a:t>
            </a:r>
          </a:p>
          <a:p>
            <a:pPr lvl="0" algn="l">
              <a:lnSpc>
                <a:spcPct val="99600"/>
              </a:lnSpc>
            </a:pP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    8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월에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결혼식</a:t>
            </a:r>
            <a:r>
              <a:rPr lang="en-US" sz="24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2400" b="0" i="0" u="none" strike="noStrike">
                <a:solidFill>
                  <a:srgbClr val="8D776A"/>
                </a:solidFill>
                <a:ea typeface="Pretendard SemiBold"/>
              </a:rPr>
              <a:t>예정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00" y="444500"/>
            <a:ext cx="3657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PERSONA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25900" y="215900"/>
            <a:ext cx="12319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3200" y="38100"/>
            <a:ext cx="18605500" cy="187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11300" y="406400"/>
            <a:ext cx="152908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문제점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36600" y="3683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문제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인식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3187700"/>
            <a:ext cx="5003800" cy="1181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4978400"/>
            <a:ext cx="50038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6807200"/>
            <a:ext cx="5003800" cy="1181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3771900"/>
            <a:ext cx="29210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3187700"/>
            <a:ext cx="5003800" cy="1181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4978400"/>
            <a:ext cx="5003800" cy="1181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3700" y="6807200"/>
            <a:ext cx="5003800" cy="1181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700" y="5562600"/>
            <a:ext cx="29210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7366000"/>
            <a:ext cx="2921000" cy="38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048000" y="3314700"/>
            <a:ext cx="42291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실제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여러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소비자로부터의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b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</a:b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상세페이지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문제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수집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48000" y="5295900"/>
            <a:ext cx="42164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SNS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를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활용한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마케팅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부족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82900" y="6946900"/>
            <a:ext cx="4483100" cy="876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적절하지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못한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키워드로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선정으로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인한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비효율적인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파워링크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SemiBold"/>
              </a:rPr>
              <a:t>광고</a:t>
            </a:r>
            <a:r>
              <a:rPr lang="en-US" sz="27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34700" y="3492500"/>
            <a:ext cx="43307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상세페이지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개선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18800" y="5067300"/>
            <a:ext cx="46101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유튜브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,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인스타그램등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SNS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채널</a:t>
            </a:r>
          </a:p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컨텐츠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마케팅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6908800"/>
            <a:ext cx="47625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분석을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통한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효율적인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키워드</a:t>
            </a:r>
            <a:r>
              <a:rPr lang="en-US" sz="29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900" b="0" i="0" u="none" strike="noStrike">
                <a:solidFill>
                  <a:srgbClr val="000000"/>
                </a:solidFill>
                <a:ea typeface="Pretendard SemiBold"/>
              </a:rPr>
              <a:t>산출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4531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210300" y="4559300"/>
            <a:ext cx="58674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신규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고객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유입</a:t>
            </a:r>
            <a:r>
              <a:rPr lang="en-US" sz="55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DFDF2"/>
                </a:solidFill>
                <a:ea typeface="Pretendard SemiBold"/>
              </a:rPr>
              <a:t>전략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765800"/>
            <a:ext cx="5232400" cy="142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0" y="2628900"/>
            <a:ext cx="10223500" cy="6845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413000" y="4813300"/>
            <a:ext cx="25400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200" b="0" i="0" u="none" strike="noStrike">
                <a:solidFill>
                  <a:srgbClr val="000000"/>
                </a:solidFill>
                <a:ea typeface="Pretendard Bold"/>
              </a:rPr>
              <a:t>파워링크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91500" y="28702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검색결과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페이지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최상위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노출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42300" y="48768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키워드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타겟팅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39100" y="3644900"/>
            <a:ext cx="96901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네이버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검색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결과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페이지의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상단에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노출되어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사용자의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시선을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끌기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쉽다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유저들의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많은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클릭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유도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9900" y="5905500"/>
            <a:ext cx="98552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특정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키워드를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설정하여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관련된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검색어를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입력한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사용자에게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키워드의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선택과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입찰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전략에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따라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위치와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빈도가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달라집니다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91500" y="7175500"/>
            <a:ext cx="53848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실시간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성과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04200" y="8128000"/>
            <a:ext cx="95758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성과를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실시간으로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모니터링하고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분석할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있는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다양한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도구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제공</a:t>
            </a:r>
          </a:p>
          <a:p>
            <a:pPr marL="342900" lvl="0" indent="-342900" algn="l">
              <a:lnSpc>
                <a:spcPct val="99600"/>
              </a:lnSpc>
              <a:buClr>
                <a:srgbClr val="A3957D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클릭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노출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전환율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등의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데이터를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기반으로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광고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캠페인을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최적화</a:t>
            </a:r>
            <a:r>
              <a:rPr lang="en-US" sz="2400" b="0" i="0" u="none" strike="noStrike">
                <a:solidFill>
                  <a:srgbClr val="A3957D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A3957D"/>
                </a:solidFill>
                <a:ea typeface="Pretendard Regular"/>
              </a:rPr>
              <a:t>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3644900"/>
            <a:ext cx="10541000" cy="5867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4394200"/>
            <a:ext cx="55880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최근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2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주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파워링크</a:t>
            </a:r>
            <a:r>
              <a:rPr lang="en-US" sz="45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4500" b="0" i="0" u="none" strike="noStrike">
                <a:solidFill>
                  <a:srgbClr val="000000"/>
                </a:solidFill>
                <a:ea typeface="Pretendard Medium"/>
              </a:rPr>
              <a:t>현황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500" y="5854700"/>
            <a:ext cx="50927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19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중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b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</a:b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4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제외한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b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</a:b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15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개키워드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노출도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0 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5200" y="5537200"/>
            <a:ext cx="5397500" cy="800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8216900" y="4394200"/>
            <a:ext cx="3086100" cy="3086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2814300" y="5676900"/>
            <a:ext cx="3187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최적의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2451100"/>
            <a:ext cx="7150100" cy="720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378200" y="3035300"/>
            <a:ext cx="12446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키워드</a:t>
            </a:r>
          </a:p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산출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2500" y="7620000"/>
            <a:ext cx="3187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테스트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9600" y="7620000"/>
            <a:ext cx="1841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분석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4991100"/>
            <a:ext cx="4749800" cy="4318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937000" y="5486400"/>
            <a:ext cx="4292600" cy="382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검색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평균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경쟁정도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월평균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노출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광고수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1400" y="4991100"/>
            <a:ext cx="4749800" cy="4318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706100" y="6578600"/>
            <a:ext cx="33655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상품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 </a:t>
            </a:r>
          </a:p>
          <a:p>
            <a:pPr marL="342900" lvl="0" indent="-342900" algn="l">
              <a:lnSpc>
                <a:spcPct val="14607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클릭대비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광고비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43400" y="4102100"/>
            <a:ext cx="32766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네이버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검색광고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4200" y="4102100"/>
            <a:ext cx="2984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itemscout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크롤링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55600" y="2019300"/>
            <a:ext cx="34417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[ </a:t>
            </a:r>
            <a:r>
              <a:rPr lang="ko-KR" sz="3000" b="0" i="0" u="none" strike="noStrike">
                <a:solidFill>
                  <a:srgbClr val="8D776A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8D776A"/>
                </a:solidFill>
                <a:ea typeface="Pretendard Bold"/>
              </a:rPr>
              <a:t>분석</a:t>
            </a:r>
            <a:r>
              <a:rPr lang="en-US" sz="3000" b="0" i="0" u="none" strike="noStrike">
                <a:solidFill>
                  <a:srgbClr val="8D776A"/>
                </a:solidFill>
                <a:latin typeface="Pretendard Bold"/>
              </a:rPr>
              <a:t> 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0"/>
            <a:ext cx="18376900" cy="11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431800"/>
            <a:ext cx="70739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검색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키워드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100" y="2209800"/>
            <a:ext cx="43434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[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키워드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도출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/ </a:t>
            </a:r>
            <a:r>
              <a:rPr lang="ko-KR" sz="2900" b="0" i="0" u="none" strike="noStrike">
                <a:solidFill>
                  <a:srgbClr val="8D776A"/>
                </a:solidFill>
                <a:ea typeface="Pretendard Bold"/>
              </a:rPr>
              <a:t>테스트</a:t>
            </a:r>
            <a:r>
              <a:rPr lang="en-US" sz="2900" b="0" i="0" u="none" strike="noStrike">
                <a:solidFill>
                  <a:srgbClr val="8D776A"/>
                </a:solidFill>
                <a:latin typeface="Pretendard Bold"/>
              </a:rPr>
              <a:t> ]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300" y="6692900"/>
            <a:ext cx="2806700" cy="102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4140200"/>
            <a:ext cx="7315200" cy="100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5422900"/>
            <a:ext cx="6248400" cy="977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3606800"/>
            <a:ext cx="6794500" cy="6172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49400" y="4851400"/>
            <a:ext cx="6324600" cy="3835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5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일마다의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지표확인</a:t>
            </a:r>
            <a:b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</a:b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지표를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제외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선정</a:t>
            </a:r>
            <a:b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</a:br>
            <a:endParaRPr lang="ko-KR" sz="35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분석을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키워드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Regular"/>
              </a:rPr>
              <a:t>산출</a:t>
            </a:r>
            <a:r>
              <a:rPr lang="en-US" sz="35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900" y="4521200"/>
            <a:ext cx="6172200" cy="4635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" y="2743200"/>
            <a:ext cx="5118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24.01 ~ 24.06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Bold"/>
              </a:rPr>
              <a:t>기준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2000" y="5473700"/>
            <a:ext cx="72644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인스타그램과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유튜브와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같은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SNS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채널을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통해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마케팅을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진행하고있지만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트렌드에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맞지않는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컨텐츠로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유입수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저조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3810000"/>
            <a:ext cx="4318000" cy="4978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23100" y="2628900"/>
            <a:ext cx="3848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SNS </a:t>
            </a:r>
            <a:r>
              <a:rPr lang="ko-KR" sz="4000" b="0" i="0" u="none" strike="noStrike">
                <a:solidFill>
                  <a:srgbClr val="000000"/>
                </a:solidFill>
                <a:ea typeface="Pretendard Bold"/>
              </a:rPr>
              <a:t>광고</a:t>
            </a:r>
            <a:r>
              <a:rPr lang="en-US" sz="40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Bold"/>
              </a:rPr>
              <a:t>기획안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6400" y="3238500"/>
            <a:ext cx="4076700" cy="189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목표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설정</a:t>
            </a:r>
            <a:b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</a:br>
            <a:endParaRPr lang="ko-KR" sz="3000" b="0" i="0" u="none" strike="noStrike">
              <a:solidFill>
                <a:srgbClr val="000000"/>
              </a:solidFill>
              <a:ea typeface="Pretendard Medium"/>
            </a:endParaRP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1.1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고객분석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1.2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목표설정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400" y="5410200"/>
            <a:ext cx="4851400" cy="458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2,.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매력적인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콘텐츠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제작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 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2.1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파악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인스타그램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탐색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경쟁사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온라인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     2.2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콘텐츠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기획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28700" y="2133600"/>
            <a:ext cx="3746500" cy="792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3.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효과적인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릴스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홍보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3.1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적절한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관련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키워드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트렌드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브랜드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활용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해시태그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개수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조절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3.2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맞춤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홍보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타겟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활동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시간대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게시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3.3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참여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유도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이벤트</a:t>
            </a:r>
          </a:p>
          <a:p>
            <a:pPr lvl="0" algn="l">
              <a:lnSpc>
                <a:spcPct val="99600"/>
              </a:lnSpc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     3.4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성과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조회수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좋아요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댓글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공유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저장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등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지표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인구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통계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정보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관심사</a:t>
            </a: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  <a:p>
            <a:pPr marL="9271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en-US" sz="2300" b="0" i="0" u="none" strike="noStrike">
                <a:solidFill>
                  <a:srgbClr val="000000"/>
                </a:solidFill>
                <a:latin typeface="Pretendard Medium"/>
              </a:rPr>
              <a:t>A/B </a:t>
            </a:r>
            <a:r>
              <a:rPr lang="ko-KR" sz="2300" b="0" i="0" u="none" strike="noStrike">
                <a:solidFill>
                  <a:srgbClr val="000000"/>
                </a:solidFill>
                <a:ea typeface="Pretendard Medium"/>
              </a:rPr>
              <a:t>테스트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613400" y="127000"/>
            <a:ext cx="70739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SNS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채널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컨텐츠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마케팅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652000" y="2895600"/>
          <a:ext cx="7848600" cy="7915148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씬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넘버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화면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상황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설명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사운드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자막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소요시간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#1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썸네일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맛잇는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간식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-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제이레빗</a:t>
                      </a:r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꿀조합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best 2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#2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투명볼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안에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담긴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그릭요거트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위에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뿌려놓고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시럽뿌리는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그릭요거트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블루베리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or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메실청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#3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투명볼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안에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담긴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아이스크림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위에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뿌려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놓고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시럽뿌리는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바닐라아이스크림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+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호두강정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+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or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초코시럽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2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#4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먹는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장면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냠냠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5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#5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HU100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로고와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함꼐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아웃트로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건강한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 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선택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 hu100</a:t>
                      </a:r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S-Core Dream 4 Regular"/>
                        </a:rPr>
                        <a:t>1</a:t>
                      </a: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a typeface="S-Core Dream 4 Regular"/>
                        </a:rPr>
                        <a:t>초</a:t>
                      </a:r>
                      <a:endParaRPr lang="en-US" sz="1100"/>
                    </a:p>
                  </a:txBody>
                  <a:tcPr marL="19050" marR="19050" marT="19050" marB="19050" anchor="ctr">
                    <a:lnL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9601200" y="1981200"/>
            <a:ext cx="24511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1" i="0" u="none" strike="noStrike">
                <a:solidFill>
                  <a:srgbClr val="000000"/>
                </a:solidFill>
                <a:ea typeface="Pretendard SemiBold"/>
              </a:rPr>
              <a:t>스토리보드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6680200"/>
            <a:ext cx="6146800" cy="1536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0800" y="6845300"/>
            <a:ext cx="774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제목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7518400"/>
            <a:ext cx="23114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꿀조합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Best 2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4826000"/>
            <a:ext cx="6146800" cy="1536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20800" y="49657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타겟층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400" y="5702300"/>
            <a:ext cx="53467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20~30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대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, SNS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를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많이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사용하는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세대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8521700"/>
            <a:ext cx="6146800" cy="1536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20800" y="86995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길이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400" y="9372600"/>
            <a:ext cx="23114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1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분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이내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2895600"/>
            <a:ext cx="6146800" cy="1536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20800" y="3022600"/>
            <a:ext cx="14732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800" b="1" i="0" u="none" strike="noStrike" spc="-300">
                <a:solidFill>
                  <a:srgbClr val="A3957D"/>
                </a:solidFill>
                <a:ea typeface="Pretendard SemiBold"/>
              </a:rPr>
              <a:t>기획의도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5400" y="3733800"/>
            <a:ext cx="5003800" cy="4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0350"/>
              </a:lnSpc>
            </a:pP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사이트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유입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인원</a:t>
            </a:r>
            <a:r>
              <a:rPr lang="en-US" sz="2700" b="0" i="0" u="none" strike="noStrike" spc="-30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700" b="0" i="0" u="none" strike="noStrike" spc="-300">
                <a:solidFill>
                  <a:srgbClr val="000000"/>
                </a:solidFill>
                <a:ea typeface="Pretendard SemiBold"/>
              </a:rPr>
              <a:t>증대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6600" y="2044700"/>
            <a:ext cx="14986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800" b="1" i="0" u="none" strike="noStrike">
                <a:solidFill>
                  <a:srgbClr val="000000"/>
                </a:solidFill>
                <a:ea typeface="Pretendard SemiBold"/>
              </a:rPr>
              <a:t>개요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600" y="3556000"/>
            <a:ext cx="1206500" cy="1054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6300" y="4838700"/>
            <a:ext cx="1181100" cy="1054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3600" y="6159500"/>
            <a:ext cx="1206500" cy="1054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98200" y="7429500"/>
            <a:ext cx="1206500" cy="1054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7100" y="8991600"/>
            <a:ext cx="1054100" cy="571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유입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" y="0"/>
            <a:ext cx="184531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946900" y="4559300"/>
            <a:ext cx="43815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구매</a:t>
            </a:r>
            <a:r>
              <a:rPr lang="en-US" sz="5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전환</a:t>
            </a:r>
            <a:r>
              <a:rPr lang="en-US" sz="5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8D776A"/>
                </a:solidFill>
                <a:ea typeface="Pretendard SemiBold"/>
              </a:rPr>
              <a:t>전략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" y="3860800"/>
            <a:ext cx="6781800" cy="4495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수정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29100" y="2082800"/>
            <a:ext cx="99314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[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상세페이지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분석</a:t>
            </a:r>
            <a:r>
              <a:rPr lang="en-US" sz="3500" b="0" i="0" u="none" strike="noStrike">
                <a:solidFill>
                  <a:srgbClr val="8D776A"/>
                </a:solidFill>
                <a:latin typeface="Pretendard SemiBold"/>
              </a:rPr>
              <a:t>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9182100" y="3581400"/>
            <a:ext cx="87503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AutoNum type="arabicPeriod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체류시간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39300" y="4356100"/>
            <a:ext cx="125222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페이지뷰와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체류시간이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낮은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비교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94800" y="5130800"/>
            <a:ext cx="8750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2.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전환율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9300" y="5943600"/>
            <a:ext cx="125222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프로세스의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복잡성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의심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상세페이지의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매력도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부족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or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상품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신뢰도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부족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의심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07500" y="7289800"/>
            <a:ext cx="8750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3.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9300" y="8089900"/>
            <a:ext cx="125222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분석을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통하여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장점</a:t>
            </a:r>
            <a:r>
              <a:rPr lang="en-US" sz="27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700" b="0" i="0" u="none" strike="noStrike">
                <a:solidFill>
                  <a:srgbClr val="000000"/>
                </a:solidFill>
                <a:ea typeface="Pretendard Regular"/>
              </a:rPr>
              <a:t>도출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600" y="2108200"/>
            <a:ext cx="10337800" cy="782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700" y="5562600"/>
            <a:ext cx="5143500" cy="3403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393700" y="32131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컨텐츠</a:t>
            </a: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개선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65100" y="4610100"/>
            <a:ext cx="7531100" cy="187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체류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시간이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짧다면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상세한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상품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설명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고품질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이미지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영상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추가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리뷰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사용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후기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강조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0" y="3467100"/>
            <a:ext cx="6172200" cy="5194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4318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상세페이지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개선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393700" y="3213100"/>
            <a:ext cx="2235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UI/UX 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개선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65100" y="4584700"/>
            <a:ext cx="85217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전환율을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높이기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위해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구매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프로세스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UI/UX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개선</a:t>
            </a:r>
          </a:p>
          <a:p>
            <a:pPr marL="1104900" lvl="2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■"/>
            </a:pP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가독성을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높이기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위한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폰트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레이아웃</a:t>
            </a:r>
            <a:r>
              <a:rPr lang="en-US" sz="30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Medium"/>
              </a:rPr>
              <a:t>조정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3263900"/>
            <a:ext cx="9855200" cy="580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527300"/>
            <a:ext cx="9410700" cy="3149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000500" y="4953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매월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이벤트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기획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000500" y="4953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매월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이벤트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기획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2100" y="2425700"/>
            <a:ext cx="6794500" cy="3822700"/>
          </a:xfrm>
          <a:prstGeom prst="rect">
            <a:avLst/>
          </a:prstGeom>
          <a:effectLst>
            <a:outerShdw blurRad="145562" dist="17644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7264400"/>
            <a:ext cx="8153400" cy="279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3200" y="7264400"/>
            <a:ext cx="8928100" cy="2794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347200" y="7391400"/>
            <a:ext cx="8077200" cy="208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ko-KR" sz="3500" b="0" i="0" u="none" strike="noStrike">
                <a:solidFill>
                  <a:srgbClr val="8D776A"/>
                </a:solidFill>
                <a:ea typeface="Pretendard SemiBold"/>
              </a:rPr>
              <a:t>목표</a:t>
            </a:r>
          </a:p>
          <a:p>
            <a:pPr lvl="0" algn="l">
              <a:lnSpc>
                <a:spcPct val="10624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경쟁사보다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가격적으로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경쟁에서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우위를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차지하는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인식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제공</a:t>
            </a:r>
          </a:p>
          <a:p>
            <a:pPr lvl="0" algn="l">
              <a:lnSpc>
                <a:spcPct val="10624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단체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답례품의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합리적인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가격을</a:t>
            </a:r>
            <a:r>
              <a:rPr lang="en-US" sz="3000" b="0" i="0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SemiBold"/>
              </a:rPr>
              <a:t>강조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7391400"/>
            <a:ext cx="7835900" cy="238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6240"/>
              </a:lnSpc>
            </a:pPr>
            <a:r>
              <a:rPr lang="ko-KR" sz="3200" b="0" i="0" u="none" strike="noStrike" dirty="0">
                <a:solidFill>
                  <a:srgbClr val="8D776A"/>
                </a:solidFill>
                <a:ea typeface="Pretendard SemiBold"/>
              </a:rPr>
              <a:t>개요</a:t>
            </a:r>
          </a:p>
          <a:p>
            <a:pPr lvl="0" algn="l">
              <a:lnSpc>
                <a:spcPct val="106240"/>
              </a:lnSpc>
            </a:pP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특정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고객을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타깃으로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이벤트를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진행하여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고객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개인화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성향의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이벤트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진행</a:t>
            </a:r>
          </a:p>
          <a:p>
            <a:pPr lvl="0" algn="l">
              <a:lnSpc>
                <a:spcPct val="106240"/>
              </a:lnSpc>
            </a:pP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기존의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할인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시스템을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유지하되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이름을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부여하여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이벤트의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명목을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다르게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하고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부담되지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않는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가격을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ea typeface="Pretendard SemiBold"/>
              </a:rPr>
              <a:t>제시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5300" y="2628900"/>
            <a:ext cx="5270500" cy="3517900"/>
          </a:xfrm>
          <a:prstGeom prst="rect">
            <a:avLst/>
          </a:prstGeom>
          <a:effectLst>
            <a:outerShdw blurRad="123089" dist="216343" dir="2700000">
              <a:srgbClr val="000000">
                <a:alpha val="5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2603500"/>
            <a:ext cx="5321300" cy="3543300"/>
          </a:xfrm>
          <a:prstGeom prst="rect">
            <a:avLst/>
          </a:prstGeom>
          <a:effectLst>
            <a:outerShdw blurRad="125191" dist="218183" dir="2700000">
              <a:srgbClr val="000000">
                <a:alpha val="5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3195300" y="330200"/>
            <a:ext cx="4699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마케팅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-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구매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전환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전략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302000"/>
            <a:ext cx="990600" cy="393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860800"/>
            <a:ext cx="990600" cy="393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289300"/>
            <a:ext cx="990600" cy="393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860800"/>
            <a:ext cx="990600" cy="393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340100" y="2997200"/>
            <a:ext cx="45720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FDFDF2"/>
                </a:solidFill>
                <a:ea typeface="Pretendard SemiBold"/>
              </a:rPr>
              <a:t>신규</a:t>
            </a:r>
            <a:r>
              <a:rPr lang="en-US" sz="7200" b="0" i="0" u="none" strike="noStrike">
                <a:solidFill>
                  <a:srgbClr val="FDFDF2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FDFDF2"/>
                </a:solidFill>
                <a:ea typeface="Pretendard SemiBold"/>
              </a:rPr>
              <a:t>유입량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34600" y="3022600"/>
            <a:ext cx="45212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E0D9D1"/>
                </a:solidFill>
                <a:ea typeface="Pretendard SemiBold"/>
              </a:rPr>
              <a:t>구매</a:t>
            </a:r>
            <a:r>
              <a:rPr lang="en-US" sz="7200" b="0" i="0" u="none" strike="noStrike">
                <a:solidFill>
                  <a:srgbClr val="E0D9D1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E0D9D1"/>
                </a:solidFill>
                <a:ea typeface="Pretendard SemiBold"/>
              </a:rPr>
              <a:t>전환율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3400" y="5118100"/>
            <a:ext cx="112395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신규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고객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유입과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구매전환율을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높혀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매출을</a:t>
            </a:r>
            <a:r>
              <a:rPr lang="en-US" sz="7200" b="0" i="0" u="none" strike="noStrike">
                <a:solidFill>
                  <a:srgbClr val="8D776A"/>
                </a:solidFill>
                <a:latin typeface="Pretendard SemiBold"/>
              </a:rPr>
              <a:t> </a:t>
            </a:r>
            <a:r>
              <a:rPr lang="ko-KR" sz="7200" b="0" i="0" u="none" strike="noStrike">
                <a:solidFill>
                  <a:srgbClr val="8D776A"/>
                </a:solidFill>
                <a:ea typeface="Pretendard SemiBold"/>
              </a:rPr>
              <a:t>상승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200" y="12700"/>
            <a:ext cx="18605500" cy="187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376900" cy="11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65600" y="330200"/>
            <a:ext cx="10287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목표</a:t>
            </a:r>
            <a:r>
              <a:rPr lang="en-US" sz="1800" b="0" i="0" u="none" strike="noStrike" spc="200">
                <a:solidFill>
                  <a:srgbClr val="F4F4EC"/>
                </a:solidFill>
                <a:latin typeface="Pretendard Light"/>
              </a:rPr>
              <a:t> </a:t>
            </a:r>
            <a:r>
              <a:rPr lang="ko-KR" sz="1800" b="0" i="0" u="none" strike="noStrike" spc="200">
                <a:solidFill>
                  <a:srgbClr val="F4F4EC"/>
                </a:solidFill>
                <a:ea typeface="Pretendard Light"/>
              </a:rPr>
              <a:t>성과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0" y="533400"/>
            <a:ext cx="9982200" cy="977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목표</a:t>
            </a:r>
            <a:r>
              <a:rPr lang="en-US" sz="5500" b="0" i="0" u="none" strike="noStrike">
                <a:solidFill>
                  <a:srgbClr val="FFFFFF"/>
                </a:solidFill>
                <a:latin typeface="Pretendard SemiBold"/>
              </a:rPr>
              <a:t> </a:t>
            </a:r>
            <a:r>
              <a:rPr lang="ko-KR" sz="5500" b="0" i="0" u="none" strike="noStrike">
                <a:solidFill>
                  <a:srgbClr val="FFFFFF"/>
                </a:solidFill>
                <a:ea typeface="Pretendard SemiBold"/>
              </a:rPr>
              <a:t>성과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095500" y="2209800"/>
          <a:ext cx="14249400" cy="732790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분류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현재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집행</a:t>
                      </a:r>
                      <a:r>
                        <a:rPr lang="en-US" sz="2400" b="1" i="0" u="sng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400" b="1" i="0" u="sng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후</a:t>
                      </a:r>
                      <a:endParaRPr lang="en-US" sz="110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SNS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채널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유입량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월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4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/0%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100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/10%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4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파워링크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광고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유입량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월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94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/3.26%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b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</a:b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200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명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/8%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0"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상세페이지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조회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대비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결제율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최근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15</a:t>
                      </a: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기준</a:t>
                      </a: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(7.10)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55.5%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2130"/>
                        </a:lnSpc>
                        <a:defRPr/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15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일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안에</a:t>
                      </a: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(7.17~7.31)</a:t>
                      </a:r>
                      <a:endParaRPr lang="en-US" sz="1100"/>
                    </a:p>
                    <a:p>
                      <a:pPr lvl="0" algn="ctr">
                        <a:lnSpc>
                          <a:spcPct val="92130"/>
                        </a:lnSpc>
                      </a:pPr>
                      <a:r>
                        <a:rPr lang="en-US" sz="2300" b="1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80%</a:t>
                      </a:r>
                      <a:r>
                        <a:rPr lang="ko-KR" sz="2300" b="1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이상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52500"/>
            <a:ext cx="16383000" cy="8407400"/>
          </a:xfrm>
          <a:prstGeom prst="rect">
            <a:avLst/>
          </a:prstGeom>
          <a:effectLst>
            <a:outerShdw blurRad="702899" dist="32311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952500"/>
            <a:ext cx="163830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2500" y="4064000"/>
            <a:ext cx="1003300" cy="156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200" y="4064000"/>
            <a:ext cx="1003300" cy="156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187700" y="3911600"/>
            <a:ext cx="11912600" cy="194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1000" b="0" i="0" u="none" strike="noStrike">
                <a:solidFill>
                  <a:srgbClr val="F4F4EC"/>
                </a:solidFill>
                <a:latin typeface="Pretendar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990</Words>
  <Application>Microsoft Macintosh PowerPoint</Application>
  <PresentationFormat>사용자 지정</PresentationFormat>
  <Paragraphs>266</Paragraphs>
  <Slides>25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7" baseType="lpstr">
      <vt:lpstr>Calibri</vt:lpstr>
      <vt:lpstr>Pretendard SemiBold</vt:lpstr>
      <vt:lpstr>Pretendard Medium</vt:lpstr>
      <vt:lpstr>Pretendard Bold</vt:lpstr>
      <vt:lpstr>맑은 고딕</vt:lpstr>
      <vt:lpstr>Pretendard Light</vt:lpstr>
      <vt:lpstr>S-Core Dream 4 Regular</vt:lpstr>
      <vt:lpstr>Arial</vt:lpstr>
      <vt:lpstr>Hakgyoansim Gaeulsopung B</vt:lpstr>
      <vt:lpstr>Pretendard Regular</vt:lpstr>
      <vt:lpstr>S-Core Dream 5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강희 이</cp:lastModifiedBy>
  <cp:revision>5</cp:revision>
  <dcterms:created xsi:type="dcterms:W3CDTF">2006-08-16T00:00:00Z</dcterms:created>
  <dcterms:modified xsi:type="dcterms:W3CDTF">2024-07-25T03:45:49Z</dcterms:modified>
</cp:coreProperties>
</file>
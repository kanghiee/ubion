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7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</p:sldIdLst>
  <p:sldSz cx="18288000" cy="10287000"/>
  <p:notesSz cx="6858000" cy="9144000"/>
  <p:embeddedFontLst>
    <p:embeddedFont>
      <p:font typeface="Hakgyoansim Gaeulsopung B" panose="02000803000000000000" pitchFamily="2" charset="-127"/>
      <p:bold r:id="rId28"/>
    </p:embeddedFont>
    <p:embeddedFont>
      <p:font typeface="Pretendard Bold" panose="02000803000000020004" pitchFamily="2" charset="-127"/>
      <p:bold r:id="rId29"/>
    </p:embeddedFont>
    <p:embeddedFont>
      <p:font typeface="Pretendard Light" panose="02000403000000020004" pitchFamily="2" charset="-127"/>
      <p:regular r:id="rId30"/>
    </p:embeddedFont>
    <p:embeddedFont>
      <p:font typeface="Pretendard Medium" panose="02000603000000020004" pitchFamily="2" charset="-127"/>
      <p:regular r:id="rId31"/>
      <p:bold r:id="rId32"/>
    </p:embeddedFont>
    <p:embeddedFont>
      <p:font typeface="Pretendard Regular" panose="02000503000000020004" pitchFamily="2" charset="-127"/>
      <p:regular r:id="rId33"/>
    </p:embeddedFont>
    <p:embeddedFont>
      <p:font typeface="Pretendard SemiBold" panose="02000703000000020004" pitchFamily="2" charset="-127"/>
      <p:regular r:id="rId34"/>
      <p:bold r:id="rId35"/>
    </p:embeddedFont>
    <p:embeddedFont>
      <p:font typeface="맑은 고딕" panose="020B0503020000020004" pitchFamily="34" charset="-127"/>
      <p:regular r:id="rId36"/>
      <p:bold r:id="rId3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 autoAdjust="0"/>
    <p:restoredTop sz="94629" autoAdjust="0"/>
  </p:normalViewPr>
  <p:slideViewPr>
    <p:cSldViewPr>
      <p:cViewPr varScale="1">
        <p:scale>
          <a:sx n="72" d="100"/>
          <a:sy n="72" d="100"/>
        </p:scale>
        <p:origin x="760" y="2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font" Target="fonts/font7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font" Target="fonts/font10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489DFB-2448-4B42-8AF6-EC0DC8CF724C}" type="datetimeFigureOut">
              <a:rPr kumimoji="1" lang="ko-KR" altLang="en-US" smtClean="0"/>
              <a:t>2024. 7. 25.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53BC88-43DA-5E4F-A285-25D538DE44E8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923562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1">
              <a:spcAft>
                <a:spcPts val="800"/>
              </a:spcAft>
            </a:pP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안녕하세요 최종프로젝트 기획발표를 맡은 이강희입니다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.</a:t>
            </a:r>
            <a:endParaRPr lang="ko-KR" altLang="ko-KR" sz="1800" kern="100" dirty="0">
              <a:effectLst/>
              <a:latin typeface="맑은 고딕" panose="020B0503020000020004" pitchFamily="34" charset="-127"/>
              <a:ea typeface="맑은 고딕" panose="020B0503020000020004" pitchFamily="34" charset="-127"/>
              <a:cs typeface="Times New Roman" panose="02020603050405020304" pitchFamily="18" charset="0"/>
            </a:endParaRPr>
          </a:p>
          <a:p>
            <a:pPr latinLnBrk="1">
              <a:spcAft>
                <a:spcPts val="800"/>
              </a:spcAft>
            </a:pP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저희는 </a:t>
            </a:r>
            <a:r>
              <a:rPr lang="ko-KR" altLang="ko-KR" sz="1800" kern="100" dirty="0" err="1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스마트스토어인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</a:t>
            </a:r>
            <a:r>
              <a:rPr lang="ko-KR" altLang="ko-KR" sz="1800" kern="100" dirty="0" err="1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후백의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매출상승을 위한 마케팅 솔루션을 기획해 보았습니다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.</a:t>
            </a:r>
            <a:endParaRPr lang="ko-KR" altLang="ko-KR" sz="1800" kern="100" dirty="0">
              <a:effectLst/>
              <a:latin typeface="맑은 고딕" panose="020B0503020000020004" pitchFamily="34" charset="-127"/>
              <a:ea typeface="맑은 고딕" panose="020B0503020000020004" pitchFamily="34" charset="-127"/>
              <a:cs typeface="Times New Roman" panose="02020603050405020304" pitchFamily="18" charset="0"/>
            </a:endParaRPr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3BC88-43DA-5E4F-A285-25D538DE44E8}" type="slidenum">
              <a:rPr kumimoji="1" lang="ko-KR" altLang="en-US" smtClean="0"/>
              <a:t>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185792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이번 기획발표는 자사 현황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, 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문제인식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, 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타겟층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, 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마케팅전략 그리고 목표성과 순서로 진행할 예정입니다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.</a:t>
            </a:r>
            <a:endParaRPr lang="ko-KR" altLang="ko-KR" sz="1800" kern="100" dirty="0">
              <a:effectLst/>
              <a:latin typeface="맑은 고딕" panose="020B0503020000020004" pitchFamily="34" charset="-127"/>
              <a:ea typeface="맑은 고딕" panose="020B0503020000020004" pitchFamily="34" charset="-127"/>
              <a:cs typeface="Times New Roman" panose="02020603050405020304" pitchFamily="18" charset="0"/>
            </a:endParaRPr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3BC88-43DA-5E4F-A285-25D538DE44E8}" type="slidenum">
              <a:rPr kumimoji="1" lang="ko-KR" altLang="en-US" smtClean="0"/>
              <a:t>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9978707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1">
              <a:spcAft>
                <a:spcPts val="800"/>
              </a:spcAft>
            </a:pP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먼저 자사 현황입니다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.</a:t>
            </a:r>
            <a:endParaRPr lang="ko-KR" altLang="ko-KR" sz="1800" kern="100" dirty="0">
              <a:effectLst/>
              <a:latin typeface="맑은 고딕" panose="020B0503020000020004" pitchFamily="34" charset="-127"/>
              <a:ea typeface="맑은 고딕" panose="020B0503020000020004" pitchFamily="34" charset="-127"/>
              <a:cs typeface="Times New Roman" panose="02020603050405020304" pitchFamily="18" charset="0"/>
            </a:endParaRPr>
          </a:p>
          <a:p>
            <a:r>
              <a:rPr lang="ko-KR" altLang="ko-KR" sz="1800" dirty="0">
                <a:effectLst/>
                <a:ea typeface="맑은 고딕" panose="020B0503020000020004" pitchFamily="34" charset="-127"/>
                <a:cs typeface="Times New Roman" panose="02020603050405020304" pitchFamily="18" charset="0"/>
              </a:rPr>
              <a:t>저희 </a:t>
            </a:r>
            <a:r>
              <a:rPr lang="ko-KR" altLang="ko-KR" sz="1800" dirty="0" err="1">
                <a:effectLst/>
                <a:ea typeface="맑은 고딕" panose="020B0503020000020004" pitchFamily="34" charset="-127"/>
                <a:cs typeface="Times New Roman" panose="02020603050405020304" pitchFamily="18" charset="0"/>
              </a:rPr>
              <a:t>후백</a:t>
            </a:r>
            <a:r>
              <a:rPr lang="ko-KR" altLang="ko-KR" sz="1800" dirty="0">
                <a:effectLst/>
                <a:ea typeface="맑은 고딕" panose="020B0503020000020004" pitchFamily="34" charset="-127"/>
                <a:cs typeface="Times New Roman" panose="02020603050405020304" pitchFamily="18" charset="0"/>
              </a:rPr>
              <a:t> 스마트 스토어는 </a:t>
            </a:r>
            <a:r>
              <a:rPr lang="ko-KR" altLang="ko-KR" sz="1800" dirty="0" err="1">
                <a:effectLst/>
                <a:ea typeface="맑은 고딕" panose="020B0503020000020004" pitchFamily="34" charset="-127"/>
                <a:cs typeface="Times New Roman" panose="02020603050405020304" pitchFamily="18" charset="0"/>
              </a:rPr>
              <a:t>비정제</a:t>
            </a:r>
            <a:r>
              <a:rPr lang="ko-KR" altLang="ko-KR" sz="1800" dirty="0">
                <a:effectLst/>
                <a:ea typeface="맑은 고딕" panose="020B0503020000020004" pitchFamily="34" charset="-127"/>
                <a:cs typeface="Times New Roman" panose="02020603050405020304" pitchFamily="18" charset="0"/>
              </a:rPr>
              <a:t> 설탕을 입혀 만든 </a:t>
            </a:r>
            <a:r>
              <a:rPr lang="ko-KR" altLang="ko-KR" sz="1800" dirty="0" err="1">
                <a:effectLst/>
                <a:ea typeface="맑은 고딕" panose="020B0503020000020004" pitchFamily="34" charset="-127"/>
                <a:cs typeface="Times New Roman" panose="02020603050405020304" pitchFamily="18" charset="0"/>
              </a:rPr>
              <a:t>호두강정을</a:t>
            </a:r>
            <a:r>
              <a:rPr lang="ko-KR" altLang="ko-KR" sz="1800" dirty="0">
                <a:effectLst/>
                <a:ea typeface="맑은 고딕" panose="020B0503020000020004" pitchFamily="34" charset="-127"/>
                <a:cs typeface="Times New Roman" panose="02020603050405020304" pitchFamily="18" charset="0"/>
              </a:rPr>
              <a:t> 결혼 답례품 등 다양한 상황의 답례품으로써 판매하는 스마트스토어로 작은 크기의 용기에 담긴 </a:t>
            </a:r>
            <a:r>
              <a:rPr lang="en-US" altLang="ko-KR" sz="1800" dirty="0">
                <a:effectLst/>
                <a:ea typeface="맑은 고딕" panose="020B0503020000020004" pitchFamily="34" charset="-127"/>
                <a:cs typeface="Times New Roman" panose="02020603050405020304" pitchFamily="18" charset="0"/>
              </a:rPr>
              <a:t>80g </a:t>
            </a:r>
            <a:r>
              <a:rPr lang="ko-KR" altLang="ko-KR" sz="1800" dirty="0" err="1">
                <a:effectLst/>
                <a:ea typeface="맑은 고딕" panose="020B0503020000020004" pitchFamily="34" charset="-127"/>
                <a:cs typeface="Times New Roman" panose="02020603050405020304" pitchFamily="18" charset="0"/>
              </a:rPr>
              <a:t>호두강정을</a:t>
            </a:r>
            <a:r>
              <a:rPr lang="ko-KR" altLang="ko-KR" sz="1800" dirty="0">
                <a:effectLst/>
                <a:ea typeface="맑은 고딕" panose="020B0503020000020004" pitchFamily="34" charset="-127"/>
                <a:cs typeface="Times New Roman" panose="02020603050405020304" pitchFamily="18" charset="0"/>
              </a:rPr>
              <a:t> 주력 상품으로 </a:t>
            </a:r>
            <a:r>
              <a:rPr lang="ko-KR" altLang="ko-KR" sz="1800" dirty="0" err="1">
                <a:effectLst/>
                <a:ea typeface="맑은 고딕" panose="020B0503020000020004" pitchFamily="34" charset="-127"/>
                <a:cs typeface="Times New Roman" panose="02020603050405020304" pitchFamily="18" charset="0"/>
              </a:rPr>
              <a:t>판매하고있습니다</a:t>
            </a:r>
            <a:r>
              <a:rPr lang="ko-KR" altLang="ko-KR" dirty="0">
                <a:effectLst/>
              </a:rPr>
              <a:t> </a:t>
            </a: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3BC88-43DA-5E4F-A285-25D538DE44E8}" type="slidenum">
              <a:rPr kumimoji="1" lang="ko-KR" altLang="en-US" smtClean="0"/>
              <a:t>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2228026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1">
              <a:spcAft>
                <a:spcPts val="800"/>
              </a:spcAft>
            </a:pP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다음은 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SWOT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분석입니다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.</a:t>
            </a:r>
            <a:endParaRPr lang="ko-KR" altLang="ko-KR" sz="1800" kern="100" dirty="0">
              <a:effectLst/>
              <a:latin typeface="맑은 고딕" panose="020B0503020000020004" pitchFamily="34" charset="-127"/>
              <a:ea typeface="맑은 고딕" panose="020B0503020000020004" pitchFamily="34" charset="-127"/>
              <a:cs typeface="Times New Roman" panose="02020603050405020304" pitchFamily="18" charset="0"/>
            </a:endParaRPr>
          </a:p>
          <a:p>
            <a:pPr latinLnBrk="1">
              <a:spcAft>
                <a:spcPts val="800"/>
              </a:spcAft>
            </a:pP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저희 </a:t>
            </a:r>
            <a:r>
              <a:rPr lang="ko-KR" altLang="ko-KR" sz="1800" kern="100" dirty="0" err="1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후백의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강점은 리뷰 평점이 좋으며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, 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수제 제작으로 인한 </a:t>
            </a:r>
            <a:r>
              <a:rPr lang="ko-KR" altLang="ko-KR" sz="1800" kern="100" dirty="0" err="1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고퀄리티의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제품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,</a:t>
            </a:r>
            <a:endParaRPr lang="ko-KR" altLang="ko-KR" sz="1800" kern="100" dirty="0">
              <a:effectLst/>
              <a:latin typeface="맑은 고딕" panose="020B0503020000020004" pitchFamily="34" charset="-127"/>
              <a:ea typeface="맑은 고딕" panose="020B0503020000020004" pitchFamily="34" charset="-127"/>
              <a:cs typeface="Times New Roman" panose="02020603050405020304" pitchFamily="18" charset="0"/>
            </a:endParaRPr>
          </a:p>
          <a:p>
            <a:pPr latinLnBrk="1">
              <a:spcAft>
                <a:spcPts val="800"/>
              </a:spcAft>
            </a:pP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고객응대 속도가 빠르고 주문 후 신속한 배송처리가 강점으로 </a:t>
            </a:r>
            <a:r>
              <a:rPr lang="ko-KR" altLang="ko-KR" sz="1800" kern="100" dirty="0" err="1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볼수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있습니다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.</a:t>
            </a:r>
            <a:endParaRPr lang="ko-KR" altLang="ko-KR" sz="1800" kern="100" dirty="0">
              <a:effectLst/>
              <a:latin typeface="맑은 고딕" panose="020B0503020000020004" pitchFamily="34" charset="-127"/>
              <a:ea typeface="맑은 고딕" panose="020B0503020000020004" pitchFamily="34" charset="-127"/>
              <a:cs typeface="Times New Roman" panose="02020603050405020304" pitchFamily="18" charset="0"/>
            </a:endParaRPr>
          </a:p>
          <a:p>
            <a:pPr latinLnBrk="1">
              <a:spcAft>
                <a:spcPts val="800"/>
              </a:spcAft>
            </a:pP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 </a:t>
            </a:r>
            <a:endParaRPr lang="ko-KR" altLang="ko-KR" sz="1800" kern="100" dirty="0">
              <a:effectLst/>
              <a:latin typeface="맑은 고딕" panose="020B0503020000020004" pitchFamily="34" charset="-127"/>
              <a:ea typeface="맑은 고딕" panose="020B0503020000020004" pitchFamily="34" charset="-127"/>
              <a:cs typeface="Times New Roman" panose="02020603050405020304" pitchFamily="18" charset="0"/>
            </a:endParaRPr>
          </a:p>
          <a:p>
            <a:pPr latinLnBrk="1">
              <a:spcAft>
                <a:spcPts val="800"/>
              </a:spcAft>
            </a:pP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약점으로는 </a:t>
            </a:r>
            <a:r>
              <a:rPr lang="ko-KR" altLang="ko-KR" sz="1800" kern="100" dirty="0" err="1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호두강정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하나만 </a:t>
            </a:r>
            <a:r>
              <a:rPr lang="ko-KR" altLang="ko-KR" sz="1800" kern="100" dirty="0" err="1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판매하다보니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제품과 맛 다양성 부족과</a:t>
            </a:r>
          </a:p>
          <a:p>
            <a:pPr latinLnBrk="1">
              <a:spcAft>
                <a:spcPts val="800"/>
              </a:spcAft>
            </a:pP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상세페이지의 디자인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, 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컨텐츠 부족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,</a:t>
            </a:r>
            <a:endParaRPr lang="ko-KR" altLang="ko-KR" sz="1800" kern="100" dirty="0">
              <a:effectLst/>
              <a:latin typeface="맑은 고딕" panose="020B0503020000020004" pitchFamily="34" charset="-127"/>
              <a:ea typeface="맑은 고딕" panose="020B0503020000020004" pitchFamily="34" charset="-127"/>
              <a:cs typeface="Times New Roman" panose="02020603050405020304" pitchFamily="18" charset="0"/>
            </a:endParaRPr>
          </a:p>
          <a:p>
            <a:pPr latinLnBrk="1">
              <a:spcAft>
                <a:spcPts val="800"/>
              </a:spcAft>
            </a:pP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광고를 통한 유입대비 구매 전환율이 낮고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, SNS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채널의 홍보가 부족하다는 점입니다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.</a:t>
            </a:r>
            <a:endParaRPr lang="ko-KR" altLang="ko-KR" sz="1800" kern="100" dirty="0">
              <a:effectLst/>
              <a:latin typeface="맑은 고딕" panose="020B0503020000020004" pitchFamily="34" charset="-127"/>
              <a:ea typeface="맑은 고딕" panose="020B0503020000020004" pitchFamily="34" charset="-127"/>
              <a:cs typeface="Times New Roman" panose="02020603050405020304" pitchFamily="18" charset="0"/>
            </a:endParaRPr>
          </a:p>
          <a:p>
            <a:pPr latinLnBrk="1">
              <a:spcAft>
                <a:spcPts val="800"/>
              </a:spcAft>
            </a:pP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 </a:t>
            </a:r>
            <a:endParaRPr lang="ko-KR" altLang="ko-KR" sz="1800" kern="100" dirty="0">
              <a:effectLst/>
              <a:latin typeface="맑은 고딕" panose="020B0503020000020004" pitchFamily="34" charset="-127"/>
              <a:ea typeface="맑은 고딕" panose="020B0503020000020004" pitchFamily="34" charset="-127"/>
              <a:cs typeface="Times New Roman" panose="02020603050405020304" pitchFamily="18" charset="0"/>
            </a:endParaRPr>
          </a:p>
          <a:p>
            <a:pPr latinLnBrk="1">
              <a:spcAft>
                <a:spcPts val="800"/>
              </a:spcAft>
            </a:pP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기회부분은 현재 건강식품의 유행으로 인한여 건강식품인 호두가 경쟁력을 </a:t>
            </a:r>
            <a:r>
              <a:rPr lang="ko-KR" altLang="ko-KR" sz="1800" kern="100" dirty="0" err="1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가질수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있다는 점입니다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.</a:t>
            </a:r>
            <a:endParaRPr lang="ko-KR" altLang="ko-KR" sz="1800" kern="100" dirty="0">
              <a:effectLst/>
              <a:latin typeface="맑은 고딕" panose="020B0503020000020004" pitchFamily="34" charset="-127"/>
              <a:ea typeface="맑은 고딕" panose="020B0503020000020004" pitchFamily="34" charset="-127"/>
              <a:cs typeface="Times New Roman" panose="02020603050405020304" pitchFamily="18" charset="0"/>
            </a:endParaRPr>
          </a:p>
          <a:p>
            <a:pPr latinLnBrk="1">
              <a:spcAft>
                <a:spcPts val="800"/>
              </a:spcAft>
            </a:pP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 </a:t>
            </a:r>
            <a:endParaRPr lang="ko-KR" altLang="ko-KR" sz="1800" kern="100" dirty="0">
              <a:effectLst/>
              <a:latin typeface="맑은 고딕" panose="020B0503020000020004" pitchFamily="34" charset="-127"/>
              <a:ea typeface="맑은 고딕" panose="020B0503020000020004" pitchFamily="34" charset="-127"/>
              <a:cs typeface="Times New Roman" panose="02020603050405020304" pitchFamily="18" charset="0"/>
            </a:endParaRPr>
          </a:p>
          <a:p>
            <a:pPr latinLnBrk="1">
              <a:spcAft>
                <a:spcPts val="800"/>
              </a:spcAft>
            </a:pP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위협부분으로는 현재 답례품시장에서 와인의 비중이 </a:t>
            </a:r>
            <a:r>
              <a:rPr lang="ko-KR" altLang="ko-KR" sz="1800" kern="100" dirty="0" err="1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높아지고있는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</a:t>
            </a:r>
            <a:r>
              <a:rPr lang="ko-KR" altLang="ko-KR" sz="1800" kern="100" dirty="0" err="1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추세며</a:t>
            </a:r>
            <a:endParaRPr lang="ko-KR" altLang="ko-KR" sz="1800" kern="100" dirty="0">
              <a:effectLst/>
              <a:latin typeface="맑은 고딕" panose="020B0503020000020004" pitchFamily="34" charset="-127"/>
              <a:ea typeface="맑은 고딕" panose="020B0503020000020004" pitchFamily="34" charset="-127"/>
              <a:cs typeface="Times New Roman" panose="02020603050405020304" pitchFamily="18" charset="0"/>
            </a:endParaRPr>
          </a:p>
          <a:p>
            <a:pPr latinLnBrk="1">
              <a:spcAft>
                <a:spcPts val="800"/>
              </a:spcAft>
            </a:pP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호두를 싫어하거나 </a:t>
            </a:r>
            <a:r>
              <a:rPr lang="ko-KR" altLang="ko-KR" sz="1800" kern="100" dirty="0" err="1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알러지가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있는 사람들에게 외면 받을 수 있다는 점 입니다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.</a:t>
            </a:r>
            <a:endParaRPr lang="ko-KR" altLang="ko-KR" sz="1800" kern="100" dirty="0">
              <a:effectLst/>
              <a:latin typeface="맑은 고딕" panose="020B0503020000020004" pitchFamily="34" charset="-127"/>
              <a:ea typeface="맑은 고딕" panose="020B0503020000020004" pitchFamily="34" charset="-127"/>
              <a:cs typeface="Times New Roman" panose="02020603050405020304" pitchFamily="18" charset="0"/>
            </a:endParaRPr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3BC88-43DA-5E4F-A285-25D538DE44E8}" type="slidenum">
              <a:rPr kumimoji="1" lang="ko-KR" altLang="en-US" smtClean="0"/>
              <a:t>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9015820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1">
              <a:spcAft>
                <a:spcPts val="800"/>
              </a:spcAft>
            </a:pPr>
            <a:r>
              <a:rPr lang="ko-KR" altLang="ko-KR" sz="1800" kern="100" dirty="0" err="1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후백의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주 구매자는 스마트스토어 통계자료를 살펴본 결과 </a:t>
            </a:r>
          </a:p>
          <a:p>
            <a:pPr latinLnBrk="1">
              <a:spcAft>
                <a:spcPts val="800"/>
              </a:spcAft>
            </a:pPr>
            <a:r>
              <a:rPr lang="ko-KR" altLang="ko-KR" sz="1800" kern="100" dirty="0" err="1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유입수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및 </a:t>
            </a:r>
            <a:r>
              <a:rPr lang="ko-KR" altLang="ko-KR" sz="1800" kern="100" dirty="0" err="1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결제수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대비 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30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대 초반에 여성이며</a:t>
            </a:r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3BC88-43DA-5E4F-A285-25D538DE44E8}" type="slidenum">
              <a:rPr kumimoji="1" lang="ko-KR" altLang="en-US" smtClean="0"/>
              <a:t>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9499708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1">
              <a:spcAft>
                <a:spcPts val="800"/>
              </a:spcAft>
            </a:pP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이를 통한 페르소나는</a:t>
            </a:r>
          </a:p>
          <a:p>
            <a:pPr latinLnBrk="1">
              <a:spcAft>
                <a:spcPts val="800"/>
              </a:spcAft>
            </a:pP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가까운 시일내의 결혼식을 앞두고 있는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30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대 초반 여성 </a:t>
            </a:r>
            <a:r>
              <a:rPr lang="ko-KR" altLang="ko-KR" sz="1800" kern="100" dirty="0" err="1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황보정이며</a:t>
            </a:r>
            <a:endParaRPr lang="ko-KR" altLang="ko-KR" sz="1800" kern="100" dirty="0">
              <a:effectLst/>
              <a:latin typeface="맑은 고딕" panose="020B0503020000020004" pitchFamily="34" charset="-127"/>
              <a:ea typeface="맑은 고딕" panose="020B0503020000020004" pitchFamily="34" charset="-127"/>
              <a:cs typeface="Times New Roman" panose="02020603050405020304" pitchFamily="18" charset="0"/>
            </a:endParaRPr>
          </a:p>
          <a:p>
            <a:pPr latinLnBrk="1">
              <a:spcAft>
                <a:spcPts val="800"/>
              </a:spcAft>
            </a:pP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고급스러우면서 가격이 </a:t>
            </a:r>
            <a:r>
              <a:rPr lang="ko-KR" altLang="ko-KR" sz="1800" kern="100" dirty="0" err="1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부담되지않고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결혼식에 방문한 다양한 연령대의 손님들을 고려한 답례품을 </a:t>
            </a:r>
            <a:r>
              <a:rPr lang="ko-KR" altLang="ko-KR" sz="1800" kern="100" dirty="0" err="1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찾고있습니다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.</a:t>
            </a:r>
            <a:endParaRPr lang="ko-KR" altLang="ko-KR" sz="1800" kern="100" dirty="0">
              <a:effectLst/>
              <a:latin typeface="맑은 고딕" panose="020B0503020000020004" pitchFamily="34" charset="-127"/>
              <a:ea typeface="맑은 고딕" panose="020B0503020000020004" pitchFamily="34" charset="-127"/>
              <a:cs typeface="Times New Roman" panose="02020603050405020304" pitchFamily="18" charset="0"/>
            </a:endParaRPr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3BC88-43DA-5E4F-A285-25D538DE44E8}" type="slidenum">
              <a:rPr kumimoji="1" lang="ko-KR" altLang="en-US" smtClean="0"/>
              <a:t>6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0134160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1">
              <a:spcAft>
                <a:spcPts val="800"/>
              </a:spcAft>
            </a:pP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다음은 </a:t>
            </a:r>
            <a:r>
              <a:rPr lang="ko-KR" altLang="ko-KR" sz="1800" kern="100" dirty="0" err="1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후백의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문제점입니다</a:t>
            </a:r>
          </a:p>
          <a:p>
            <a:pPr latinLnBrk="1">
              <a:spcAft>
                <a:spcPts val="800"/>
              </a:spcAft>
            </a:pP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문제점은</a:t>
            </a:r>
          </a:p>
          <a:p>
            <a:pPr latinLnBrk="1">
              <a:spcAft>
                <a:spcPts val="800"/>
              </a:spcAft>
            </a:pP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광고주로부터 직접 수집한 내용이며</a:t>
            </a:r>
          </a:p>
          <a:p>
            <a:pPr latinLnBrk="1">
              <a:spcAft>
                <a:spcPts val="800"/>
              </a:spcAft>
            </a:pP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먼저 실제 여러 </a:t>
            </a:r>
            <a:r>
              <a:rPr lang="ko-KR" altLang="ko-KR" sz="1800" kern="100" dirty="0" err="1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주변인들로부터의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</a:t>
            </a:r>
            <a:r>
              <a:rPr lang="ko-KR" altLang="ko-KR" sz="1800" kern="100" dirty="0" err="1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피드백을통한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가독성이 떨어지는 상세페이지와</a:t>
            </a:r>
          </a:p>
          <a:p>
            <a:pPr latinLnBrk="1">
              <a:spcAft>
                <a:spcPts val="800"/>
              </a:spcAft>
            </a:pP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SNS</a:t>
            </a:r>
            <a:r>
              <a:rPr lang="ko-KR" altLang="ko-KR" sz="1800" kern="100" dirty="0" err="1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를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활용한 마케팅 부족</a:t>
            </a:r>
          </a:p>
          <a:p>
            <a:pPr latinLnBrk="1">
              <a:spcAft>
                <a:spcPts val="800"/>
              </a:spcAft>
            </a:pPr>
            <a:r>
              <a:rPr lang="ko-KR" altLang="ko-KR" sz="1800" kern="100" dirty="0" err="1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적절하지못한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키워드로 인한 비효율적인 파워링크 광고가 있습니다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이러한 문제점들을 해결하기 위하여 신규고객 유입전략과 구매전환전략을 짜보았는데요</a:t>
            </a:r>
          </a:p>
          <a:p>
            <a:pPr latinLnBrk="1">
              <a:spcAft>
                <a:spcPts val="800"/>
              </a:spcAft>
            </a:pPr>
            <a:endParaRPr lang="ko-KR" altLang="ko-KR" sz="1800" kern="100" dirty="0">
              <a:effectLst/>
              <a:latin typeface="맑은 고딕" panose="020B0503020000020004" pitchFamily="34" charset="-127"/>
              <a:ea typeface="맑은 고딕" panose="020B0503020000020004" pitchFamily="34" charset="-127"/>
              <a:cs typeface="Times New Roman" panose="02020603050405020304" pitchFamily="18" charset="0"/>
            </a:endParaRPr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3BC88-43DA-5E4F-A285-25D538DE44E8}" type="slidenum">
              <a:rPr kumimoji="1" lang="ko-KR" altLang="en-US" smtClean="0"/>
              <a:t>7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0524996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sz="1800" dirty="0">
                <a:effectLst/>
                <a:ea typeface="맑은 고딕" panose="020B0503020000020004" pitchFamily="34" charset="-127"/>
                <a:cs typeface="Times New Roman" panose="02020603050405020304" pitchFamily="18" charset="0"/>
              </a:rPr>
              <a:t>첫번쨰 유입전략은 효율적인 파워링크 키워드입니다</a:t>
            </a:r>
            <a:r>
              <a:rPr lang="ko-KR" altLang="ko-KR" dirty="0">
                <a:effectLst/>
              </a:rPr>
              <a:t> </a:t>
            </a: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3BC88-43DA-5E4F-A285-25D538DE44E8}" type="slidenum">
              <a:rPr kumimoji="1" lang="ko-KR" altLang="en-US" smtClean="0"/>
              <a:t>8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2116306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1">
              <a:spcAft>
                <a:spcPts val="800"/>
              </a:spcAft>
            </a:pP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파워링크는 </a:t>
            </a:r>
          </a:p>
          <a:p>
            <a:pPr latinLnBrk="1">
              <a:spcAft>
                <a:spcPts val="800"/>
              </a:spcAft>
            </a:pP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네이버 검색 결과 페이지의 상단에 광고를 노출시켜 사용자의 시선을 끌기가 쉽고 </a:t>
            </a:r>
          </a:p>
          <a:p>
            <a:pPr latinLnBrk="1">
              <a:spcAft>
                <a:spcPts val="800"/>
              </a:spcAft>
            </a:pPr>
            <a:r>
              <a:rPr lang="ko-KR" altLang="ko-KR" sz="1800" kern="100" dirty="0" err="1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특정키워드를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설정하여 관련된 검색어를 입력한 사용자에게 광고를 노출시키는 특징을 가지며 </a:t>
            </a:r>
            <a:b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</a:b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클릭 수 노출 수 </a:t>
            </a:r>
            <a:r>
              <a:rPr lang="ko-KR" altLang="ko-KR" sz="1800" kern="100" dirty="0" err="1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전환율등의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광고성과를 모니터링할 </a:t>
            </a:r>
            <a:r>
              <a:rPr lang="ko-KR" altLang="ko-KR" sz="1800" kern="100" dirty="0" err="1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수있는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도구가 제공된다는 장점을 지녔습니다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.</a:t>
            </a:r>
            <a:endParaRPr lang="ko-KR" altLang="ko-KR" sz="1800" kern="100" dirty="0">
              <a:effectLst/>
              <a:latin typeface="맑은 고딕" panose="020B0503020000020004" pitchFamily="34" charset="-127"/>
              <a:ea typeface="맑은 고딕" panose="020B0503020000020004" pitchFamily="34" charset="-127"/>
              <a:cs typeface="Times New Roman" panose="02020603050405020304" pitchFamily="18" charset="0"/>
            </a:endParaRPr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3BC88-43DA-5E4F-A285-25D538DE44E8}" type="slidenum">
              <a:rPr kumimoji="1" lang="ko-KR" altLang="en-US" smtClean="0"/>
              <a:t>9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777331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최근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2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주 파워링크 키워드별 현황을 보면 설정한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19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개의 키워드 중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4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개의 키워드를 제외한 나머지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15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개의 키워드 노출도가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0</a:t>
            </a:r>
            <a:r>
              <a:rPr lang="ko-KR" altLang="ko-KR" sz="1800" kern="100" dirty="0" err="1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인것을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</a:t>
            </a:r>
            <a:r>
              <a:rPr lang="ko-KR" altLang="ko-KR" sz="1800" kern="100" dirty="0" err="1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알수있었습니다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.</a:t>
            </a:r>
            <a:endParaRPr lang="ko-KR" altLang="ko-KR" sz="1800" kern="100" dirty="0">
              <a:effectLst/>
              <a:latin typeface="맑은 고딕" panose="020B0503020000020004" pitchFamily="34" charset="-127"/>
              <a:ea typeface="맑은 고딕" panose="020B0503020000020004" pitchFamily="34" charset="-127"/>
              <a:cs typeface="Times New Roman" panose="02020603050405020304" pitchFamily="18" charset="0"/>
            </a:endParaRPr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3BC88-43DA-5E4F-A285-25D538DE44E8}" type="slidenum">
              <a:rPr kumimoji="1" lang="ko-KR" altLang="en-US" smtClean="0"/>
              <a:t>10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8326996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1">
              <a:spcAft>
                <a:spcPts val="800"/>
              </a:spcAft>
            </a:pP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그래서 저희는 데이터 분석을 통한 키워드 산출 그리고 테스트의 반복 작업을 통하여</a:t>
            </a:r>
          </a:p>
          <a:p>
            <a:pPr latinLnBrk="1">
              <a:spcAft>
                <a:spcPts val="800"/>
              </a:spcAft>
            </a:pP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최적의 키워드를 산출하기로 하였습니다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.</a:t>
            </a:r>
            <a:endParaRPr lang="ko-KR" altLang="ko-KR" sz="1800" kern="100" dirty="0">
              <a:effectLst/>
              <a:latin typeface="맑은 고딕" panose="020B0503020000020004" pitchFamily="34" charset="-127"/>
              <a:ea typeface="맑은 고딕" panose="020B0503020000020004" pitchFamily="34" charset="-127"/>
              <a:cs typeface="Times New Roman" panose="02020603050405020304" pitchFamily="18" charset="0"/>
            </a:endParaRPr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3BC88-43DA-5E4F-A285-25D538DE44E8}" type="slidenum">
              <a:rPr kumimoji="1" lang="ko-KR" altLang="en-US" smtClean="0"/>
              <a:t>11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4732633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데이터 분석과정에서는 네이버 검색광고 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API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와 </a:t>
            </a:r>
            <a:r>
              <a:rPr lang="en-US" altLang="ko-KR" sz="1800" kern="100" dirty="0" err="1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itemscout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</a:t>
            </a:r>
            <a:r>
              <a:rPr lang="ko-KR" altLang="ko-KR" sz="1800" kern="100" dirty="0" err="1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크롤링을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통한</a:t>
            </a:r>
            <a:b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</a:b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키워드의 월간 검색 수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, 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키워드의 월간 </a:t>
            </a:r>
            <a:r>
              <a:rPr lang="ko-KR" altLang="ko-KR" sz="1800" kern="100" dirty="0" err="1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클릭수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, 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경쟁정도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, 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키워드 상품 수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, 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클릭대비 광고비등의 데이터를 활용하여 키워드를 도출하고</a:t>
            </a:r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3BC88-43DA-5E4F-A285-25D538DE44E8}" type="slidenum">
              <a:rPr kumimoji="1" lang="ko-KR" altLang="en-US" smtClean="0"/>
              <a:t>12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0659157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5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일마다의 테스트와 다음과 같은 지표들을 확인하면서 제외할 키워드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, 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추가로 테스트할 키워드를 구분하고 반복하면서 최적의 키워드를 산출할 것입니다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.</a:t>
            </a:r>
            <a:endParaRPr lang="ko-KR" altLang="ko-KR" sz="1800" kern="100" dirty="0">
              <a:effectLst/>
              <a:latin typeface="맑은 고딕" panose="020B0503020000020004" pitchFamily="34" charset="-127"/>
              <a:ea typeface="맑은 고딕" panose="020B0503020000020004" pitchFamily="34" charset="-127"/>
              <a:cs typeface="Times New Roman" panose="02020603050405020304" pitchFamily="18" charset="0"/>
            </a:endParaRPr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3BC88-43DA-5E4F-A285-25D538DE44E8}" type="slidenum">
              <a:rPr kumimoji="1" lang="ko-KR" altLang="en-US" smtClean="0"/>
              <a:t>13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77841415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1">
              <a:spcAft>
                <a:spcPts val="800"/>
              </a:spcAft>
            </a:pP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다음은 유입 전략으로는 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SNS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채널 컨텐츠 마케팅입니다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.</a:t>
            </a:r>
            <a:endParaRPr lang="ko-KR" altLang="ko-KR" sz="1800" kern="100" dirty="0">
              <a:effectLst/>
              <a:latin typeface="맑은 고딕" panose="020B0503020000020004" pitchFamily="34" charset="-127"/>
              <a:ea typeface="맑은 고딕" panose="020B0503020000020004" pitchFamily="34" charset="-127"/>
              <a:cs typeface="Times New Roman" panose="02020603050405020304" pitchFamily="18" charset="0"/>
            </a:endParaRPr>
          </a:p>
          <a:p>
            <a:pPr latinLnBrk="1">
              <a:spcAft>
                <a:spcPts val="800"/>
              </a:spcAft>
            </a:pP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현재 </a:t>
            </a:r>
            <a:r>
              <a:rPr lang="ko-KR" altLang="ko-KR" sz="1800" kern="100" dirty="0" err="1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후백은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인스타그램과 유튜브와 같은 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SNS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채널운영과 컨텐츠 제작을 통한 홍보를 진행하고 있지만 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24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년도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1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월부터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6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월까지의 데이터를 확인해보면 인스타그램 </a:t>
            </a:r>
            <a:r>
              <a:rPr lang="ko-KR" altLang="ko-KR" sz="1800" kern="100" dirty="0" err="1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유입수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40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명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, 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유튜브 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10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명으로 매우 저조한 상태입니다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.</a:t>
            </a:r>
            <a:endParaRPr lang="ko-KR" altLang="ko-KR" sz="1800" kern="100" dirty="0">
              <a:effectLst/>
              <a:latin typeface="맑은 고딕" panose="020B0503020000020004" pitchFamily="34" charset="-127"/>
              <a:ea typeface="맑은 고딕" panose="020B0503020000020004" pitchFamily="34" charset="-127"/>
              <a:cs typeface="Times New Roman" panose="02020603050405020304" pitchFamily="18" charset="0"/>
            </a:endParaRPr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3BC88-43DA-5E4F-A285-25D538DE44E8}" type="slidenum">
              <a:rPr kumimoji="1" lang="ko-KR" altLang="en-US" smtClean="0"/>
              <a:t>14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46899395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sz="1800" dirty="0">
                <a:effectLst/>
                <a:ea typeface="맑은 고딕" panose="020B0503020000020004" pitchFamily="34" charset="-127"/>
                <a:cs typeface="Times New Roman" panose="02020603050405020304" pitchFamily="18" charset="0"/>
              </a:rPr>
              <a:t>이를 해결하기위해 </a:t>
            </a:r>
            <a:r>
              <a:rPr lang="ko-KR" altLang="ko-KR" sz="1800" dirty="0" err="1">
                <a:effectLst/>
                <a:ea typeface="맑은 고딕" panose="020B0503020000020004" pitchFamily="34" charset="-127"/>
                <a:cs typeface="Times New Roman" panose="02020603050405020304" pitchFamily="18" charset="0"/>
              </a:rPr>
              <a:t>웹크롤링을</a:t>
            </a:r>
            <a:r>
              <a:rPr lang="ko-KR" altLang="ko-KR" sz="1800" dirty="0">
                <a:effectLst/>
                <a:ea typeface="맑은 고딕" panose="020B0503020000020004" pitchFamily="34" charset="-127"/>
                <a:cs typeface="Times New Roman" panose="02020603050405020304" pitchFamily="18" charset="0"/>
              </a:rPr>
              <a:t> 통한 인스타그램 </a:t>
            </a:r>
            <a:r>
              <a:rPr lang="ko-KR" altLang="ko-KR" sz="1800" dirty="0" err="1">
                <a:effectLst/>
                <a:ea typeface="맑은 고딕" panose="020B0503020000020004" pitchFamily="34" charset="-127"/>
                <a:cs typeface="Times New Roman" panose="02020603050405020304" pitchFamily="18" charset="0"/>
              </a:rPr>
              <a:t>호두강정</a:t>
            </a:r>
            <a:r>
              <a:rPr lang="ko-KR" altLang="ko-KR" sz="1800" dirty="0">
                <a:effectLst/>
                <a:ea typeface="맑은 고딕" panose="020B0503020000020004" pitchFamily="34" charset="-127"/>
                <a:cs typeface="Times New Roman" panose="02020603050405020304" pitchFamily="18" charset="0"/>
              </a:rPr>
              <a:t> </a:t>
            </a:r>
            <a:r>
              <a:rPr lang="ko-KR" altLang="ko-KR" sz="1800" dirty="0" err="1">
                <a:effectLst/>
                <a:ea typeface="맑은 고딕" panose="020B0503020000020004" pitchFamily="34" charset="-127"/>
                <a:cs typeface="Times New Roman" panose="02020603050405020304" pitchFamily="18" charset="0"/>
              </a:rPr>
              <a:t>관련릴스의</a:t>
            </a:r>
            <a:r>
              <a:rPr lang="ko-KR" altLang="ko-KR" sz="1800" dirty="0">
                <a:effectLst/>
                <a:ea typeface="맑은 고딕" panose="020B0503020000020004" pitchFamily="34" charset="-127"/>
                <a:cs typeface="Times New Roman" panose="02020603050405020304" pitchFamily="18" charset="0"/>
              </a:rPr>
              <a:t> </a:t>
            </a:r>
            <a:r>
              <a:rPr lang="ko-KR" altLang="ko-KR" sz="1800" dirty="0" err="1">
                <a:effectLst/>
                <a:ea typeface="맑은 고딕" panose="020B0503020000020004" pitchFamily="34" charset="-127"/>
                <a:cs typeface="Times New Roman" panose="02020603050405020304" pitchFamily="18" charset="0"/>
              </a:rPr>
              <a:t>좋아요수</a:t>
            </a:r>
            <a:r>
              <a:rPr lang="ko-KR" altLang="ko-KR" sz="1800" dirty="0">
                <a:effectLst/>
                <a:ea typeface="맑은 고딕" panose="020B0503020000020004" pitchFamily="34" charset="-127"/>
                <a:cs typeface="Times New Roman" panose="02020603050405020304" pitchFamily="18" charset="0"/>
              </a:rPr>
              <a:t> </a:t>
            </a:r>
            <a:r>
              <a:rPr lang="ko-KR" altLang="ko-KR" sz="1800" dirty="0" err="1">
                <a:effectLst/>
                <a:ea typeface="맑은 고딕" panose="020B0503020000020004" pitchFamily="34" charset="-127"/>
                <a:cs typeface="Times New Roman" panose="02020603050405020304" pitchFamily="18" charset="0"/>
              </a:rPr>
              <a:t>댓글수</a:t>
            </a:r>
            <a:r>
              <a:rPr lang="ko-KR" altLang="ko-KR" sz="1800" dirty="0">
                <a:effectLst/>
                <a:ea typeface="맑은 고딕" panose="020B0503020000020004" pitchFamily="34" charset="-127"/>
                <a:cs typeface="Times New Roman" panose="02020603050405020304" pitchFamily="18" charset="0"/>
              </a:rPr>
              <a:t> 공유 </a:t>
            </a:r>
            <a:r>
              <a:rPr lang="ko-KR" altLang="ko-KR" sz="1800" dirty="0" err="1">
                <a:effectLst/>
                <a:ea typeface="맑은 고딕" panose="020B0503020000020004" pitchFamily="34" charset="-127"/>
                <a:cs typeface="Times New Roman" panose="02020603050405020304" pitchFamily="18" charset="0"/>
              </a:rPr>
              <a:t>수등이</a:t>
            </a:r>
            <a:r>
              <a:rPr lang="ko-KR" altLang="ko-KR" sz="1800" dirty="0">
                <a:effectLst/>
                <a:ea typeface="맑은 고딕" panose="020B0503020000020004" pitchFamily="34" charset="-127"/>
                <a:cs typeface="Times New Roman" panose="02020603050405020304" pitchFamily="18" charset="0"/>
              </a:rPr>
              <a:t> 높은 </a:t>
            </a:r>
            <a:r>
              <a:rPr lang="ko-KR" altLang="ko-KR" sz="1800" dirty="0" err="1">
                <a:effectLst/>
                <a:ea typeface="맑은 고딕" panose="020B0503020000020004" pitchFamily="34" charset="-127"/>
                <a:cs typeface="Times New Roman" panose="02020603050405020304" pitchFamily="18" charset="0"/>
              </a:rPr>
              <a:t>릴스를</a:t>
            </a:r>
            <a:r>
              <a:rPr lang="ko-KR" altLang="ko-KR" sz="1800" dirty="0">
                <a:effectLst/>
                <a:ea typeface="맑은 고딕" panose="020B0503020000020004" pitchFamily="34" charset="-127"/>
                <a:cs typeface="Times New Roman" panose="02020603050405020304" pitchFamily="18" charset="0"/>
              </a:rPr>
              <a:t> 추출하여 트렌드를 분석하고 상세한 기획안과 </a:t>
            </a: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3BC88-43DA-5E4F-A285-25D538DE44E8}" type="slidenum">
              <a:rPr kumimoji="1" lang="ko-KR" altLang="en-US" smtClean="0"/>
              <a:t>15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93827035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스토리보드 작성을 통해 </a:t>
            </a:r>
            <a:r>
              <a:rPr lang="ko-KR" altLang="ko-KR" sz="1800" kern="100" dirty="0" err="1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릴스와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</a:t>
            </a:r>
            <a:r>
              <a:rPr lang="ko-KR" altLang="ko-KR" sz="1800" kern="100" dirty="0" err="1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숏폼과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같은 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SNS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홍보 컨텐츠를 만들 </a:t>
            </a:r>
            <a:r>
              <a:rPr lang="ko-KR" altLang="en-US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계획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입니다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.</a:t>
            </a:r>
            <a:endParaRPr lang="ko-KR" altLang="ko-KR" sz="1800" kern="100" dirty="0">
              <a:effectLst/>
              <a:latin typeface="맑은 고딕" panose="020B0503020000020004" pitchFamily="34" charset="-127"/>
              <a:ea typeface="맑은 고딕" panose="020B0503020000020004" pitchFamily="34" charset="-127"/>
              <a:cs typeface="Times New Roman" panose="02020603050405020304" pitchFamily="18" charset="0"/>
            </a:endParaRPr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3BC88-43DA-5E4F-A285-25D538DE44E8}" type="slidenum">
              <a:rPr kumimoji="1" lang="ko-KR" altLang="en-US" smtClean="0"/>
              <a:t>16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30167896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1">
              <a:spcAft>
                <a:spcPts val="800"/>
              </a:spcAft>
            </a:pP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네 지금까지 신규유입전략에 얘기해보았는데</a:t>
            </a:r>
          </a:p>
          <a:p>
            <a:pPr latinLnBrk="1">
              <a:spcAft>
                <a:spcPts val="800"/>
              </a:spcAft>
            </a:pP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다음은 구매전환 전략입니다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.</a:t>
            </a:r>
            <a:endParaRPr lang="ko-KR" altLang="ko-KR" sz="1800" kern="100" dirty="0">
              <a:effectLst/>
              <a:latin typeface="맑은 고딕" panose="020B0503020000020004" pitchFamily="34" charset="-127"/>
              <a:ea typeface="맑은 고딕" panose="020B0503020000020004" pitchFamily="34" charset="-127"/>
              <a:cs typeface="Times New Roman" panose="02020603050405020304" pitchFamily="18" charset="0"/>
            </a:endParaRPr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3BC88-43DA-5E4F-A285-25D538DE44E8}" type="slidenum">
              <a:rPr kumimoji="1" lang="ko-KR" altLang="en-US" smtClean="0"/>
              <a:t>17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5233003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구매전략으로는 다음과 같은 페이지 뷰 체류시간 분석 등을 통하여 인사이트를 도출하여</a:t>
            </a:r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3BC88-43DA-5E4F-A285-25D538DE44E8}" type="slidenum">
              <a:rPr kumimoji="1" lang="ko-KR" altLang="en-US" smtClean="0"/>
              <a:t>18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90867936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sz="1800" dirty="0">
                <a:effectLst/>
                <a:ea typeface="맑은 고딕" panose="020B0503020000020004" pitchFamily="34" charset="-127"/>
                <a:cs typeface="Times New Roman" panose="02020603050405020304" pitchFamily="18" charset="0"/>
              </a:rPr>
              <a:t>다음과 같은 상세페이지 컨텐츠 개선</a:t>
            </a:r>
            <a:r>
              <a:rPr lang="ko-KR" altLang="ko-KR" dirty="0">
                <a:effectLst/>
              </a:rPr>
              <a:t> </a:t>
            </a: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3BC88-43DA-5E4F-A285-25D538DE44E8}" type="slidenum">
              <a:rPr kumimoji="1" lang="ko-KR" altLang="en-US" smtClean="0"/>
              <a:t>19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0635881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UI/UX</a:t>
            </a:r>
            <a:r>
              <a:rPr lang="ko-KR" altLang="ko-KR" sz="1800" kern="100" dirty="0" err="1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를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개선 등 유입된 예비구매자가 </a:t>
            </a:r>
            <a:r>
              <a:rPr lang="ko-KR" altLang="ko-KR" sz="1800" kern="100" dirty="0" err="1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이탈하지않고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우리의 상품을 한눈에 이해하고 </a:t>
            </a:r>
            <a:r>
              <a:rPr lang="ko-KR" altLang="ko-KR" sz="1800" kern="100" dirty="0" err="1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구매할수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있도록 매력적인 상세페이지 개선을 통하여 구매전환에 기여를 할 수 있게 한 계획입니다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.</a:t>
            </a:r>
            <a:endParaRPr lang="ko-KR" altLang="ko-KR" sz="1800" kern="100" dirty="0">
              <a:effectLst/>
              <a:latin typeface="맑은 고딕" panose="020B0503020000020004" pitchFamily="34" charset="-127"/>
              <a:ea typeface="맑은 고딕" panose="020B0503020000020004" pitchFamily="34" charset="-127"/>
              <a:cs typeface="Times New Roman" panose="02020603050405020304" pitchFamily="18" charset="0"/>
            </a:endParaRPr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3BC88-43DA-5E4F-A285-25D538DE44E8}" type="slidenum">
              <a:rPr kumimoji="1" lang="ko-KR" altLang="en-US" smtClean="0"/>
              <a:t>20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26964036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sz="1800" dirty="0">
                <a:effectLst/>
                <a:ea typeface="맑은 고딕" panose="020B0503020000020004" pitchFamily="34" charset="-127"/>
                <a:cs typeface="Times New Roman" panose="02020603050405020304" pitchFamily="18" charset="0"/>
              </a:rPr>
              <a:t>또한 현재 각 상품마다 기본적으로 할인이 </a:t>
            </a:r>
            <a:r>
              <a:rPr lang="ko-KR" altLang="ko-KR" sz="1800" dirty="0" err="1">
                <a:effectLst/>
                <a:ea typeface="맑은 고딕" panose="020B0503020000020004" pitchFamily="34" charset="-127"/>
                <a:cs typeface="Times New Roman" panose="02020603050405020304" pitchFamily="18" charset="0"/>
              </a:rPr>
              <a:t>들어가있지만</a:t>
            </a:r>
            <a:r>
              <a:rPr lang="ko-KR" altLang="ko-KR" dirty="0">
                <a:effectLst/>
              </a:rPr>
              <a:t> </a:t>
            </a: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3BC88-43DA-5E4F-A285-25D538DE44E8}" type="slidenum">
              <a:rPr kumimoji="1" lang="ko-KR" altLang="en-US" smtClean="0"/>
              <a:t>21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2669207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이를 이대로 </a:t>
            </a:r>
            <a:r>
              <a:rPr lang="ko-KR" altLang="ko-KR" sz="1800" kern="100" dirty="0" err="1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방치해두는게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아닌</a:t>
            </a:r>
            <a:b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</a:b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각 달마다 특별한 이벤트처럼 제목을 지어 사용자에게 이달의 특별 프로모션처럼 보이게 하여 구매를 </a:t>
            </a:r>
            <a:r>
              <a:rPr lang="ko-KR" altLang="ko-KR" sz="1800" kern="100" dirty="0" err="1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유도할수있게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할 계획입니다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.</a:t>
            </a:r>
            <a:endParaRPr lang="ko-KR" altLang="ko-KR" sz="1800" kern="100" dirty="0">
              <a:effectLst/>
              <a:latin typeface="맑은 고딕" panose="020B0503020000020004" pitchFamily="34" charset="-127"/>
              <a:ea typeface="맑은 고딕" panose="020B0503020000020004" pitchFamily="34" charset="-127"/>
              <a:cs typeface="Times New Roman" panose="02020603050405020304" pitchFamily="18" charset="0"/>
            </a:endParaRPr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3BC88-43DA-5E4F-A285-25D538DE44E8}" type="slidenum">
              <a:rPr kumimoji="1" lang="ko-KR" altLang="en-US" smtClean="0"/>
              <a:t>22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4221879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sz="1800" dirty="0">
                <a:effectLst/>
                <a:ea typeface="맑은 고딕" panose="020B0503020000020004" pitchFamily="34" charset="-127"/>
                <a:cs typeface="Times New Roman" panose="02020603050405020304" pitchFamily="18" charset="0"/>
              </a:rPr>
              <a:t>이렇게 저희는 신규고객 유입과 구매 전환율을 </a:t>
            </a:r>
            <a:r>
              <a:rPr lang="ko-KR" altLang="ko-KR" sz="1800" dirty="0" err="1">
                <a:effectLst/>
                <a:ea typeface="맑은 고딕" panose="020B0503020000020004" pitchFamily="34" charset="-127"/>
                <a:cs typeface="Times New Roman" panose="02020603050405020304" pitchFamily="18" charset="0"/>
              </a:rPr>
              <a:t>높혀</a:t>
            </a:r>
            <a:r>
              <a:rPr lang="ko-KR" altLang="ko-KR" sz="1800" dirty="0">
                <a:effectLst/>
                <a:ea typeface="맑은 고딕" panose="020B0503020000020004" pitchFamily="34" charset="-127"/>
                <a:cs typeface="Times New Roman" panose="02020603050405020304" pitchFamily="18" charset="0"/>
              </a:rPr>
              <a:t> 매출 상승을 목표로 하며</a:t>
            </a:r>
            <a:r>
              <a:rPr lang="ko-KR" altLang="ko-KR" dirty="0">
                <a:effectLst/>
              </a:rPr>
              <a:t> </a:t>
            </a: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3BC88-43DA-5E4F-A285-25D538DE44E8}" type="slidenum">
              <a:rPr kumimoji="1" lang="ko-KR" altLang="en-US" smtClean="0"/>
              <a:t>23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80526971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1">
              <a:spcAft>
                <a:spcPts val="800"/>
              </a:spcAft>
            </a:pP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목표성과로는</a:t>
            </a:r>
          </a:p>
          <a:p>
            <a:pPr latinLnBrk="1">
              <a:spcAft>
                <a:spcPts val="800"/>
              </a:spcAft>
            </a:pP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SNS</a:t>
            </a:r>
            <a:r>
              <a:rPr lang="ko-KR" altLang="ko-KR" sz="1800" kern="100" dirty="0" err="1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채널유입량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최근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15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일 기준대비 유입량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4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명에서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100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명 그리고 </a:t>
            </a:r>
            <a:r>
              <a:rPr lang="ko-KR" altLang="ko-KR" sz="1800" kern="100" dirty="0" err="1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결제율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0%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에서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10%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까지 증대</a:t>
            </a:r>
          </a:p>
          <a:p>
            <a:pPr latinLnBrk="1">
              <a:spcAft>
                <a:spcPts val="800"/>
              </a:spcAft>
            </a:pP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파워링크 광고를 통한 유입량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94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명에서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200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명 </a:t>
            </a:r>
            <a:r>
              <a:rPr lang="ko-KR" altLang="ko-KR" sz="1800" kern="100" dirty="0" err="1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결제율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3.26%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에서 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8%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까지 증대</a:t>
            </a:r>
          </a:p>
          <a:p>
            <a:pPr latinLnBrk="1">
              <a:spcAft>
                <a:spcPts val="800"/>
              </a:spcAft>
            </a:pP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상세페이지 조회 대비 </a:t>
            </a:r>
            <a:r>
              <a:rPr lang="ko-KR" altLang="ko-KR" sz="1800" kern="100" dirty="0" err="1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결제율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55.5%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에서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80%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이상까지 </a:t>
            </a:r>
            <a:r>
              <a:rPr lang="ko-KR" altLang="ko-KR" sz="1800" kern="100" dirty="0" err="1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올리는것을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 목표로 </a:t>
            </a:r>
            <a:r>
              <a:rPr lang="ko-KR" altLang="ko-KR" sz="1800" kern="100" dirty="0" err="1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하고있습니다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.</a:t>
            </a:r>
            <a:endParaRPr lang="ko-KR" altLang="ko-KR" sz="1800" kern="100" dirty="0">
              <a:effectLst/>
              <a:latin typeface="맑은 고딕" panose="020B0503020000020004" pitchFamily="34" charset="-127"/>
              <a:ea typeface="맑은 고딕" panose="020B0503020000020004" pitchFamily="34" charset="-127"/>
              <a:cs typeface="Times New Roman" panose="02020603050405020304" pitchFamily="18" charset="0"/>
            </a:endParaRPr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3BC88-43DA-5E4F-A285-25D538DE44E8}" type="slidenum">
              <a:rPr kumimoji="1" lang="ko-KR" altLang="en-US" smtClean="0"/>
              <a:t>24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5849257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7/25/24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2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8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4.png"/><Relationship Id="rId10" Type="http://schemas.openxmlformats.org/officeDocument/2006/relationships/image" Target="../media/image19.png"/><Relationship Id="rId4" Type="http://schemas.openxmlformats.org/officeDocument/2006/relationships/image" Target="../media/image9.png"/><Relationship Id="rId9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5.png"/><Relationship Id="rId3" Type="http://schemas.openxmlformats.org/officeDocument/2006/relationships/image" Target="../media/image1.png"/><Relationship Id="rId7" Type="http://schemas.openxmlformats.org/officeDocument/2006/relationships/image" Target="../media/image21.png"/><Relationship Id="rId12" Type="http://schemas.openxmlformats.org/officeDocument/2006/relationships/image" Target="../media/image2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9.png"/><Relationship Id="rId5" Type="http://schemas.openxmlformats.org/officeDocument/2006/relationships/image" Target="../media/image6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23.png"/><Relationship Id="rId14" Type="http://schemas.openxmlformats.org/officeDocument/2006/relationships/image" Target="../media/image2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27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5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12" Type="http://schemas.openxmlformats.org/officeDocument/2006/relationships/image" Target="../media/image3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11" Type="http://schemas.openxmlformats.org/officeDocument/2006/relationships/image" Target="../media/image33.png"/><Relationship Id="rId5" Type="http://schemas.openxmlformats.org/officeDocument/2006/relationships/image" Target="../media/image29.png"/><Relationship Id="rId10" Type="http://schemas.openxmlformats.org/officeDocument/2006/relationships/image" Target="../media/image32.png"/><Relationship Id="rId4" Type="http://schemas.openxmlformats.org/officeDocument/2006/relationships/image" Target="../media/image2.png"/><Relationship Id="rId9" Type="http://schemas.openxmlformats.org/officeDocument/2006/relationships/image" Target="../media/image3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.png"/><Relationship Id="rId10" Type="http://schemas.openxmlformats.org/officeDocument/2006/relationships/image" Target="../media/image39.png"/><Relationship Id="rId4" Type="http://schemas.openxmlformats.org/officeDocument/2006/relationships/image" Target="../media/image36.png"/><Relationship Id="rId9" Type="http://schemas.openxmlformats.org/officeDocument/2006/relationships/image" Target="../media/image3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3.png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7.png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9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2.png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3.png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27.png"/><Relationship Id="rId7" Type="http://schemas.openxmlformats.org/officeDocument/2006/relationships/image" Target="../media/image5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10" Type="http://schemas.openxmlformats.org/officeDocument/2006/relationships/image" Target="../media/image59.png"/><Relationship Id="rId4" Type="http://schemas.openxmlformats.org/officeDocument/2006/relationships/image" Target="../media/image9.png"/><Relationship Id="rId9" Type="http://schemas.openxmlformats.org/officeDocument/2006/relationships/image" Target="../media/image5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1.png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4.png"/><Relationship Id="rId4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9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3" Type="http://schemas.openxmlformats.org/officeDocument/2006/relationships/image" Target="../media/image27.png"/><Relationship Id="rId7" Type="http://schemas.openxmlformats.org/officeDocument/2006/relationships/image" Target="../media/image6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9.png"/><Relationship Id="rId9" Type="http://schemas.openxmlformats.org/officeDocument/2006/relationships/image" Target="../media/image7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image" Target="../media/image3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6.png"/><Relationship Id="rId5" Type="http://schemas.openxmlformats.org/officeDocument/2006/relationships/image" Target="../media/image75.png"/><Relationship Id="rId4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0287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" y="952500"/>
            <a:ext cx="16383000" cy="8407400"/>
          </a:xfrm>
          <a:prstGeom prst="rect">
            <a:avLst/>
          </a:prstGeom>
          <a:effectLst>
            <a:outerShdw blurRad="702899" dist="323117" dir="2700000">
              <a:srgbClr val="000000">
                <a:alpha val="15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" y="952500"/>
            <a:ext cx="16383000" cy="1143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50300" y="2006600"/>
            <a:ext cx="800100" cy="1244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391900" y="5143500"/>
            <a:ext cx="2692400" cy="22225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6489700" y="5626100"/>
            <a:ext cx="5410200" cy="1003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9519"/>
              </a:lnSpc>
            </a:pPr>
            <a:r>
              <a:rPr lang="ko-KR" sz="2800" b="1" i="0" u="none" strike="noStrike">
                <a:solidFill>
                  <a:srgbClr val="000000"/>
                </a:solidFill>
                <a:ea typeface="Pretendard Light"/>
              </a:rPr>
              <a:t>후백</a:t>
            </a:r>
            <a:r>
              <a:rPr lang="en-US" sz="2800" b="1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800" b="1" i="0" u="none" strike="noStrike">
                <a:solidFill>
                  <a:srgbClr val="000000"/>
                </a:solidFill>
                <a:ea typeface="Pretendard Light"/>
              </a:rPr>
              <a:t>매출</a:t>
            </a:r>
            <a:r>
              <a:rPr lang="en-US" sz="2800" b="1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800" b="1" i="0" u="none" strike="noStrike">
                <a:solidFill>
                  <a:srgbClr val="000000"/>
                </a:solidFill>
                <a:ea typeface="Pretendard Light"/>
              </a:rPr>
              <a:t>상승을</a:t>
            </a:r>
            <a:r>
              <a:rPr lang="en-US" sz="2800" b="1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800" b="1" i="0" u="none" strike="noStrike">
                <a:solidFill>
                  <a:srgbClr val="000000"/>
                </a:solidFill>
                <a:ea typeface="Pretendard Light"/>
              </a:rPr>
              <a:t>위한</a:t>
            </a:r>
          </a:p>
          <a:p>
            <a:pPr lvl="0" algn="ctr">
              <a:lnSpc>
                <a:spcPct val="119519"/>
              </a:lnSpc>
            </a:pPr>
            <a:r>
              <a:rPr lang="ko-KR" sz="2800" b="1" i="0" u="none" strike="noStrike">
                <a:solidFill>
                  <a:srgbClr val="000000"/>
                </a:solidFill>
                <a:ea typeface="Pretendard Light"/>
              </a:rPr>
              <a:t>마케팅</a:t>
            </a:r>
            <a:r>
              <a:rPr lang="en-US" sz="2800" b="1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800" b="1" i="0" u="none" strike="noStrike">
                <a:solidFill>
                  <a:srgbClr val="000000"/>
                </a:solidFill>
                <a:ea typeface="Pretendard Light"/>
              </a:rPr>
              <a:t>솔루션</a:t>
            </a:r>
            <a:r>
              <a:rPr lang="en-US" sz="2800" b="1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800" b="1" i="0" u="none" strike="noStrike">
                <a:solidFill>
                  <a:srgbClr val="000000"/>
                </a:solidFill>
                <a:ea typeface="Pretendard Light"/>
              </a:rPr>
              <a:t>기획안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187700" y="3848100"/>
            <a:ext cx="11912600" cy="1955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11000" b="0" i="0" u="none" strike="noStrike">
                <a:solidFill>
                  <a:srgbClr val="A3957D"/>
                </a:solidFill>
                <a:latin typeface="Pretendard Bold"/>
              </a:rPr>
              <a:t>HU 100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319000" y="1295400"/>
            <a:ext cx="4699000" cy="635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16199"/>
              </a:lnSpc>
            </a:pPr>
            <a:r>
              <a:rPr lang="en-US" sz="1800" b="0" i="0" u="none" strike="noStrike" spc="200">
                <a:solidFill>
                  <a:srgbClr val="000000"/>
                </a:solidFill>
                <a:latin typeface="Pretendard Light"/>
              </a:rPr>
              <a:t>BRAND</a:t>
            </a:r>
          </a:p>
          <a:p>
            <a:pPr lvl="0" algn="r">
              <a:lnSpc>
                <a:spcPct val="116199"/>
              </a:lnSpc>
            </a:pPr>
            <a:r>
              <a:rPr lang="en-US" sz="1800" b="0" i="0" u="none" strike="noStrike" spc="200">
                <a:solidFill>
                  <a:srgbClr val="000000"/>
                </a:solidFill>
                <a:latin typeface="Pretendard Light"/>
              </a:rPr>
              <a:t>MARKETING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0287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" y="927100"/>
            <a:ext cx="16383000" cy="8407400"/>
          </a:xfrm>
          <a:prstGeom prst="rect">
            <a:avLst/>
          </a:prstGeom>
          <a:effectLst>
            <a:outerShdw blurRad="702899" dist="323117" dir="2700000">
              <a:srgbClr val="000000">
                <a:alpha val="15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68700" y="2095500"/>
            <a:ext cx="850900" cy="1333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0000" y="7734300"/>
            <a:ext cx="850900" cy="13335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101600"/>
            <a:ext cx="18605500" cy="17653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18376900" cy="1143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72300" y="2552700"/>
            <a:ext cx="787400" cy="10160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34200" y="3898900"/>
            <a:ext cx="787400" cy="10287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46900" y="5270500"/>
            <a:ext cx="787400" cy="10160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34200" y="6553200"/>
            <a:ext cx="800100" cy="9144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972300" y="7772400"/>
            <a:ext cx="787400" cy="10033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5778500" y="457200"/>
            <a:ext cx="6642100" cy="977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ko-KR" sz="5500" b="0" i="0" u="none" strike="noStrike">
                <a:solidFill>
                  <a:srgbClr val="FFFFFF"/>
                </a:solidFill>
                <a:ea typeface="Pretendard SemiBold"/>
              </a:rPr>
              <a:t>목차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797800" y="2540000"/>
            <a:ext cx="5410200" cy="5994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51890"/>
              </a:lnSpc>
            </a:pPr>
            <a:r>
              <a:rPr lang="ko-KR" sz="3300" b="0" i="0" u="none" strike="noStrike">
                <a:solidFill>
                  <a:srgbClr val="8D776A"/>
                </a:solidFill>
                <a:ea typeface="Pretendard SemiBold"/>
              </a:rPr>
              <a:t>자사</a:t>
            </a:r>
            <a:r>
              <a:rPr lang="en-US" sz="33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3300" b="0" i="0" u="none" strike="noStrike">
                <a:solidFill>
                  <a:srgbClr val="8D776A"/>
                </a:solidFill>
                <a:ea typeface="Pretendard SemiBold"/>
              </a:rPr>
              <a:t>현황</a:t>
            </a:r>
          </a:p>
          <a:p>
            <a:pPr marL="342900" lvl="0" indent="-342900" algn="l">
              <a:lnSpc>
                <a:spcPct val="151890"/>
              </a:lnSpc>
              <a:buClr>
                <a:srgbClr val="8D776A"/>
              </a:buClr>
              <a:buFont typeface="Arial"/>
              <a:buChar char="●"/>
            </a:pPr>
            <a:r>
              <a:rPr lang="ko-KR" sz="1600" b="0" i="0" u="none" strike="noStrike">
                <a:solidFill>
                  <a:srgbClr val="8D776A"/>
                </a:solidFill>
                <a:ea typeface="Pretendard SemiBold"/>
              </a:rPr>
              <a:t>판매</a:t>
            </a:r>
            <a:r>
              <a:rPr lang="en-US" sz="16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1600" b="0" i="0" u="none" strike="noStrike">
                <a:solidFill>
                  <a:srgbClr val="8D776A"/>
                </a:solidFill>
                <a:ea typeface="Pretendard SemiBold"/>
              </a:rPr>
              <a:t>제품</a:t>
            </a:r>
          </a:p>
          <a:p>
            <a:pPr marL="342900" lvl="0" indent="-342900" algn="l">
              <a:lnSpc>
                <a:spcPct val="151890"/>
              </a:lnSpc>
              <a:buClr>
                <a:srgbClr val="8D776A"/>
              </a:buClr>
              <a:buFont typeface="Arial"/>
              <a:buChar char="●"/>
            </a:pPr>
            <a:r>
              <a:rPr lang="en-US" sz="1600" b="0" i="0" u="none" strike="noStrike">
                <a:solidFill>
                  <a:srgbClr val="8D776A"/>
                </a:solidFill>
                <a:latin typeface="Pretendard SemiBold"/>
              </a:rPr>
              <a:t>SWOT </a:t>
            </a:r>
            <a:r>
              <a:rPr lang="ko-KR" sz="1600" b="0" i="0" u="none" strike="noStrike">
                <a:solidFill>
                  <a:srgbClr val="8D776A"/>
                </a:solidFill>
                <a:ea typeface="Pretendard SemiBold"/>
              </a:rPr>
              <a:t>분석</a:t>
            </a:r>
          </a:p>
          <a:p>
            <a:pPr lvl="0" algn="l">
              <a:lnSpc>
                <a:spcPct val="151890"/>
              </a:lnSpc>
            </a:pPr>
            <a:r>
              <a:rPr lang="ko-KR" sz="3300" b="0" i="0" u="none" strike="noStrike">
                <a:solidFill>
                  <a:srgbClr val="8D776A"/>
                </a:solidFill>
                <a:ea typeface="Pretendard SemiBold"/>
              </a:rPr>
              <a:t>문제</a:t>
            </a:r>
            <a:r>
              <a:rPr lang="en-US" sz="33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3300" b="0" i="0" u="none" strike="noStrike">
                <a:solidFill>
                  <a:srgbClr val="8D776A"/>
                </a:solidFill>
                <a:ea typeface="Pretendard SemiBold"/>
              </a:rPr>
              <a:t>인식</a:t>
            </a:r>
          </a:p>
          <a:p>
            <a:pPr marL="342900" lvl="0" indent="-342900" algn="l">
              <a:lnSpc>
                <a:spcPct val="151890"/>
              </a:lnSpc>
              <a:buClr>
                <a:srgbClr val="8D776A"/>
              </a:buClr>
              <a:buFont typeface="Arial"/>
              <a:buChar char="●"/>
            </a:pPr>
            <a:r>
              <a:rPr lang="ko-KR" sz="2000" b="0" i="0" u="none" strike="noStrike">
                <a:solidFill>
                  <a:srgbClr val="8D776A"/>
                </a:solidFill>
                <a:ea typeface="Pretendard SemiBold"/>
              </a:rPr>
              <a:t>문제점</a:t>
            </a:r>
            <a:r>
              <a:rPr lang="en-US" sz="20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2000" b="0" i="0" u="none" strike="noStrike">
                <a:solidFill>
                  <a:srgbClr val="8D776A"/>
                </a:solidFill>
                <a:ea typeface="Pretendard SemiBold"/>
              </a:rPr>
              <a:t>도출</a:t>
            </a:r>
          </a:p>
          <a:p>
            <a:pPr lvl="0" algn="l">
              <a:lnSpc>
                <a:spcPct val="151890"/>
              </a:lnSpc>
            </a:pPr>
            <a:r>
              <a:rPr lang="en-US" sz="3300" b="0" i="0" u="none" strike="noStrike">
                <a:solidFill>
                  <a:srgbClr val="8D776A"/>
                </a:solidFill>
                <a:latin typeface="Pretendard SemiBold"/>
              </a:rPr>
              <a:t>TARGET</a:t>
            </a:r>
          </a:p>
          <a:p>
            <a:pPr marL="342900" lvl="0" indent="-342900" algn="l">
              <a:lnSpc>
                <a:spcPct val="151890"/>
              </a:lnSpc>
              <a:buClr>
                <a:srgbClr val="8D776A"/>
              </a:buClr>
              <a:buFont typeface="Arial"/>
              <a:buChar char="●"/>
            </a:pPr>
            <a:r>
              <a:rPr lang="en-US" sz="1600" b="0" i="0" u="none" strike="noStrike">
                <a:solidFill>
                  <a:srgbClr val="8D776A"/>
                </a:solidFill>
                <a:latin typeface="Pretendard SemiBold"/>
              </a:rPr>
              <a:t>PERSONA</a:t>
            </a:r>
          </a:p>
          <a:p>
            <a:pPr lvl="0" algn="l">
              <a:lnSpc>
                <a:spcPct val="151890"/>
              </a:lnSpc>
            </a:pPr>
            <a:r>
              <a:rPr lang="ko-KR" sz="3300" b="0" i="0" u="none" strike="noStrike">
                <a:solidFill>
                  <a:srgbClr val="8D776A"/>
                </a:solidFill>
                <a:ea typeface="Pretendard SemiBold"/>
              </a:rPr>
              <a:t>마케팅</a:t>
            </a:r>
            <a:r>
              <a:rPr lang="en-US" sz="33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3300" b="0" i="0" u="none" strike="noStrike">
                <a:solidFill>
                  <a:srgbClr val="8D776A"/>
                </a:solidFill>
                <a:ea typeface="Pretendard SemiBold"/>
              </a:rPr>
              <a:t>전략</a:t>
            </a:r>
          </a:p>
          <a:p>
            <a:pPr marL="342900" lvl="0" indent="-342900" algn="l">
              <a:lnSpc>
                <a:spcPct val="151890"/>
              </a:lnSpc>
              <a:buClr>
                <a:srgbClr val="8D776A"/>
              </a:buClr>
              <a:buFont typeface="Arial"/>
              <a:buChar char="●"/>
            </a:pPr>
            <a:r>
              <a:rPr lang="ko-KR" sz="1600" b="0" i="0" u="none" strike="noStrike">
                <a:solidFill>
                  <a:srgbClr val="8D776A"/>
                </a:solidFill>
                <a:ea typeface="Pretendard SemiBold"/>
              </a:rPr>
              <a:t>신규</a:t>
            </a:r>
            <a:r>
              <a:rPr lang="en-US" sz="16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1600" b="0" i="0" u="none" strike="noStrike">
                <a:solidFill>
                  <a:srgbClr val="8D776A"/>
                </a:solidFill>
                <a:ea typeface="Pretendard SemiBold"/>
              </a:rPr>
              <a:t>유입</a:t>
            </a:r>
            <a:r>
              <a:rPr lang="en-US" sz="16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1600" b="0" i="0" u="none" strike="noStrike">
                <a:solidFill>
                  <a:srgbClr val="8D776A"/>
                </a:solidFill>
                <a:ea typeface="Pretendard SemiBold"/>
              </a:rPr>
              <a:t>전략</a:t>
            </a:r>
          </a:p>
          <a:p>
            <a:pPr marL="342900" lvl="0" indent="-342900" algn="l">
              <a:lnSpc>
                <a:spcPct val="151890"/>
              </a:lnSpc>
              <a:buClr>
                <a:srgbClr val="8D776A"/>
              </a:buClr>
              <a:buFont typeface="Arial"/>
              <a:buChar char="●"/>
            </a:pPr>
            <a:r>
              <a:rPr lang="ko-KR" sz="1600" b="0" i="0" u="none" strike="noStrike">
                <a:solidFill>
                  <a:srgbClr val="8D776A"/>
                </a:solidFill>
                <a:ea typeface="Pretendard SemiBold"/>
              </a:rPr>
              <a:t>구매</a:t>
            </a:r>
            <a:r>
              <a:rPr lang="en-US" sz="16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1600" b="0" i="0" u="none" strike="noStrike">
                <a:solidFill>
                  <a:srgbClr val="8D776A"/>
                </a:solidFill>
                <a:ea typeface="Pretendard SemiBold"/>
              </a:rPr>
              <a:t>전환</a:t>
            </a:r>
            <a:r>
              <a:rPr lang="en-US" sz="16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1600" b="0" i="0" u="none" strike="noStrike">
                <a:solidFill>
                  <a:srgbClr val="8D776A"/>
                </a:solidFill>
                <a:ea typeface="Pretendard SemiBold"/>
              </a:rPr>
              <a:t>전략</a:t>
            </a:r>
          </a:p>
          <a:p>
            <a:pPr lvl="0" algn="l">
              <a:lnSpc>
                <a:spcPct val="151890"/>
              </a:lnSpc>
            </a:pPr>
            <a:r>
              <a:rPr lang="ko-KR" sz="3300" b="0" i="0" u="none" strike="noStrike">
                <a:solidFill>
                  <a:srgbClr val="8D776A"/>
                </a:solidFill>
                <a:ea typeface="Pretendard SemiBold"/>
              </a:rPr>
              <a:t>목표</a:t>
            </a:r>
            <a:r>
              <a:rPr lang="en-US" sz="33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3300" b="0" i="0" u="none" strike="noStrike">
                <a:solidFill>
                  <a:srgbClr val="8D776A"/>
                </a:solidFill>
                <a:ea typeface="Pretendard SemiBold"/>
              </a:rPr>
              <a:t>성과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" y="63500"/>
            <a:ext cx="18605500" cy="1765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8376900" cy="114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17900" y="4102100"/>
            <a:ext cx="800100" cy="12446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5100" y="7632700"/>
            <a:ext cx="800100" cy="1244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13000" y="2882900"/>
            <a:ext cx="3200400" cy="2425700"/>
          </a:xfrm>
          <a:prstGeom prst="rect">
            <a:avLst/>
          </a:prstGeom>
          <a:effectLst>
            <a:outerShdw blurRad="58837" dist="56091" dir="2700000">
              <a:srgbClr val="000000">
                <a:alpha val="50000"/>
              </a:srgbClr>
            </a:outerShdw>
          </a:effectLst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484100" y="2895600"/>
            <a:ext cx="3175000" cy="2438400"/>
          </a:xfrm>
          <a:prstGeom prst="rect">
            <a:avLst/>
          </a:prstGeom>
          <a:effectLst>
            <a:outerShdw blurRad="59189" dist="56258" dir="2700000">
              <a:srgbClr val="000000">
                <a:alpha val="50000"/>
              </a:srgbClr>
            </a:outerShdw>
          </a:effectLst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56500" y="2908300"/>
            <a:ext cx="3213100" cy="2438400"/>
          </a:xfrm>
          <a:prstGeom prst="rect">
            <a:avLst/>
          </a:prstGeom>
          <a:effectLst>
            <a:outerShdw blurRad="59189" dist="56258" dir="2700000">
              <a:srgbClr val="000000">
                <a:alpha val="50000"/>
              </a:srgbClr>
            </a:outerShdw>
          </a:effectLst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84300" y="1485900"/>
            <a:ext cx="2616200" cy="26162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5727700" y="419100"/>
            <a:ext cx="6642100" cy="977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ko-KR" sz="5500" b="0" i="0" u="none" strike="noStrike">
                <a:solidFill>
                  <a:srgbClr val="FFFFFF"/>
                </a:solidFill>
                <a:ea typeface="Pretendard SemiBold"/>
              </a:rPr>
              <a:t>브랜드</a:t>
            </a:r>
            <a:r>
              <a:rPr lang="en-US" sz="5500" b="0" i="0" u="none" strike="noStrike">
                <a:solidFill>
                  <a:srgbClr val="FFFFFF"/>
                </a:solidFill>
                <a:latin typeface="Pretendard SemiBold"/>
              </a:rPr>
              <a:t> </a:t>
            </a:r>
            <a:r>
              <a:rPr lang="ko-KR" sz="5500" b="0" i="0" u="none" strike="noStrike">
                <a:solidFill>
                  <a:srgbClr val="FFFFFF"/>
                </a:solidFill>
                <a:ea typeface="Pretendard SemiBold"/>
              </a:rPr>
              <a:t>판매</a:t>
            </a:r>
            <a:r>
              <a:rPr lang="en-US" sz="5500" b="0" i="0" u="none" strike="noStrike">
                <a:solidFill>
                  <a:srgbClr val="FFFFFF"/>
                </a:solidFill>
                <a:latin typeface="Pretendard SemiBold"/>
              </a:rPr>
              <a:t> </a:t>
            </a:r>
            <a:r>
              <a:rPr lang="ko-KR" sz="5500" b="0" i="0" u="none" strike="noStrike">
                <a:solidFill>
                  <a:srgbClr val="FFFFFF"/>
                </a:solidFill>
                <a:ea typeface="Pretendard SemiBold"/>
              </a:rPr>
              <a:t>상품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436600" y="368300"/>
            <a:ext cx="46990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16199"/>
              </a:lnSpc>
            </a:pP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자사</a:t>
            </a:r>
            <a:r>
              <a:rPr lang="en-US" sz="1800" b="0" i="0" u="none" strike="noStrike" spc="200">
                <a:solidFill>
                  <a:srgbClr val="F4F4EC"/>
                </a:solidFill>
                <a:latin typeface="Pretendard Light"/>
              </a:rPr>
              <a:t> </a:t>
            </a: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분석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752600" y="5384800"/>
            <a:ext cx="44958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ko-KR" sz="2000" b="0" i="0" u="none" strike="noStrike">
                <a:solidFill>
                  <a:srgbClr val="8D776A"/>
                </a:solidFill>
                <a:ea typeface="Pretendard SemiBold"/>
              </a:rPr>
              <a:t>호두강정</a:t>
            </a:r>
            <a:r>
              <a:rPr lang="en-US" sz="20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2000" b="0" i="0" u="none" strike="noStrike">
                <a:solidFill>
                  <a:srgbClr val="8D776A"/>
                </a:solidFill>
                <a:ea typeface="Pretendard SemiBold"/>
              </a:rPr>
              <a:t>호두정과</a:t>
            </a:r>
            <a:r>
              <a:rPr lang="en-US" sz="20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2000" b="0" i="0" u="none" strike="noStrike">
                <a:solidFill>
                  <a:srgbClr val="8D776A"/>
                </a:solidFill>
                <a:ea typeface="Pretendard SemiBold"/>
              </a:rPr>
              <a:t>답례품</a:t>
            </a:r>
            <a:r>
              <a:rPr lang="en-US" sz="2000" b="0" i="0" u="none" strike="noStrike">
                <a:solidFill>
                  <a:srgbClr val="8D776A"/>
                </a:solidFill>
                <a:latin typeface="Pretendard SemiBold"/>
              </a:rPr>
              <a:t> 80g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760200" y="5384800"/>
            <a:ext cx="48768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ko-KR" sz="2000" b="0" i="0" u="none" strike="noStrike">
                <a:solidFill>
                  <a:srgbClr val="8D776A"/>
                </a:solidFill>
                <a:ea typeface="Pretendard SemiBold"/>
              </a:rPr>
              <a:t>호두강정</a:t>
            </a:r>
            <a:r>
              <a:rPr lang="en-US" sz="20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2000" b="0" i="0" u="none" strike="noStrike">
                <a:solidFill>
                  <a:srgbClr val="8D776A"/>
                </a:solidFill>
                <a:ea typeface="Pretendard SemiBold"/>
              </a:rPr>
              <a:t>호두정과</a:t>
            </a:r>
            <a:r>
              <a:rPr lang="en-US" sz="20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2000" b="0" i="0" u="none" strike="noStrike">
                <a:solidFill>
                  <a:srgbClr val="8D776A"/>
                </a:solidFill>
                <a:ea typeface="Pretendard SemiBold"/>
              </a:rPr>
              <a:t>답례품</a:t>
            </a:r>
            <a:r>
              <a:rPr lang="en-US" sz="2000" b="0" i="0" u="none" strike="noStrike">
                <a:solidFill>
                  <a:srgbClr val="8D776A"/>
                </a:solidFill>
                <a:latin typeface="Pretendard SemiBold"/>
              </a:rPr>
              <a:t> 2</a:t>
            </a:r>
            <a:r>
              <a:rPr lang="ko-KR" sz="2000" b="0" i="0" u="none" strike="noStrike">
                <a:solidFill>
                  <a:srgbClr val="8D776A"/>
                </a:solidFill>
                <a:ea typeface="Pretendard SemiBold"/>
              </a:rPr>
              <a:t>구</a:t>
            </a:r>
            <a:r>
              <a:rPr lang="en-US" sz="2000" b="0" i="0" u="none" strike="noStrike">
                <a:solidFill>
                  <a:srgbClr val="8D776A"/>
                </a:solidFill>
                <a:latin typeface="Pretendard SemiBold"/>
              </a:rPr>
              <a:t>/3</a:t>
            </a:r>
            <a:r>
              <a:rPr lang="ko-KR" sz="2000" b="0" i="0" u="none" strike="noStrike">
                <a:solidFill>
                  <a:srgbClr val="8D776A"/>
                </a:solidFill>
                <a:ea typeface="Pretendard SemiBold"/>
              </a:rPr>
              <a:t>구</a:t>
            </a:r>
            <a:r>
              <a:rPr lang="en-US" sz="2000" b="0" i="0" u="none" strike="noStrike">
                <a:solidFill>
                  <a:srgbClr val="8D776A"/>
                </a:solidFill>
                <a:latin typeface="Pretendard SemiBold"/>
              </a:rPr>
              <a:t>/4</a:t>
            </a:r>
            <a:r>
              <a:rPr lang="ko-KR" sz="2000" b="0" i="0" u="none" strike="noStrike">
                <a:solidFill>
                  <a:srgbClr val="8D776A"/>
                </a:solidFill>
                <a:ea typeface="Pretendard SemiBold"/>
              </a:rPr>
              <a:t>구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048500" y="5384800"/>
            <a:ext cx="44958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ko-KR" sz="2000" b="0" i="0" u="none" strike="noStrike">
                <a:solidFill>
                  <a:srgbClr val="8D776A"/>
                </a:solidFill>
                <a:ea typeface="Pretendard SemiBold"/>
              </a:rPr>
              <a:t>실속형</a:t>
            </a:r>
            <a:r>
              <a:rPr lang="en-US" sz="2000" b="0" i="0" u="none" strike="noStrike">
                <a:solidFill>
                  <a:srgbClr val="8D776A"/>
                </a:solidFill>
                <a:latin typeface="Pretendard SemiBold"/>
              </a:rPr>
              <a:t> 3</a:t>
            </a:r>
            <a:r>
              <a:rPr lang="ko-KR" sz="2000" b="0" i="0" u="none" strike="noStrike">
                <a:solidFill>
                  <a:srgbClr val="8D776A"/>
                </a:solidFill>
                <a:ea typeface="Pretendard SemiBold"/>
              </a:rPr>
              <a:t>팩</a:t>
            </a:r>
            <a:r>
              <a:rPr lang="en-US" sz="2000" b="0" i="0" u="none" strike="noStrike">
                <a:solidFill>
                  <a:srgbClr val="8D776A"/>
                </a:solidFill>
                <a:latin typeface="Pretendard SemiBold"/>
              </a:rPr>
              <a:t> 120g x 3 </a:t>
            </a:r>
            <a:r>
              <a:rPr lang="ko-KR" sz="2000" b="0" i="0" u="none" strike="noStrike">
                <a:solidFill>
                  <a:srgbClr val="8D776A"/>
                </a:solidFill>
                <a:ea typeface="Pretendard SemiBold"/>
              </a:rPr>
              <a:t>호두정과</a:t>
            </a:r>
            <a:r>
              <a:rPr lang="en-US" sz="2000" b="0" i="0" u="none" strike="noStrike">
                <a:solidFill>
                  <a:srgbClr val="8D776A"/>
                </a:solidFill>
                <a:latin typeface="Pretendard SemiBold"/>
              </a:rPr>
              <a:t> 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6" name="Picture 1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69200" y="6896100"/>
            <a:ext cx="3213100" cy="2413000"/>
          </a:xfrm>
          <a:prstGeom prst="rect">
            <a:avLst/>
          </a:prstGeom>
          <a:effectLst>
            <a:outerShdw blurRad="58290" dist="55829" dir="2700000">
              <a:srgbClr val="000000">
                <a:alpha val="50000"/>
              </a:srgbClr>
            </a:outerShdw>
          </a:effectLst>
        </p:spPr>
      </p:pic>
      <p:sp>
        <p:nvSpPr>
          <p:cNvPr id="17" name="TextBox 17"/>
          <p:cNvSpPr txBox="1"/>
          <p:nvPr/>
        </p:nvSpPr>
        <p:spPr>
          <a:xfrm>
            <a:off x="6604000" y="9372600"/>
            <a:ext cx="48768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ko-KR" sz="2000" b="0" i="0" u="none" strike="noStrike">
                <a:solidFill>
                  <a:srgbClr val="8D776A"/>
                </a:solidFill>
                <a:ea typeface="Pretendard SemiBold"/>
              </a:rPr>
              <a:t>호두강정</a:t>
            </a:r>
            <a:r>
              <a:rPr lang="en-US" sz="20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2000" b="0" i="0" u="none" strike="noStrike">
                <a:solidFill>
                  <a:srgbClr val="8D776A"/>
                </a:solidFill>
                <a:ea typeface="Pretendard SemiBold"/>
              </a:rPr>
              <a:t>낱개포장</a:t>
            </a:r>
            <a:r>
              <a:rPr lang="en-US" sz="2000" b="0" i="0" u="none" strike="noStrike">
                <a:solidFill>
                  <a:srgbClr val="8D776A"/>
                </a:solidFill>
                <a:latin typeface="Pretendard SemiBold"/>
              </a:rPr>
              <a:t> 12</a:t>
            </a:r>
            <a:r>
              <a:rPr lang="ko-KR" sz="2000" b="0" i="0" u="none" strike="noStrike">
                <a:solidFill>
                  <a:srgbClr val="8D776A"/>
                </a:solidFill>
                <a:ea typeface="Pretendard SemiBold"/>
              </a:rPr>
              <a:t>개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819400" y="2032000"/>
            <a:ext cx="3302000" cy="876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5000" b="0" i="0" u="none" strike="noStrike">
                <a:solidFill>
                  <a:srgbClr val="DB0000"/>
                </a:solidFill>
                <a:ea typeface="Hakgyoansim Gaeulsopung B"/>
              </a:rPr>
              <a:t>주력</a:t>
            </a:r>
            <a:r>
              <a:rPr lang="en-US" sz="5000" b="0" i="0" u="none" strike="noStrike">
                <a:solidFill>
                  <a:srgbClr val="DB0000"/>
                </a:solidFill>
                <a:latin typeface="Hakgyoansim Gaeulsopung B"/>
              </a:rPr>
              <a:t> </a:t>
            </a:r>
            <a:r>
              <a:rPr lang="ko-KR" sz="5000" b="0" i="0" u="none" strike="noStrike">
                <a:solidFill>
                  <a:srgbClr val="DB0000"/>
                </a:solidFill>
                <a:ea typeface="Hakgyoansim Gaeulsopung B"/>
              </a:rPr>
              <a:t>상품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0287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" y="927100"/>
            <a:ext cx="16383000" cy="8407400"/>
          </a:xfrm>
          <a:prstGeom prst="rect">
            <a:avLst/>
          </a:prstGeom>
          <a:effectLst>
            <a:outerShdw blurRad="702899" dist="323117" dir="2700000">
              <a:srgbClr val="000000">
                <a:alpha val="15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56000" y="2082800"/>
            <a:ext cx="850900" cy="1333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0000" y="7480300"/>
            <a:ext cx="850900" cy="13335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68400" y="5448300"/>
            <a:ext cx="15913100" cy="139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-5400000">
            <a:off x="5613400" y="5422900"/>
            <a:ext cx="6769100" cy="1397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09800" y="3276600"/>
            <a:ext cx="127000" cy="1270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09800" y="3784600"/>
            <a:ext cx="127000" cy="1270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09800" y="4292600"/>
            <a:ext cx="127000" cy="1270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09800" y="4826000"/>
            <a:ext cx="127000" cy="1270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39400" y="3213100"/>
            <a:ext cx="127000" cy="1270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39400" y="3721100"/>
            <a:ext cx="127000" cy="1270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39400" y="4254500"/>
            <a:ext cx="127000" cy="1270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39400" y="4762500"/>
            <a:ext cx="127000" cy="1270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71700" y="7099300"/>
            <a:ext cx="127000" cy="1270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71700" y="7632700"/>
            <a:ext cx="127000" cy="127000"/>
          </a:xfrm>
          <a:prstGeom prst="rect">
            <a:avLst/>
          </a:prstGeom>
        </p:spPr>
      </p:pic>
      <p:grpSp>
        <p:nvGrpSpPr>
          <p:cNvPr id="18" name="Group 18"/>
          <p:cNvGrpSpPr/>
          <p:nvPr/>
        </p:nvGrpSpPr>
        <p:grpSpPr>
          <a:xfrm>
            <a:off x="2147483647" y="2147483647"/>
            <a:ext cx="1682635700" cy="2147483647"/>
            <a:chOff x="0" y="0"/>
            <a:chExt cx="0" cy="0"/>
          </a:xfrm>
        </p:grpSpPr>
      </p:grpSp>
      <p:pic>
        <p:nvPicPr>
          <p:cNvPr id="19" name="Picture 1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37800" y="6959600"/>
            <a:ext cx="127000" cy="1270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37800" y="7505700"/>
            <a:ext cx="127000" cy="1270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101600"/>
            <a:ext cx="18605500" cy="17653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0"/>
            <a:ext cx="18376900" cy="1143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425700" y="3987800"/>
            <a:ext cx="3987800" cy="1397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617200" y="5003800"/>
            <a:ext cx="3187700" cy="1143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528300" y="3937000"/>
            <a:ext cx="3187700" cy="1143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604500" y="4470400"/>
            <a:ext cx="4648200" cy="114300"/>
          </a:xfrm>
          <a:prstGeom prst="rect">
            <a:avLst/>
          </a:prstGeom>
        </p:spPr>
      </p:pic>
      <p:sp>
        <p:nvSpPr>
          <p:cNvPr id="27" name="TextBox 27"/>
          <p:cNvSpPr txBox="1"/>
          <p:nvPr/>
        </p:nvSpPr>
        <p:spPr>
          <a:xfrm>
            <a:off x="5778500" y="457200"/>
            <a:ext cx="6642100" cy="977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5500" b="0" i="0" u="none" strike="noStrike">
                <a:solidFill>
                  <a:srgbClr val="FFFFFF"/>
                </a:solidFill>
                <a:latin typeface="Pretendard SemiBold"/>
              </a:rPr>
              <a:t>SWOT </a:t>
            </a:r>
            <a:r>
              <a:rPr lang="ko-KR" sz="5500" b="0" i="0" u="none" strike="noStrike">
                <a:solidFill>
                  <a:srgbClr val="FFFFFF"/>
                </a:solidFill>
                <a:ea typeface="Pretendard SemiBold"/>
              </a:rPr>
              <a:t>분석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320800" y="2082800"/>
            <a:ext cx="2019300" cy="1066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6000" b="0" i="0" u="none" strike="noStrike" spc="-100">
                <a:solidFill>
                  <a:srgbClr val="8D776A"/>
                </a:solidFill>
                <a:latin typeface="Pretendard SemiBold"/>
              </a:rPr>
              <a:t>S</a:t>
            </a:r>
            <a:r>
              <a:rPr lang="en-US" sz="3000" b="0" i="0" u="none" strike="noStrike">
                <a:solidFill>
                  <a:srgbClr val="8D776A"/>
                </a:solidFill>
                <a:latin typeface="Pretendard SemiBold"/>
              </a:rPr>
              <a:t>trength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194800" y="2095500"/>
            <a:ext cx="2489200" cy="1066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6000" b="0" i="0" u="none" strike="noStrike" spc="-100">
                <a:solidFill>
                  <a:srgbClr val="8D776A"/>
                </a:solidFill>
                <a:latin typeface="Pretendard SemiBold"/>
              </a:rPr>
              <a:t>W</a:t>
            </a:r>
            <a:r>
              <a:rPr lang="en-US" sz="3000" b="0" i="0" u="none" strike="noStrike">
                <a:solidFill>
                  <a:srgbClr val="8D776A"/>
                </a:solidFill>
                <a:latin typeface="Pretendard SemiBold"/>
              </a:rPr>
              <a:t>eekness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308100" y="5626100"/>
            <a:ext cx="3098800" cy="1143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6400" b="0" i="0" u="none" strike="noStrike" spc="-100">
                <a:solidFill>
                  <a:srgbClr val="8D776A"/>
                </a:solidFill>
                <a:latin typeface="Pretendard SemiBold"/>
              </a:rPr>
              <a:t>O</a:t>
            </a:r>
            <a:r>
              <a:rPr lang="en-US" sz="3200" b="0" i="0" u="none" strike="noStrike">
                <a:solidFill>
                  <a:srgbClr val="8D776A"/>
                </a:solidFill>
                <a:latin typeface="Pretendard SemiBold"/>
              </a:rPr>
              <a:t>ppertunity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194800" y="5638800"/>
            <a:ext cx="1727200" cy="1143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6400" b="0" i="0" u="none" strike="noStrike" spc="-100">
                <a:solidFill>
                  <a:srgbClr val="8D776A"/>
                </a:solidFill>
                <a:latin typeface="Pretendard SemiBold"/>
              </a:rPr>
              <a:t>T</a:t>
            </a:r>
            <a:r>
              <a:rPr lang="en-US" sz="3200" b="0" i="0" u="none" strike="noStrike">
                <a:solidFill>
                  <a:srgbClr val="8D776A"/>
                </a:solidFill>
                <a:latin typeface="Pretendard SemiBold"/>
              </a:rPr>
              <a:t>hreat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2463800" y="3111500"/>
            <a:ext cx="5664200" cy="1930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59359"/>
              </a:lnSpc>
            </a:pP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리뷰</a:t>
            </a: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,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평점이</a:t>
            </a: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좋음</a:t>
            </a:r>
          </a:p>
          <a:p>
            <a:pPr lvl="0" algn="l">
              <a:lnSpc>
                <a:spcPct val="159359"/>
              </a:lnSpc>
            </a:pP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수제</a:t>
            </a: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제작으로</a:t>
            </a: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제품의</a:t>
            </a: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퀄리티가</a:t>
            </a: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높음</a:t>
            </a:r>
          </a:p>
          <a:p>
            <a:pPr lvl="0" algn="l">
              <a:lnSpc>
                <a:spcPct val="159359"/>
              </a:lnSpc>
            </a:pP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고객</a:t>
            </a: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응대</a:t>
            </a: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속도</a:t>
            </a: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빠름</a:t>
            </a:r>
          </a:p>
          <a:p>
            <a:pPr lvl="0" algn="l">
              <a:lnSpc>
                <a:spcPct val="159359"/>
              </a:lnSpc>
            </a:pP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주문</a:t>
            </a: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후</a:t>
            </a: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신속한</a:t>
            </a: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배송처리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0668000" y="3035300"/>
            <a:ext cx="5829300" cy="1930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59359"/>
              </a:lnSpc>
            </a:pP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제품</a:t>
            </a: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,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맛</a:t>
            </a: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다양성</a:t>
            </a: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부족</a:t>
            </a:r>
          </a:p>
          <a:p>
            <a:pPr lvl="0" algn="l">
              <a:lnSpc>
                <a:spcPct val="159359"/>
              </a:lnSpc>
            </a:pP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상세페이지의</a:t>
            </a: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디자인</a:t>
            </a: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부족</a:t>
            </a:r>
          </a:p>
          <a:p>
            <a:pPr lvl="0" algn="l">
              <a:lnSpc>
                <a:spcPct val="159359"/>
              </a:lnSpc>
            </a:pP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광고를</a:t>
            </a: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통한</a:t>
            </a: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유입</a:t>
            </a: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대비</a:t>
            </a: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구매</a:t>
            </a: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전환율이</a:t>
            </a: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낮음</a:t>
            </a:r>
          </a:p>
          <a:p>
            <a:pPr lvl="0" algn="l">
              <a:lnSpc>
                <a:spcPct val="159359"/>
              </a:lnSpc>
            </a:pP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SNS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채널의</a:t>
            </a: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홍보</a:t>
            </a: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부족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2425700" y="6946900"/>
            <a:ext cx="6642100" cy="1422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59359"/>
              </a:lnSpc>
            </a:pP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건강</a:t>
            </a: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식품의</a:t>
            </a: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유행</a:t>
            </a:r>
          </a:p>
          <a:p>
            <a:pPr lvl="0" algn="l">
              <a:lnSpc>
                <a:spcPct val="159359"/>
              </a:lnSpc>
            </a:pP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호두에</a:t>
            </a: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다양한</a:t>
            </a: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맛을</a:t>
            </a: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추가하여</a:t>
            </a: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소비자의</a:t>
            </a: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폭을</a:t>
            </a: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확대할</a:t>
            </a: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수</a:t>
            </a: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있음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0553700" y="6807200"/>
            <a:ext cx="5664200" cy="889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59359"/>
              </a:lnSpc>
            </a:pP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답례품의</a:t>
            </a: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시장에서</a:t>
            </a: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와인의</a:t>
            </a: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비중이</a:t>
            </a: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높아지는중</a:t>
            </a:r>
          </a:p>
          <a:p>
            <a:pPr lvl="0" algn="l">
              <a:lnSpc>
                <a:spcPct val="159359"/>
              </a:lnSpc>
            </a:pP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호두를</a:t>
            </a: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싫어하거나</a:t>
            </a: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알러지가</a:t>
            </a: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있는</a:t>
            </a: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사람들에게</a:t>
            </a: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외면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3436600" y="368300"/>
            <a:ext cx="46990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16199"/>
              </a:lnSpc>
            </a:pP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자사분석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0287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" y="952500"/>
            <a:ext cx="16383000" cy="8407400"/>
          </a:xfrm>
          <a:prstGeom prst="rect">
            <a:avLst/>
          </a:prstGeom>
          <a:effectLst>
            <a:outerShdw blurRad="702899" dist="323117" dir="2700000">
              <a:srgbClr val="000000">
                <a:alpha val="15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203200" y="12700"/>
            <a:ext cx="18605500" cy="18796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8376900" cy="1143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60500" y="2641600"/>
            <a:ext cx="8064500" cy="61087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7315200" y="444500"/>
            <a:ext cx="3657600" cy="977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5500" b="0" i="0" u="none" strike="noStrike">
                <a:solidFill>
                  <a:srgbClr val="FFFFFF"/>
                </a:solidFill>
                <a:latin typeface="Pretendard SemiBold"/>
              </a:rPr>
              <a:t>PERSONA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6725900" y="215900"/>
            <a:ext cx="12319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16199"/>
              </a:lnSpc>
            </a:pPr>
            <a:r>
              <a:rPr lang="en-US" sz="1800" b="0" i="0" u="none" strike="noStrike" spc="200">
                <a:solidFill>
                  <a:srgbClr val="F4F4EC"/>
                </a:solidFill>
                <a:latin typeface="Pretendard Light"/>
              </a:rPr>
              <a:t>TARGET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44100" y="4635500"/>
            <a:ext cx="7340600" cy="1803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3600" b="0" i="0" u="none" strike="noStrike">
                <a:solidFill>
                  <a:srgbClr val="000000"/>
                </a:solidFill>
                <a:ea typeface="Pretendard Bold"/>
              </a:rPr>
              <a:t>유입수</a:t>
            </a:r>
            <a:r>
              <a:rPr lang="en-US" sz="36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600" b="0" i="0" u="none" strike="noStrike">
                <a:solidFill>
                  <a:srgbClr val="000000"/>
                </a:solidFill>
                <a:ea typeface="Pretendard Bold"/>
              </a:rPr>
              <a:t>및</a:t>
            </a:r>
            <a:r>
              <a:rPr lang="en-US" sz="36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600" b="0" i="0" u="none" strike="noStrike">
                <a:solidFill>
                  <a:srgbClr val="000000"/>
                </a:solidFill>
                <a:ea typeface="Pretendard Bold"/>
              </a:rPr>
              <a:t>결제수</a:t>
            </a:r>
            <a:r>
              <a:rPr lang="en-US" sz="36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600" b="0" i="0" u="none" strike="noStrike">
                <a:solidFill>
                  <a:srgbClr val="000000"/>
                </a:solidFill>
                <a:ea typeface="Pretendard Bold"/>
              </a:rPr>
              <a:t>대비</a:t>
            </a:r>
            <a:r>
              <a:rPr lang="en-US" sz="3000" b="0" i="0" u="none" strike="noStrike">
                <a:solidFill>
                  <a:srgbClr val="000000"/>
                </a:solidFill>
                <a:latin typeface="Pretendard Bold"/>
              </a:rPr>
              <a:t> </a:t>
            </a:r>
          </a:p>
          <a:p>
            <a:pPr lvl="0" algn="l">
              <a:lnSpc>
                <a:spcPct val="99600"/>
              </a:lnSpc>
            </a:pPr>
            <a:br>
              <a:rPr/>
            </a:br>
            <a:r>
              <a:rPr lang="ko-KR" sz="4700" b="0" i="0" u="none" strike="noStrike">
                <a:solidFill>
                  <a:srgbClr val="000000"/>
                </a:solidFill>
                <a:ea typeface="Pretendard Bold"/>
              </a:rPr>
              <a:t>주</a:t>
            </a:r>
            <a:r>
              <a:rPr lang="en-US" sz="47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4700" b="0" i="0" u="none" strike="noStrike">
                <a:solidFill>
                  <a:srgbClr val="000000"/>
                </a:solidFill>
                <a:ea typeface="Pretendard Bold"/>
              </a:rPr>
              <a:t>구매자</a:t>
            </a:r>
            <a:r>
              <a:rPr lang="en-US" sz="4700" b="0" i="0" u="none" strike="noStrike">
                <a:solidFill>
                  <a:srgbClr val="000000"/>
                </a:solidFill>
                <a:latin typeface="Pretendard Bold"/>
              </a:rPr>
              <a:t> 31~35</a:t>
            </a:r>
            <a:r>
              <a:rPr lang="ko-KR" sz="4700" b="0" i="0" u="none" strike="noStrike">
                <a:solidFill>
                  <a:srgbClr val="000000"/>
                </a:solidFill>
                <a:ea typeface="Pretendard Bold"/>
              </a:rPr>
              <a:t>세</a:t>
            </a:r>
            <a:r>
              <a:rPr lang="en-US" sz="47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4700" b="0" i="0" u="none" strike="noStrike">
                <a:solidFill>
                  <a:srgbClr val="000000"/>
                </a:solidFill>
                <a:ea typeface="Pretendard Bold"/>
              </a:rPr>
              <a:t>여성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0287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" y="952500"/>
            <a:ext cx="16383000" cy="8407400"/>
          </a:xfrm>
          <a:prstGeom prst="rect">
            <a:avLst/>
          </a:prstGeom>
          <a:effectLst>
            <a:outerShdw blurRad="702899" dist="323117" dir="2700000">
              <a:srgbClr val="000000">
                <a:alpha val="15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5500" y="2362200"/>
            <a:ext cx="4787900" cy="61722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203200" y="12700"/>
            <a:ext cx="18605500" cy="1879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8376900" cy="1143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14500" y="4203700"/>
            <a:ext cx="2806700" cy="800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78000" y="7200900"/>
            <a:ext cx="2692400" cy="800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10700" y="3937000"/>
            <a:ext cx="7607300" cy="800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563100" y="6908800"/>
            <a:ext cx="4546600" cy="8636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836400" y="3962400"/>
            <a:ext cx="2222500" cy="1016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734800" y="4406900"/>
            <a:ext cx="3632200" cy="1016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1955800" y="5905500"/>
            <a:ext cx="1803400" cy="1727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06240"/>
              </a:lnSpc>
            </a:pPr>
            <a:r>
              <a:rPr lang="en-US" sz="2800" b="0" i="0" u="none" strike="noStrike">
                <a:solidFill>
                  <a:srgbClr val="8D776A"/>
                </a:solidFill>
                <a:latin typeface="Pretendard SemiBold"/>
              </a:rPr>
              <a:t>Profile</a:t>
            </a:r>
          </a:p>
          <a:p>
            <a:pPr lvl="0" algn="l">
              <a:lnSpc>
                <a:spcPct val="106240"/>
              </a:lnSpc>
            </a:pPr>
            <a:r>
              <a:rPr lang="en-US" sz="2800" b="0" i="0" u="none" strike="noStrike">
                <a:solidFill>
                  <a:srgbClr val="8D776A"/>
                </a:solidFill>
                <a:latin typeface="Pretendard SemiBold"/>
              </a:rPr>
              <a:t>   </a:t>
            </a:r>
            <a:r>
              <a:rPr lang="ko-KR" sz="2400" b="0" i="0" u="none" strike="noStrike">
                <a:solidFill>
                  <a:srgbClr val="8D776A"/>
                </a:solidFill>
                <a:ea typeface="Pretendard SemiBold"/>
              </a:rPr>
              <a:t>이름</a:t>
            </a:r>
            <a:r>
              <a:rPr lang="en-US" sz="2400" b="0" i="0" u="none" strike="noStrike">
                <a:solidFill>
                  <a:srgbClr val="8D776A"/>
                </a:solidFill>
                <a:latin typeface="Pretendard SemiBold"/>
              </a:rPr>
              <a:t>  </a:t>
            </a:r>
            <a:r>
              <a:rPr lang="ko-KR" sz="2400" b="0" i="0" u="none" strike="noStrike">
                <a:solidFill>
                  <a:srgbClr val="8D776A"/>
                </a:solidFill>
                <a:ea typeface="Pretendard SemiBold"/>
              </a:rPr>
              <a:t>황보정</a:t>
            </a:r>
          </a:p>
          <a:p>
            <a:pPr lvl="0" algn="l">
              <a:lnSpc>
                <a:spcPct val="106240"/>
              </a:lnSpc>
            </a:pPr>
            <a:r>
              <a:rPr lang="en-US" sz="2400" b="0" i="0" u="none" strike="noStrike">
                <a:solidFill>
                  <a:srgbClr val="8D776A"/>
                </a:solidFill>
                <a:latin typeface="Pretendard SemiBold"/>
              </a:rPr>
              <a:t>    </a:t>
            </a:r>
            <a:r>
              <a:rPr lang="ko-KR" sz="2400" b="0" i="0" u="none" strike="noStrike">
                <a:solidFill>
                  <a:srgbClr val="8D776A"/>
                </a:solidFill>
                <a:ea typeface="Pretendard SemiBold"/>
              </a:rPr>
              <a:t>나이</a:t>
            </a:r>
            <a:r>
              <a:rPr lang="en-US" sz="2400" b="0" i="0" u="none" strike="noStrike">
                <a:solidFill>
                  <a:srgbClr val="8D776A"/>
                </a:solidFill>
                <a:latin typeface="Pretendard SemiBold"/>
              </a:rPr>
              <a:t>  31</a:t>
            </a:r>
            <a:r>
              <a:rPr lang="ko-KR" sz="2400" b="0" i="0" u="none" strike="noStrike">
                <a:solidFill>
                  <a:srgbClr val="8D776A"/>
                </a:solidFill>
                <a:ea typeface="Pretendard SemiBold"/>
              </a:rPr>
              <a:t>세</a:t>
            </a:r>
          </a:p>
          <a:p>
            <a:pPr lvl="0" algn="l">
              <a:lnSpc>
                <a:spcPct val="106240"/>
              </a:lnSpc>
            </a:pPr>
            <a:r>
              <a:rPr lang="en-US" sz="2400" b="0" i="0" u="none" strike="noStrike">
                <a:solidFill>
                  <a:srgbClr val="8D776A"/>
                </a:solidFill>
                <a:latin typeface="Pretendard SemiBold"/>
              </a:rPr>
              <a:t>    </a:t>
            </a:r>
            <a:r>
              <a:rPr lang="ko-KR" sz="2400" b="0" i="0" u="none" strike="noStrike">
                <a:solidFill>
                  <a:srgbClr val="8D776A"/>
                </a:solidFill>
                <a:ea typeface="Pretendard SemiBold"/>
              </a:rPr>
              <a:t>직업</a:t>
            </a:r>
            <a:r>
              <a:rPr lang="en-US" sz="2400" b="0" i="0" u="none" strike="noStrike">
                <a:solidFill>
                  <a:srgbClr val="8D776A"/>
                </a:solidFill>
                <a:latin typeface="Pretendard SemiBold"/>
              </a:rPr>
              <a:t>  </a:t>
            </a:r>
            <a:r>
              <a:rPr lang="ko-KR" sz="2400" b="0" i="0" u="none" strike="noStrike">
                <a:solidFill>
                  <a:srgbClr val="8D776A"/>
                </a:solidFill>
                <a:ea typeface="Pretendard SemiBold"/>
              </a:rPr>
              <a:t>배우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728200" y="3098800"/>
            <a:ext cx="7277100" cy="1308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07070"/>
              </a:lnSpc>
            </a:pPr>
            <a:r>
              <a:rPr lang="en-US" sz="3000" b="0" i="0" u="none" strike="noStrike">
                <a:solidFill>
                  <a:srgbClr val="8D776A"/>
                </a:solidFill>
                <a:latin typeface="Pretendard SemiBold"/>
              </a:rPr>
              <a:t>NEEDS</a:t>
            </a:r>
          </a:p>
          <a:p>
            <a:pPr lvl="0" algn="l">
              <a:lnSpc>
                <a:spcPct val="107070"/>
              </a:lnSpc>
            </a:pPr>
            <a:r>
              <a:rPr lang="en-US" sz="2400" b="0" i="0" u="none" strike="noStrike">
                <a:solidFill>
                  <a:srgbClr val="8D776A"/>
                </a:solidFill>
                <a:latin typeface="Pretendard SemiBold"/>
              </a:rPr>
              <a:t>    </a:t>
            </a:r>
            <a:r>
              <a:rPr lang="ko-KR" sz="2400" b="0" i="0" u="none" strike="noStrike">
                <a:solidFill>
                  <a:srgbClr val="8D776A"/>
                </a:solidFill>
                <a:ea typeface="Pretendard SemiBold"/>
              </a:rPr>
              <a:t>고급스러우면서</a:t>
            </a:r>
            <a:r>
              <a:rPr lang="en-US" sz="24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2400" b="0" i="0" u="none" strike="noStrike">
                <a:solidFill>
                  <a:srgbClr val="8D776A"/>
                </a:solidFill>
                <a:ea typeface="Pretendard SemiBold"/>
              </a:rPr>
              <a:t>가격이</a:t>
            </a:r>
            <a:r>
              <a:rPr lang="en-US" sz="24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2400" b="0" i="0" u="none" strike="noStrike">
                <a:solidFill>
                  <a:srgbClr val="8D776A"/>
                </a:solidFill>
                <a:ea typeface="Pretendard SemiBold"/>
              </a:rPr>
              <a:t>부담되지</a:t>
            </a:r>
            <a:r>
              <a:rPr lang="en-US" sz="24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2400" b="0" i="0" u="none" strike="noStrike">
                <a:solidFill>
                  <a:srgbClr val="8D776A"/>
                </a:solidFill>
                <a:ea typeface="Pretendard SemiBold"/>
              </a:rPr>
              <a:t>않는</a:t>
            </a:r>
            <a:r>
              <a:rPr lang="en-US" sz="24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2400" b="0" i="0" u="none" strike="noStrike">
                <a:solidFill>
                  <a:srgbClr val="8D776A"/>
                </a:solidFill>
                <a:ea typeface="Pretendard SemiBold"/>
              </a:rPr>
              <a:t>답례품을</a:t>
            </a:r>
            <a:r>
              <a:rPr lang="en-US" sz="24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2400" b="0" i="0" u="none" strike="noStrike">
                <a:solidFill>
                  <a:srgbClr val="8D776A"/>
                </a:solidFill>
                <a:ea typeface="Pretendard SemiBold"/>
              </a:rPr>
              <a:t>원함</a:t>
            </a:r>
          </a:p>
          <a:p>
            <a:pPr lvl="0" algn="l">
              <a:lnSpc>
                <a:spcPct val="107070"/>
              </a:lnSpc>
            </a:pPr>
            <a:r>
              <a:rPr lang="en-US" sz="2400" b="0" i="0" u="none" strike="noStrike">
                <a:solidFill>
                  <a:srgbClr val="8D776A"/>
                </a:solidFill>
                <a:latin typeface="Pretendard SemiBold"/>
              </a:rPr>
              <a:t>    </a:t>
            </a:r>
            <a:r>
              <a:rPr lang="ko-KR" sz="2400" b="0" i="0" u="none" strike="noStrike">
                <a:solidFill>
                  <a:srgbClr val="8D776A"/>
                </a:solidFill>
                <a:ea typeface="Pretendard SemiBold"/>
              </a:rPr>
              <a:t>결혼식에</a:t>
            </a:r>
            <a:r>
              <a:rPr lang="en-US" sz="24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2400" b="0" i="0" u="none" strike="noStrike">
                <a:solidFill>
                  <a:srgbClr val="8D776A"/>
                </a:solidFill>
                <a:ea typeface="Pretendard SemiBold"/>
              </a:rPr>
              <a:t>오신</a:t>
            </a:r>
            <a:r>
              <a:rPr lang="en-US" sz="24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2400" b="0" i="0" u="none" strike="noStrike">
                <a:solidFill>
                  <a:srgbClr val="8D776A"/>
                </a:solidFill>
                <a:ea typeface="Pretendard SemiBold"/>
              </a:rPr>
              <a:t>어르신과</a:t>
            </a:r>
            <a:r>
              <a:rPr lang="en-US" sz="24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2400" b="0" i="0" u="none" strike="noStrike">
                <a:solidFill>
                  <a:srgbClr val="8D776A"/>
                </a:solidFill>
                <a:ea typeface="Pretendard SemiBold"/>
              </a:rPr>
              <a:t>동료를</a:t>
            </a:r>
            <a:r>
              <a:rPr lang="en-US" sz="24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2400" b="0" i="0" u="none" strike="noStrike">
                <a:solidFill>
                  <a:srgbClr val="8D776A"/>
                </a:solidFill>
                <a:ea typeface="Pretendard SemiBold"/>
              </a:rPr>
              <a:t>고려한</a:t>
            </a:r>
            <a:r>
              <a:rPr lang="en-US" sz="24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2400" b="0" i="0" u="none" strike="noStrike">
                <a:solidFill>
                  <a:srgbClr val="8D776A"/>
                </a:solidFill>
                <a:ea typeface="Pretendard SemiBold"/>
              </a:rPr>
              <a:t>답례품을</a:t>
            </a:r>
            <a:r>
              <a:rPr lang="en-US" sz="24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2400" b="0" i="0" u="none" strike="noStrike">
                <a:solidFill>
                  <a:srgbClr val="8D776A"/>
                </a:solidFill>
                <a:ea typeface="Pretendard SemiBold"/>
              </a:rPr>
              <a:t>찾고</a:t>
            </a:r>
            <a:r>
              <a:rPr lang="en-US" sz="24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2400" b="0" i="0" u="none" strike="noStrike">
                <a:solidFill>
                  <a:srgbClr val="8D776A"/>
                </a:solidFill>
                <a:ea typeface="Pretendard SemiBold"/>
              </a:rPr>
              <a:t>있음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48900" y="5384800"/>
            <a:ext cx="7670800" cy="2235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5369"/>
              </a:lnSpc>
            </a:pPr>
            <a:r>
              <a:rPr lang="en-US" sz="3000" b="0" i="0" u="none" strike="noStrike">
                <a:solidFill>
                  <a:srgbClr val="8D776A"/>
                </a:solidFill>
                <a:latin typeface="Pretendard SemiBold"/>
              </a:rPr>
              <a:t>PAIN POINT</a:t>
            </a:r>
          </a:p>
          <a:p>
            <a:pPr lvl="0" algn="l">
              <a:lnSpc>
                <a:spcPct val="115369"/>
              </a:lnSpc>
            </a:pPr>
            <a:r>
              <a:rPr lang="en-US" sz="2400" b="0" i="0" u="none" strike="noStrike">
                <a:solidFill>
                  <a:srgbClr val="8D776A"/>
                </a:solidFill>
                <a:latin typeface="Pretendard SemiBold"/>
              </a:rPr>
              <a:t>    </a:t>
            </a:r>
            <a:r>
              <a:rPr lang="ko-KR" sz="2400" b="0" i="0" u="none" strike="noStrike">
                <a:solidFill>
                  <a:srgbClr val="8D776A"/>
                </a:solidFill>
                <a:ea typeface="Pretendard SemiBold"/>
              </a:rPr>
              <a:t>제품의</a:t>
            </a:r>
            <a:r>
              <a:rPr lang="en-US" sz="24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2400" b="0" i="0" u="none" strike="noStrike">
                <a:solidFill>
                  <a:srgbClr val="8D776A"/>
                </a:solidFill>
                <a:ea typeface="Pretendard SemiBold"/>
              </a:rPr>
              <a:t>합리적이지</a:t>
            </a:r>
            <a:r>
              <a:rPr lang="en-US" sz="24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2400" b="0" i="0" u="none" strike="noStrike">
                <a:solidFill>
                  <a:srgbClr val="8D776A"/>
                </a:solidFill>
                <a:ea typeface="Pretendard SemiBold"/>
              </a:rPr>
              <a:t>못한</a:t>
            </a:r>
            <a:r>
              <a:rPr lang="en-US" sz="24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2400" b="0" i="0" u="none" strike="noStrike">
                <a:solidFill>
                  <a:srgbClr val="8D776A"/>
                </a:solidFill>
                <a:ea typeface="Pretendard SemiBold"/>
              </a:rPr>
              <a:t>가격</a:t>
            </a:r>
          </a:p>
          <a:p>
            <a:pPr lvl="0" algn="l">
              <a:lnSpc>
                <a:spcPct val="115369"/>
              </a:lnSpc>
            </a:pPr>
            <a:r>
              <a:rPr lang="en-US" sz="2400" b="0" i="0" u="none" strike="noStrike">
                <a:solidFill>
                  <a:srgbClr val="8D776A"/>
                </a:solidFill>
                <a:latin typeface="Pretendard SemiBold"/>
              </a:rPr>
              <a:t>    </a:t>
            </a:r>
            <a:r>
              <a:rPr lang="ko-KR" sz="2400" b="0" i="0" u="none" strike="noStrike">
                <a:solidFill>
                  <a:srgbClr val="8D776A"/>
                </a:solidFill>
                <a:ea typeface="Pretendard SemiBold"/>
              </a:rPr>
              <a:t>고급스럽지</a:t>
            </a:r>
            <a:r>
              <a:rPr lang="en-US" sz="24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2400" b="0" i="0" u="none" strike="noStrike">
                <a:solidFill>
                  <a:srgbClr val="8D776A"/>
                </a:solidFill>
                <a:ea typeface="Pretendard SemiBold"/>
              </a:rPr>
              <a:t>못한</a:t>
            </a:r>
            <a:r>
              <a:rPr lang="en-US" sz="24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2400" b="0" i="0" u="none" strike="noStrike">
                <a:solidFill>
                  <a:srgbClr val="8D776A"/>
                </a:solidFill>
                <a:ea typeface="Pretendard SemiBold"/>
              </a:rPr>
              <a:t>패키징</a:t>
            </a:r>
          </a:p>
          <a:p>
            <a:pPr lvl="0" algn="l">
              <a:lnSpc>
                <a:spcPct val="115369"/>
              </a:lnSpc>
            </a:pPr>
            <a:r>
              <a:rPr lang="en-US" sz="2400" b="0" i="0" u="none" strike="noStrike">
                <a:solidFill>
                  <a:srgbClr val="8D776A"/>
                </a:solidFill>
                <a:latin typeface="Pretendard SemiBold"/>
              </a:rPr>
              <a:t>    </a:t>
            </a:r>
            <a:r>
              <a:rPr lang="ko-KR" sz="2400" b="0" i="0" u="none" strike="noStrike">
                <a:solidFill>
                  <a:srgbClr val="8D776A"/>
                </a:solidFill>
                <a:ea typeface="Pretendard SemiBold"/>
              </a:rPr>
              <a:t>배송</a:t>
            </a:r>
            <a:r>
              <a:rPr lang="en-US" sz="24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2400" b="0" i="0" u="none" strike="noStrike">
                <a:solidFill>
                  <a:srgbClr val="8D776A"/>
                </a:solidFill>
                <a:ea typeface="Pretendard SemiBold"/>
              </a:rPr>
              <a:t>날짜가</a:t>
            </a:r>
            <a:r>
              <a:rPr lang="en-US" sz="24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2400" b="0" i="0" u="none" strike="noStrike">
                <a:solidFill>
                  <a:srgbClr val="8D776A"/>
                </a:solidFill>
                <a:ea typeface="Pretendard SemiBold"/>
              </a:rPr>
              <a:t>맞지</a:t>
            </a:r>
            <a:r>
              <a:rPr lang="en-US" sz="24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2400" b="0" i="0" u="none" strike="noStrike">
                <a:solidFill>
                  <a:srgbClr val="8D776A"/>
                </a:solidFill>
                <a:ea typeface="Pretendard SemiBold"/>
              </a:rPr>
              <a:t>않음</a:t>
            </a:r>
          </a:p>
          <a:p>
            <a:pPr lvl="0" algn="l">
              <a:lnSpc>
                <a:spcPct val="115369"/>
              </a:lnSpc>
            </a:pPr>
            <a:r>
              <a:rPr lang="en-US" sz="2400" b="0" i="0" u="none" strike="noStrike">
                <a:solidFill>
                  <a:srgbClr val="8D776A"/>
                </a:solidFill>
                <a:latin typeface="Pretendard SemiBold"/>
              </a:rPr>
              <a:t>    </a:t>
            </a:r>
            <a:r>
              <a:rPr lang="ko-KR" sz="2400" b="0" i="0" u="none" strike="noStrike">
                <a:solidFill>
                  <a:srgbClr val="8D776A"/>
                </a:solidFill>
                <a:ea typeface="Pretendard SemiBold"/>
              </a:rPr>
              <a:t>너무</a:t>
            </a:r>
            <a:r>
              <a:rPr lang="en-US" sz="24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2400" b="0" i="0" u="none" strike="noStrike">
                <a:solidFill>
                  <a:srgbClr val="8D776A"/>
                </a:solidFill>
                <a:ea typeface="Pretendard SemiBold"/>
              </a:rPr>
              <a:t>맛이</a:t>
            </a:r>
            <a:r>
              <a:rPr lang="en-US" sz="24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2400" b="0" i="0" u="none" strike="noStrike">
                <a:solidFill>
                  <a:srgbClr val="8D776A"/>
                </a:solidFill>
                <a:ea typeface="Pretendard SemiBold"/>
              </a:rPr>
              <a:t>달면</a:t>
            </a:r>
            <a:r>
              <a:rPr lang="en-US" sz="24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2400" b="0" i="0" u="none" strike="noStrike">
                <a:solidFill>
                  <a:srgbClr val="8D776A"/>
                </a:solidFill>
                <a:ea typeface="Pretendard SemiBold"/>
              </a:rPr>
              <a:t>안됨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574800" y="3225800"/>
            <a:ext cx="2705100" cy="889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3000" b="0" i="0" u="none" strike="noStrike">
                <a:solidFill>
                  <a:srgbClr val="8D776A"/>
                </a:solidFill>
                <a:latin typeface="Pretendard SemiBold"/>
              </a:rPr>
              <a:t>BIO</a:t>
            </a:r>
          </a:p>
          <a:p>
            <a:pPr lvl="0" algn="l">
              <a:lnSpc>
                <a:spcPct val="99600"/>
              </a:lnSpc>
            </a:pPr>
            <a:r>
              <a:rPr lang="en-US" sz="2400" b="0" i="0" u="none" strike="noStrike">
                <a:solidFill>
                  <a:srgbClr val="8D776A"/>
                </a:solidFill>
                <a:latin typeface="Pretendard SemiBold"/>
              </a:rPr>
              <a:t>    8</a:t>
            </a:r>
            <a:r>
              <a:rPr lang="ko-KR" sz="2400" b="0" i="0" u="none" strike="noStrike">
                <a:solidFill>
                  <a:srgbClr val="8D776A"/>
                </a:solidFill>
                <a:ea typeface="Pretendard SemiBold"/>
              </a:rPr>
              <a:t>월에</a:t>
            </a:r>
            <a:r>
              <a:rPr lang="en-US" sz="24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2400" b="0" i="0" u="none" strike="noStrike">
                <a:solidFill>
                  <a:srgbClr val="8D776A"/>
                </a:solidFill>
                <a:ea typeface="Pretendard SemiBold"/>
              </a:rPr>
              <a:t>결혼식</a:t>
            </a:r>
            <a:r>
              <a:rPr lang="en-US" sz="24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2400" b="0" i="0" u="none" strike="noStrike">
                <a:solidFill>
                  <a:srgbClr val="8D776A"/>
                </a:solidFill>
                <a:ea typeface="Pretendard SemiBold"/>
              </a:rPr>
              <a:t>예정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315200" y="444500"/>
            <a:ext cx="3657600" cy="977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5500" b="0" i="0" u="none" strike="noStrike">
                <a:solidFill>
                  <a:srgbClr val="FFFFFF"/>
                </a:solidFill>
                <a:latin typeface="Pretendard SemiBold"/>
              </a:rPr>
              <a:t>PERSONA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6725900" y="215900"/>
            <a:ext cx="12319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16199"/>
              </a:lnSpc>
            </a:pPr>
            <a:r>
              <a:rPr lang="en-US" sz="1800" b="0" i="0" u="none" strike="noStrike" spc="200">
                <a:solidFill>
                  <a:srgbClr val="F4F4EC"/>
                </a:solidFill>
                <a:latin typeface="Pretendard Light"/>
              </a:rPr>
              <a:t>TARGET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0287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" y="952500"/>
            <a:ext cx="16383000" cy="114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" y="952500"/>
            <a:ext cx="16383000" cy="8407400"/>
          </a:xfrm>
          <a:prstGeom prst="rect">
            <a:avLst/>
          </a:prstGeom>
          <a:effectLst>
            <a:outerShdw blurRad="702899" dist="323117" dir="2700000">
              <a:srgbClr val="000000">
                <a:alpha val="15000"/>
              </a:srgbClr>
            </a:outerShdw>
          </a:effectLst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203200" y="38100"/>
            <a:ext cx="18605500" cy="1879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25400"/>
            <a:ext cx="18376900" cy="1143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1511300" y="406400"/>
            <a:ext cx="15290800" cy="977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ko-KR" sz="5500" b="0" i="0" u="none" strike="noStrike">
                <a:solidFill>
                  <a:srgbClr val="FFFFFF"/>
                </a:solidFill>
                <a:ea typeface="Pretendard SemiBold"/>
              </a:rPr>
              <a:t>문제점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436600" y="368300"/>
            <a:ext cx="46990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16199"/>
              </a:lnSpc>
            </a:pP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문제</a:t>
            </a:r>
            <a:r>
              <a:rPr lang="en-US" sz="1800" b="0" i="0" u="none" strike="noStrike" spc="200">
                <a:solidFill>
                  <a:srgbClr val="F4F4EC"/>
                </a:solidFill>
                <a:latin typeface="Pretendard Light"/>
              </a:rPr>
              <a:t> </a:t>
            </a: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인식</a:t>
            </a: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41600" y="3187700"/>
            <a:ext cx="5003800" cy="1181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41600" y="4978400"/>
            <a:ext cx="5003800" cy="11811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41600" y="6807200"/>
            <a:ext cx="5003800" cy="11811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32700" y="3771900"/>
            <a:ext cx="2921000" cy="381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53700" y="3187700"/>
            <a:ext cx="5003800" cy="11811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53700" y="4978400"/>
            <a:ext cx="5003800" cy="11811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53700" y="6807200"/>
            <a:ext cx="5003800" cy="11811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32700" y="5562600"/>
            <a:ext cx="2921000" cy="381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58100" y="7366000"/>
            <a:ext cx="2921000" cy="38100"/>
          </a:xfrm>
          <a:prstGeom prst="rect">
            <a:avLst/>
          </a:prstGeom>
        </p:spPr>
      </p:pic>
      <p:sp>
        <p:nvSpPr>
          <p:cNvPr id="18" name="TextBox 18"/>
          <p:cNvSpPr txBox="1"/>
          <p:nvPr/>
        </p:nvSpPr>
        <p:spPr>
          <a:xfrm>
            <a:off x="3048000" y="3314700"/>
            <a:ext cx="4229100" cy="939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2900" b="0" i="0" u="none" strike="noStrike">
                <a:solidFill>
                  <a:srgbClr val="000000"/>
                </a:solidFill>
                <a:ea typeface="Pretendard SemiBold"/>
              </a:rPr>
              <a:t>실제</a:t>
            </a:r>
            <a:r>
              <a:rPr lang="en-US" sz="29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900" b="0" i="0" u="none" strike="noStrike">
                <a:solidFill>
                  <a:srgbClr val="000000"/>
                </a:solidFill>
                <a:ea typeface="Pretendard SemiBold"/>
              </a:rPr>
              <a:t>여러</a:t>
            </a:r>
            <a:r>
              <a:rPr lang="en-US" sz="29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900" b="0" i="0" u="none" strike="noStrike">
                <a:solidFill>
                  <a:srgbClr val="000000"/>
                </a:solidFill>
                <a:ea typeface="Pretendard SemiBold"/>
              </a:rPr>
              <a:t>소비자로부터의</a:t>
            </a:r>
            <a:r>
              <a:rPr lang="en-US" sz="29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br>
              <a:rPr lang="en-US" sz="2900" b="0" i="0" u="none" strike="noStrike">
                <a:solidFill>
                  <a:srgbClr val="000000"/>
                </a:solidFill>
                <a:latin typeface="Pretendard SemiBold"/>
              </a:rPr>
            </a:br>
            <a:r>
              <a:rPr lang="ko-KR" sz="2900" b="0" i="0" u="none" strike="noStrike">
                <a:solidFill>
                  <a:srgbClr val="000000"/>
                </a:solidFill>
                <a:ea typeface="Pretendard SemiBold"/>
              </a:rPr>
              <a:t>상세페이지</a:t>
            </a:r>
            <a:r>
              <a:rPr lang="en-US" sz="29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900" b="0" i="0" u="none" strike="noStrike">
                <a:solidFill>
                  <a:srgbClr val="000000"/>
                </a:solidFill>
                <a:ea typeface="Pretendard SemiBold"/>
              </a:rPr>
              <a:t>문제</a:t>
            </a:r>
            <a:r>
              <a:rPr lang="en-US" sz="29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900" b="0" i="0" u="none" strike="noStrike">
                <a:solidFill>
                  <a:srgbClr val="000000"/>
                </a:solidFill>
                <a:ea typeface="Pretendard SemiBold"/>
              </a:rPr>
              <a:t>수집</a:t>
            </a:r>
            <a:r>
              <a:rPr lang="en-US" sz="2900" b="0" i="0" u="none" strike="noStrike">
                <a:solidFill>
                  <a:srgbClr val="000000"/>
                </a:solidFill>
                <a:latin typeface="Pretendard SemiBold"/>
              </a:rPr>
              <a:t> 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048000" y="5295900"/>
            <a:ext cx="4216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900" b="0" i="0" u="none" strike="noStrike">
                <a:solidFill>
                  <a:srgbClr val="000000"/>
                </a:solidFill>
                <a:latin typeface="Pretendard SemiBold"/>
              </a:rPr>
              <a:t>SNS</a:t>
            </a:r>
            <a:r>
              <a:rPr lang="ko-KR" sz="2900" b="0" i="0" u="none" strike="noStrike">
                <a:solidFill>
                  <a:srgbClr val="000000"/>
                </a:solidFill>
                <a:ea typeface="Pretendard SemiBold"/>
              </a:rPr>
              <a:t>를</a:t>
            </a:r>
            <a:r>
              <a:rPr lang="en-US" sz="29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900" b="0" i="0" u="none" strike="noStrike">
                <a:solidFill>
                  <a:srgbClr val="000000"/>
                </a:solidFill>
                <a:ea typeface="Pretendard SemiBold"/>
              </a:rPr>
              <a:t>활용한</a:t>
            </a:r>
            <a:r>
              <a:rPr lang="en-US" sz="29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900" b="0" i="0" u="none" strike="noStrike">
                <a:solidFill>
                  <a:srgbClr val="000000"/>
                </a:solidFill>
                <a:ea typeface="Pretendard SemiBold"/>
              </a:rPr>
              <a:t>마케팅</a:t>
            </a:r>
            <a:r>
              <a:rPr lang="en-US" sz="29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900" b="0" i="0" u="none" strike="noStrike">
                <a:solidFill>
                  <a:srgbClr val="000000"/>
                </a:solidFill>
                <a:ea typeface="Pretendard SemiBold"/>
              </a:rPr>
              <a:t>부족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882900" y="6946900"/>
            <a:ext cx="4483100" cy="876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2700" b="0" i="0" u="none" strike="noStrike">
                <a:solidFill>
                  <a:srgbClr val="000000"/>
                </a:solidFill>
                <a:ea typeface="Pretendard SemiBold"/>
              </a:rPr>
              <a:t>적절하지</a:t>
            </a:r>
            <a:r>
              <a:rPr lang="en-US" sz="27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700" b="0" i="0" u="none" strike="noStrike">
                <a:solidFill>
                  <a:srgbClr val="000000"/>
                </a:solidFill>
                <a:ea typeface="Pretendard SemiBold"/>
              </a:rPr>
              <a:t>못한</a:t>
            </a:r>
            <a:r>
              <a:rPr lang="en-US" sz="27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700" b="0" i="0" u="none" strike="noStrike">
                <a:solidFill>
                  <a:srgbClr val="000000"/>
                </a:solidFill>
                <a:ea typeface="Pretendard SemiBold"/>
              </a:rPr>
              <a:t>키워드로</a:t>
            </a:r>
            <a:r>
              <a:rPr lang="en-US" sz="27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700" b="0" i="0" u="none" strike="noStrike">
                <a:solidFill>
                  <a:srgbClr val="000000"/>
                </a:solidFill>
                <a:ea typeface="Pretendard SemiBold"/>
              </a:rPr>
              <a:t>선정으로</a:t>
            </a:r>
            <a:r>
              <a:rPr lang="en-US" sz="27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700" b="0" i="0" u="none" strike="noStrike">
                <a:solidFill>
                  <a:srgbClr val="000000"/>
                </a:solidFill>
                <a:ea typeface="Pretendard SemiBold"/>
              </a:rPr>
              <a:t>인한</a:t>
            </a:r>
            <a:r>
              <a:rPr lang="en-US" sz="27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700" b="0" i="0" u="none" strike="noStrike">
                <a:solidFill>
                  <a:srgbClr val="000000"/>
                </a:solidFill>
                <a:ea typeface="Pretendard SemiBold"/>
              </a:rPr>
              <a:t>비효율적인</a:t>
            </a:r>
            <a:r>
              <a:rPr lang="en-US" sz="27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700" b="0" i="0" u="none" strike="noStrike">
                <a:solidFill>
                  <a:srgbClr val="000000"/>
                </a:solidFill>
                <a:ea typeface="Pretendard SemiBold"/>
              </a:rPr>
              <a:t>파워링크</a:t>
            </a:r>
            <a:r>
              <a:rPr lang="en-US" sz="27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700" b="0" i="0" u="none" strike="noStrike">
                <a:solidFill>
                  <a:srgbClr val="000000"/>
                </a:solidFill>
                <a:ea typeface="Pretendard SemiBold"/>
              </a:rPr>
              <a:t>광고</a:t>
            </a:r>
            <a:r>
              <a:rPr lang="en-US" sz="2700" b="0" i="0" u="none" strike="noStrike">
                <a:solidFill>
                  <a:srgbClr val="000000"/>
                </a:solidFill>
                <a:latin typeface="Pretendard SemiBold"/>
              </a:rPr>
              <a:t> 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934700" y="3492500"/>
            <a:ext cx="43307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2900" b="0" i="0" u="none" strike="noStrike">
                <a:solidFill>
                  <a:srgbClr val="000000"/>
                </a:solidFill>
                <a:ea typeface="Pretendard SemiBold"/>
              </a:rPr>
              <a:t>상세페이지</a:t>
            </a:r>
            <a:r>
              <a:rPr lang="en-US" sz="29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900" b="0" i="0" u="none" strike="noStrike">
                <a:solidFill>
                  <a:srgbClr val="000000"/>
                </a:solidFill>
                <a:ea typeface="Pretendard SemiBold"/>
              </a:rPr>
              <a:t>개선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718800" y="5067300"/>
            <a:ext cx="4610100" cy="939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2900" b="0" i="0" u="none" strike="noStrike">
                <a:solidFill>
                  <a:srgbClr val="000000"/>
                </a:solidFill>
                <a:ea typeface="Pretendard SemiBold"/>
              </a:rPr>
              <a:t>유튜브</a:t>
            </a:r>
            <a:r>
              <a:rPr lang="en-US" sz="2900" b="0" i="0" u="none" strike="noStrike">
                <a:solidFill>
                  <a:srgbClr val="000000"/>
                </a:solidFill>
                <a:latin typeface="Pretendard SemiBold"/>
              </a:rPr>
              <a:t>, </a:t>
            </a:r>
            <a:r>
              <a:rPr lang="ko-KR" sz="2900" b="0" i="0" u="none" strike="noStrike">
                <a:solidFill>
                  <a:srgbClr val="000000"/>
                </a:solidFill>
                <a:ea typeface="Pretendard SemiBold"/>
              </a:rPr>
              <a:t>인스타그램등</a:t>
            </a:r>
            <a:r>
              <a:rPr lang="en-US" sz="2900" b="0" i="0" u="none" strike="noStrike">
                <a:solidFill>
                  <a:srgbClr val="000000"/>
                </a:solidFill>
                <a:latin typeface="Pretendard SemiBold"/>
              </a:rPr>
              <a:t> SNS</a:t>
            </a:r>
            <a:r>
              <a:rPr lang="ko-KR" sz="2900" b="0" i="0" u="none" strike="noStrike">
                <a:solidFill>
                  <a:srgbClr val="000000"/>
                </a:solidFill>
                <a:ea typeface="Pretendard SemiBold"/>
              </a:rPr>
              <a:t>채널</a:t>
            </a:r>
          </a:p>
          <a:p>
            <a:pPr lvl="0" algn="ctr">
              <a:lnSpc>
                <a:spcPct val="99600"/>
              </a:lnSpc>
            </a:pPr>
            <a:r>
              <a:rPr lang="ko-KR" sz="2900" b="0" i="0" u="none" strike="noStrike">
                <a:solidFill>
                  <a:srgbClr val="000000"/>
                </a:solidFill>
                <a:ea typeface="Pretendard SemiBold"/>
              </a:rPr>
              <a:t>컨텐츠</a:t>
            </a:r>
            <a:r>
              <a:rPr lang="en-US" sz="29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900" b="0" i="0" u="none" strike="noStrike">
                <a:solidFill>
                  <a:srgbClr val="000000"/>
                </a:solidFill>
                <a:ea typeface="Pretendard SemiBold"/>
              </a:rPr>
              <a:t>마케팅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680700" y="6908800"/>
            <a:ext cx="4762500" cy="939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2900" b="0" i="0" u="none" strike="noStrike">
                <a:solidFill>
                  <a:srgbClr val="000000"/>
                </a:solidFill>
                <a:ea typeface="Pretendard SemiBold"/>
              </a:rPr>
              <a:t>데이터</a:t>
            </a:r>
            <a:r>
              <a:rPr lang="en-US" sz="29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900" b="0" i="0" u="none" strike="noStrike">
                <a:solidFill>
                  <a:srgbClr val="000000"/>
                </a:solidFill>
                <a:ea typeface="Pretendard SemiBold"/>
              </a:rPr>
              <a:t>분석을</a:t>
            </a:r>
            <a:r>
              <a:rPr lang="en-US" sz="29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900" b="0" i="0" u="none" strike="noStrike">
                <a:solidFill>
                  <a:srgbClr val="000000"/>
                </a:solidFill>
                <a:ea typeface="Pretendard SemiBold"/>
              </a:rPr>
              <a:t>통한</a:t>
            </a:r>
            <a:r>
              <a:rPr lang="en-US" sz="2900" b="0" i="0" u="none" strike="noStrike">
                <a:solidFill>
                  <a:srgbClr val="000000"/>
                </a:solidFill>
                <a:latin typeface="Pretendard SemiBold"/>
              </a:rPr>
              <a:t> </a:t>
            </a:r>
          </a:p>
          <a:p>
            <a:pPr lvl="0" algn="ctr">
              <a:lnSpc>
                <a:spcPct val="99600"/>
              </a:lnSpc>
            </a:pPr>
            <a:r>
              <a:rPr lang="ko-KR" sz="2900" b="0" i="0" u="none" strike="noStrike">
                <a:solidFill>
                  <a:srgbClr val="000000"/>
                </a:solidFill>
                <a:ea typeface="Pretendard SemiBold"/>
              </a:rPr>
              <a:t>효율적인</a:t>
            </a:r>
            <a:r>
              <a:rPr lang="en-US" sz="29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900" b="0" i="0" u="none" strike="noStrike">
                <a:solidFill>
                  <a:srgbClr val="000000"/>
                </a:solidFill>
                <a:ea typeface="Pretendard SemiBold"/>
              </a:rPr>
              <a:t>키워드</a:t>
            </a:r>
            <a:r>
              <a:rPr lang="en-US" sz="29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900" b="0" i="0" u="none" strike="noStrike">
                <a:solidFill>
                  <a:srgbClr val="000000"/>
                </a:solidFill>
                <a:ea typeface="Pretendard SemiBold"/>
              </a:rPr>
              <a:t>산출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453100" cy="10287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" y="952500"/>
            <a:ext cx="16383000" cy="114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" y="952500"/>
            <a:ext cx="16383000" cy="1143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6210300" y="4559300"/>
            <a:ext cx="5867400" cy="977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5500" b="0" i="0" u="none" strike="noStrike">
                <a:solidFill>
                  <a:srgbClr val="FDFDF2"/>
                </a:solidFill>
                <a:ea typeface="Pretendard SemiBold"/>
              </a:rPr>
              <a:t>신규</a:t>
            </a:r>
            <a:r>
              <a:rPr lang="en-US" sz="5500" b="0" i="0" u="none" strike="noStrike">
                <a:solidFill>
                  <a:srgbClr val="FDFDF2"/>
                </a:solidFill>
                <a:latin typeface="Pretendard SemiBold"/>
              </a:rPr>
              <a:t> </a:t>
            </a:r>
            <a:r>
              <a:rPr lang="ko-KR" sz="5500" b="0" i="0" u="none" strike="noStrike">
                <a:solidFill>
                  <a:srgbClr val="FDFDF2"/>
                </a:solidFill>
                <a:ea typeface="Pretendard SemiBold"/>
              </a:rPr>
              <a:t>고객</a:t>
            </a:r>
            <a:r>
              <a:rPr lang="en-US" sz="5500" b="0" i="0" u="none" strike="noStrike">
                <a:solidFill>
                  <a:srgbClr val="FDFDF2"/>
                </a:solidFill>
                <a:latin typeface="Pretendard SemiBold"/>
              </a:rPr>
              <a:t> </a:t>
            </a:r>
            <a:r>
              <a:rPr lang="ko-KR" sz="5500" b="0" i="0" u="none" strike="noStrike">
                <a:solidFill>
                  <a:srgbClr val="FDFDF2"/>
                </a:solidFill>
                <a:ea typeface="Pretendard SemiBold"/>
              </a:rPr>
              <a:t>유입</a:t>
            </a:r>
            <a:r>
              <a:rPr lang="en-US" sz="5500" b="0" i="0" u="none" strike="noStrike">
                <a:solidFill>
                  <a:srgbClr val="FDFDF2"/>
                </a:solidFill>
                <a:latin typeface="Pretendard SemiBold"/>
              </a:rPr>
              <a:t> </a:t>
            </a:r>
            <a:r>
              <a:rPr lang="ko-KR" sz="5500" b="0" i="0" u="none" strike="noStrike">
                <a:solidFill>
                  <a:srgbClr val="FDFDF2"/>
                </a:solidFill>
                <a:ea typeface="Pretendard SemiBold"/>
              </a:rPr>
              <a:t>전략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5400"/>
            <a:ext cx="18376900" cy="114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03200" y="12700"/>
            <a:ext cx="18605500" cy="1879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376900" cy="1143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5613400" y="431800"/>
            <a:ext cx="7073900" cy="977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ko-KR" sz="5500" b="0" i="0" u="none" strike="noStrike">
                <a:solidFill>
                  <a:srgbClr val="FFFFFF"/>
                </a:solidFill>
                <a:ea typeface="Pretendard SemiBold"/>
              </a:rPr>
              <a:t>검색</a:t>
            </a:r>
            <a:r>
              <a:rPr lang="en-US" sz="5500" b="0" i="0" u="none" strike="noStrike">
                <a:solidFill>
                  <a:srgbClr val="FFFFFF"/>
                </a:solidFill>
                <a:latin typeface="Pretendard SemiBold"/>
              </a:rPr>
              <a:t> </a:t>
            </a:r>
            <a:r>
              <a:rPr lang="ko-KR" sz="5500" b="0" i="0" u="none" strike="noStrike">
                <a:solidFill>
                  <a:srgbClr val="FFFFFF"/>
                </a:solidFill>
                <a:ea typeface="Pretendard SemiBold"/>
              </a:rPr>
              <a:t>키워드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3195300" y="330200"/>
            <a:ext cx="46990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16199"/>
              </a:lnSpc>
            </a:pP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마케팅</a:t>
            </a:r>
            <a:r>
              <a:rPr lang="en-US" sz="1800" b="0" i="0" u="none" strike="noStrike" spc="200">
                <a:solidFill>
                  <a:srgbClr val="F4F4EC"/>
                </a:solidFill>
                <a:latin typeface="Pretendard Light"/>
              </a:rPr>
              <a:t> </a:t>
            </a: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전략</a:t>
            </a:r>
            <a:r>
              <a:rPr lang="en-US" sz="1800" b="0" i="0" u="none" strike="noStrike" spc="200">
                <a:solidFill>
                  <a:srgbClr val="F4F4EC"/>
                </a:solidFill>
                <a:latin typeface="Pretendard Light"/>
              </a:rPr>
              <a:t> -</a:t>
            </a: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유입</a:t>
            </a:r>
            <a:r>
              <a:rPr lang="en-US" sz="1800" b="0" i="0" u="none" strike="noStrike" spc="200">
                <a:solidFill>
                  <a:srgbClr val="F4F4EC"/>
                </a:solidFill>
                <a:latin typeface="Pretendard Light"/>
              </a:rPr>
              <a:t> </a:t>
            </a: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전략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700" y="5765800"/>
            <a:ext cx="5232400" cy="14224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47000" y="2628900"/>
            <a:ext cx="10223500" cy="68453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2413000" y="4813300"/>
            <a:ext cx="2540000" cy="927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5200" b="0" i="0" u="none" strike="noStrike">
                <a:solidFill>
                  <a:srgbClr val="000000"/>
                </a:solidFill>
                <a:ea typeface="Pretendard Bold"/>
              </a:rPr>
              <a:t>파워링크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191500" y="2870200"/>
            <a:ext cx="5384800" cy="622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3500" b="0" i="0" u="none" strike="noStrike">
                <a:solidFill>
                  <a:srgbClr val="8D776A"/>
                </a:solidFill>
                <a:ea typeface="Pretendard SemiBold"/>
              </a:rPr>
              <a:t>검색결과</a:t>
            </a:r>
            <a:r>
              <a:rPr lang="en-US" sz="35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3500" b="0" i="0" u="none" strike="noStrike">
                <a:solidFill>
                  <a:srgbClr val="8D776A"/>
                </a:solidFill>
                <a:ea typeface="Pretendard SemiBold"/>
              </a:rPr>
              <a:t>페이지</a:t>
            </a:r>
            <a:r>
              <a:rPr lang="en-US" sz="35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3500" b="0" i="0" u="none" strike="noStrike">
                <a:solidFill>
                  <a:srgbClr val="8D776A"/>
                </a:solidFill>
                <a:ea typeface="Pretendard SemiBold"/>
              </a:rPr>
              <a:t>최상위</a:t>
            </a:r>
            <a:r>
              <a:rPr lang="en-US" sz="35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3500" b="0" i="0" u="none" strike="noStrike">
                <a:solidFill>
                  <a:srgbClr val="8D776A"/>
                </a:solidFill>
                <a:ea typeface="Pretendard SemiBold"/>
              </a:rPr>
              <a:t>노출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242300" y="4876800"/>
            <a:ext cx="5384800" cy="622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3500" b="0" i="0" u="none" strike="noStrike">
                <a:solidFill>
                  <a:srgbClr val="8D776A"/>
                </a:solidFill>
                <a:ea typeface="Pretendard SemiBold"/>
              </a:rPr>
              <a:t>키워드</a:t>
            </a:r>
            <a:r>
              <a:rPr lang="en-US" sz="35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3500" b="0" i="0" u="none" strike="noStrike">
                <a:solidFill>
                  <a:srgbClr val="8D776A"/>
                </a:solidFill>
                <a:ea typeface="Pretendard SemiBold"/>
              </a:rPr>
              <a:t>타겟팅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039100" y="3644900"/>
            <a:ext cx="9690100" cy="787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342900" lvl="0" indent="-342900" algn="l">
              <a:lnSpc>
                <a:spcPct val="99600"/>
              </a:lnSpc>
              <a:buClr>
                <a:srgbClr val="A3957D"/>
              </a:buClr>
              <a:buFont typeface="Arial"/>
              <a:buChar char="●"/>
            </a:pP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네이버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검색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결과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페이지의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상단에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광고가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노출되어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사용자의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시선을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끌기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쉽다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.</a:t>
            </a:r>
          </a:p>
          <a:p>
            <a:pPr marL="342900" lvl="0" indent="-342900" algn="l">
              <a:lnSpc>
                <a:spcPct val="99600"/>
              </a:lnSpc>
              <a:buClr>
                <a:srgbClr val="A3957D"/>
              </a:buClr>
              <a:buFont typeface="Arial"/>
              <a:buChar char="●"/>
            </a:pP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유저들의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많은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클릭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유도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가능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089900" y="5905500"/>
            <a:ext cx="9855200" cy="787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342900" lvl="0" indent="-342900" algn="l">
              <a:lnSpc>
                <a:spcPct val="99600"/>
              </a:lnSpc>
              <a:buClr>
                <a:srgbClr val="A3957D"/>
              </a:buClr>
              <a:buFont typeface="Arial"/>
              <a:buChar char="●"/>
            </a:pP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특정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키워드를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설정하여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관련된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검색어를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입력한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사용자에게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광고를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노출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가능</a:t>
            </a:r>
          </a:p>
          <a:p>
            <a:pPr marL="342900" lvl="0" indent="-342900" algn="l">
              <a:lnSpc>
                <a:spcPct val="99600"/>
              </a:lnSpc>
              <a:buClr>
                <a:srgbClr val="A3957D"/>
              </a:buClr>
              <a:buFont typeface="Arial"/>
              <a:buChar char="●"/>
            </a:pP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키워드의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선택과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입찰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전략에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따라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광고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노출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위치와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빈도가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달라집니다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191500" y="7175500"/>
            <a:ext cx="5384800" cy="622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3500" b="0" i="0" u="none" strike="noStrike">
                <a:solidFill>
                  <a:srgbClr val="8D776A"/>
                </a:solidFill>
                <a:ea typeface="Pretendard SemiBold"/>
              </a:rPr>
              <a:t>실시간</a:t>
            </a:r>
            <a:r>
              <a:rPr lang="en-US" sz="35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3500" b="0" i="0" u="none" strike="noStrike">
                <a:solidFill>
                  <a:srgbClr val="8D776A"/>
                </a:solidFill>
                <a:ea typeface="Pretendard SemiBold"/>
              </a:rPr>
              <a:t>성과</a:t>
            </a:r>
            <a:r>
              <a:rPr lang="en-US" sz="35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3500" b="0" i="0" u="none" strike="noStrike">
                <a:solidFill>
                  <a:srgbClr val="8D776A"/>
                </a:solidFill>
                <a:ea typeface="Pretendard SemiBold"/>
              </a:rPr>
              <a:t>분석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204200" y="8128000"/>
            <a:ext cx="9575800" cy="787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342900" lvl="0" indent="-342900" algn="l">
              <a:lnSpc>
                <a:spcPct val="99600"/>
              </a:lnSpc>
              <a:buClr>
                <a:srgbClr val="A3957D"/>
              </a:buClr>
              <a:buFont typeface="Arial"/>
              <a:buChar char="●"/>
            </a:pP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광고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성과를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실시간으로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모니터링하고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분석할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수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있는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다양한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도구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제공</a:t>
            </a:r>
          </a:p>
          <a:p>
            <a:pPr marL="342900" lvl="0" indent="-342900" algn="l">
              <a:lnSpc>
                <a:spcPct val="99600"/>
              </a:lnSpc>
              <a:buClr>
                <a:srgbClr val="A3957D"/>
              </a:buClr>
              <a:buFont typeface="Arial"/>
              <a:buChar char="●"/>
            </a:pP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클릭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수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,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노출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수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,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전환율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등의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데이터를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기반으로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광고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캠페인을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최적화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가능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5400"/>
            <a:ext cx="18376900" cy="114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03200" y="12700"/>
            <a:ext cx="18605500" cy="1879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376900" cy="1143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3644900"/>
            <a:ext cx="10541000" cy="58674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5613400" y="431800"/>
            <a:ext cx="7073900" cy="977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ko-KR" sz="5500" b="0" i="0" u="none" strike="noStrike">
                <a:solidFill>
                  <a:srgbClr val="FFFFFF"/>
                </a:solidFill>
                <a:ea typeface="Pretendard SemiBold"/>
              </a:rPr>
              <a:t>검색</a:t>
            </a:r>
            <a:r>
              <a:rPr lang="en-US" sz="5500" b="0" i="0" u="none" strike="noStrike">
                <a:solidFill>
                  <a:srgbClr val="FFFFFF"/>
                </a:solidFill>
                <a:latin typeface="Pretendard SemiBold"/>
              </a:rPr>
              <a:t> </a:t>
            </a:r>
            <a:r>
              <a:rPr lang="ko-KR" sz="5500" b="0" i="0" u="none" strike="noStrike">
                <a:solidFill>
                  <a:srgbClr val="FFFFFF"/>
                </a:solidFill>
                <a:ea typeface="Pretendard SemiBold"/>
              </a:rPr>
              <a:t>키워드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195300" y="330200"/>
            <a:ext cx="46990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16199"/>
              </a:lnSpc>
            </a:pP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마케팅</a:t>
            </a:r>
            <a:r>
              <a:rPr lang="en-US" sz="1800" b="0" i="0" u="none" strike="noStrike" spc="200">
                <a:solidFill>
                  <a:srgbClr val="F4F4EC"/>
                </a:solidFill>
                <a:latin typeface="Pretendard Light"/>
              </a:rPr>
              <a:t> </a:t>
            </a: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전략</a:t>
            </a:r>
            <a:r>
              <a:rPr lang="en-US" sz="1800" b="0" i="0" u="none" strike="noStrike" spc="200">
                <a:solidFill>
                  <a:srgbClr val="F4F4EC"/>
                </a:solidFill>
                <a:latin typeface="Pretendard Light"/>
              </a:rPr>
              <a:t> -</a:t>
            </a: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유입</a:t>
            </a:r>
            <a:r>
              <a:rPr lang="en-US" sz="1800" b="0" i="0" u="none" strike="noStrike" spc="200">
                <a:solidFill>
                  <a:srgbClr val="F4F4EC"/>
                </a:solidFill>
                <a:latin typeface="Pretendard Light"/>
              </a:rPr>
              <a:t> </a:t>
            </a: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전략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66800" y="4394200"/>
            <a:ext cx="5588000" cy="787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4500" b="0" i="0" u="none" strike="noStrike">
                <a:solidFill>
                  <a:srgbClr val="000000"/>
                </a:solidFill>
                <a:ea typeface="Pretendard Medium"/>
              </a:rPr>
              <a:t>최근</a:t>
            </a:r>
            <a:r>
              <a:rPr lang="en-US" sz="4500" b="0" i="0" u="none" strike="noStrike">
                <a:solidFill>
                  <a:srgbClr val="000000"/>
                </a:solidFill>
                <a:latin typeface="Pretendard Medium"/>
              </a:rPr>
              <a:t> 2</a:t>
            </a:r>
            <a:r>
              <a:rPr lang="ko-KR" sz="4500" b="0" i="0" u="none" strike="noStrike">
                <a:solidFill>
                  <a:srgbClr val="000000"/>
                </a:solidFill>
                <a:ea typeface="Pretendard Medium"/>
              </a:rPr>
              <a:t>주</a:t>
            </a:r>
            <a:r>
              <a:rPr lang="en-US" sz="45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4500" b="0" i="0" u="none" strike="noStrike">
                <a:solidFill>
                  <a:srgbClr val="000000"/>
                </a:solidFill>
                <a:ea typeface="Pretendard Medium"/>
              </a:rPr>
              <a:t>파워링크</a:t>
            </a:r>
            <a:r>
              <a:rPr lang="en-US" sz="45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4500" b="0" i="0" u="none" strike="noStrike">
                <a:solidFill>
                  <a:srgbClr val="000000"/>
                </a:solidFill>
                <a:ea typeface="Pretendard Medium"/>
              </a:rPr>
              <a:t>현황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79500" y="5854700"/>
            <a:ext cx="5092700" cy="1422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3000" b="0" i="0" u="none" strike="noStrike">
                <a:solidFill>
                  <a:srgbClr val="000000"/>
                </a:solidFill>
                <a:latin typeface="Pretendard Bold"/>
              </a:rPr>
              <a:t>19</a:t>
            </a:r>
            <a:r>
              <a:rPr lang="ko-KR" sz="3000" b="0" i="0" u="none" strike="noStrike">
                <a:solidFill>
                  <a:srgbClr val="000000"/>
                </a:solidFill>
                <a:ea typeface="Pretendard Bold"/>
              </a:rPr>
              <a:t>개</a:t>
            </a:r>
            <a:r>
              <a:rPr lang="en-US" sz="30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Bold"/>
              </a:rPr>
              <a:t>키워드</a:t>
            </a:r>
            <a:r>
              <a:rPr lang="en-US" sz="30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Bold"/>
              </a:rPr>
              <a:t>중</a:t>
            </a:r>
            <a:r>
              <a:rPr lang="en-US" sz="30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br>
              <a:rPr lang="en-US" sz="3000" b="0" i="0" u="none" strike="noStrike">
                <a:solidFill>
                  <a:srgbClr val="000000"/>
                </a:solidFill>
                <a:latin typeface="Pretendard Bold"/>
              </a:rPr>
            </a:br>
            <a:r>
              <a:rPr lang="en-US" sz="3000" b="0" i="0" u="none" strike="noStrike">
                <a:solidFill>
                  <a:srgbClr val="000000"/>
                </a:solidFill>
                <a:latin typeface="Pretendard Bold"/>
              </a:rPr>
              <a:t>4</a:t>
            </a:r>
            <a:r>
              <a:rPr lang="ko-KR" sz="3000" b="0" i="0" u="none" strike="noStrike">
                <a:solidFill>
                  <a:srgbClr val="000000"/>
                </a:solidFill>
                <a:ea typeface="Pretendard Bold"/>
              </a:rPr>
              <a:t>개의</a:t>
            </a:r>
            <a:r>
              <a:rPr lang="en-US" sz="30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Bold"/>
              </a:rPr>
              <a:t>키워드를</a:t>
            </a:r>
            <a:r>
              <a:rPr lang="en-US" sz="30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Bold"/>
              </a:rPr>
              <a:t>제외한</a:t>
            </a:r>
            <a:r>
              <a:rPr lang="en-US" sz="30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br>
              <a:rPr lang="en-US" sz="3000" b="0" i="0" u="none" strike="noStrike">
                <a:solidFill>
                  <a:srgbClr val="000000"/>
                </a:solidFill>
                <a:latin typeface="Pretendard Bold"/>
              </a:rPr>
            </a:br>
            <a:r>
              <a:rPr lang="en-US" sz="3000" b="0" i="0" u="none" strike="noStrike">
                <a:solidFill>
                  <a:srgbClr val="000000"/>
                </a:solidFill>
                <a:latin typeface="Pretendard Bold"/>
              </a:rPr>
              <a:t>15</a:t>
            </a:r>
            <a:r>
              <a:rPr lang="ko-KR" sz="3000" b="0" i="0" u="none" strike="noStrike">
                <a:solidFill>
                  <a:srgbClr val="000000"/>
                </a:solidFill>
                <a:ea typeface="Pretendard Bold"/>
              </a:rPr>
              <a:t>개키워드</a:t>
            </a:r>
            <a:r>
              <a:rPr lang="en-US" sz="30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Bold"/>
              </a:rPr>
              <a:t>노출도</a:t>
            </a:r>
            <a:r>
              <a:rPr lang="en-US" sz="3000" b="0" i="0" u="none" strike="noStrike">
                <a:solidFill>
                  <a:srgbClr val="000000"/>
                </a:solidFill>
                <a:latin typeface="Pretendard Bold"/>
              </a:rPr>
              <a:t> 0 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5400"/>
            <a:ext cx="18376900" cy="114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03200" y="12700"/>
            <a:ext cx="18605500" cy="1879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376900" cy="1143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5613400" y="431800"/>
            <a:ext cx="7073900" cy="977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ko-KR" sz="5500" b="0" i="0" u="none" strike="noStrike">
                <a:solidFill>
                  <a:srgbClr val="FFFFFF"/>
                </a:solidFill>
                <a:ea typeface="Pretendard SemiBold"/>
              </a:rPr>
              <a:t>검색</a:t>
            </a:r>
            <a:r>
              <a:rPr lang="en-US" sz="5500" b="0" i="0" u="none" strike="noStrike">
                <a:solidFill>
                  <a:srgbClr val="FFFFFF"/>
                </a:solidFill>
                <a:latin typeface="Pretendard SemiBold"/>
              </a:rPr>
              <a:t> </a:t>
            </a:r>
            <a:r>
              <a:rPr lang="ko-KR" sz="5500" b="0" i="0" u="none" strike="noStrike">
                <a:solidFill>
                  <a:srgbClr val="FFFFFF"/>
                </a:solidFill>
                <a:ea typeface="Pretendard SemiBold"/>
              </a:rPr>
              <a:t>키워드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95200" y="5537200"/>
            <a:ext cx="5397500" cy="800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-5400000">
            <a:off x="8216900" y="4394200"/>
            <a:ext cx="3086100" cy="30861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12814300" y="5676900"/>
            <a:ext cx="3187700" cy="520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3000" b="0" i="0" u="none" strike="noStrike">
                <a:solidFill>
                  <a:srgbClr val="000000"/>
                </a:solidFill>
                <a:ea typeface="Pretendard Bold"/>
              </a:rPr>
              <a:t>최적의</a:t>
            </a:r>
            <a:r>
              <a:rPr lang="en-US" sz="30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Bold"/>
              </a:rPr>
              <a:t>키워드</a:t>
            </a: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6400" y="2451100"/>
            <a:ext cx="7150100" cy="72009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3378200" y="3035300"/>
            <a:ext cx="1244600" cy="977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3000" b="0" i="0" u="none" strike="noStrike">
                <a:solidFill>
                  <a:srgbClr val="000000"/>
                </a:solidFill>
                <a:ea typeface="Pretendard Bold"/>
              </a:rPr>
              <a:t>키워드</a:t>
            </a:r>
          </a:p>
          <a:p>
            <a:pPr lvl="0" algn="ctr">
              <a:lnSpc>
                <a:spcPct val="99600"/>
              </a:lnSpc>
            </a:pPr>
            <a:r>
              <a:rPr lang="ko-KR" sz="3000" b="0" i="0" u="none" strike="noStrike">
                <a:solidFill>
                  <a:srgbClr val="000000"/>
                </a:solidFill>
                <a:ea typeface="Pretendard Bold"/>
              </a:rPr>
              <a:t>산출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032500" y="7620000"/>
            <a:ext cx="3187700" cy="520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3000" b="0" i="0" u="none" strike="noStrike">
                <a:solidFill>
                  <a:srgbClr val="000000"/>
                </a:solidFill>
                <a:ea typeface="Pretendard Bold"/>
              </a:rPr>
              <a:t>테스트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09600" y="7620000"/>
            <a:ext cx="1841500" cy="520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3000" b="0" i="0" u="none" strike="noStrike">
                <a:solidFill>
                  <a:srgbClr val="000000"/>
                </a:solidFill>
                <a:ea typeface="Pretendard Bold"/>
              </a:rPr>
              <a:t>데이터</a:t>
            </a:r>
            <a:r>
              <a:rPr lang="en-US" sz="30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Bold"/>
              </a:rPr>
              <a:t>분석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195300" y="330200"/>
            <a:ext cx="46990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16199"/>
              </a:lnSpc>
            </a:pP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마케팅</a:t>
            </a:r>
            <a:r>
              <a:rPr lang="en-US" sz="1800" b="0" i="0" u="none" strike="noStrike" spc="200">
                <a:solidFill>
                  <a:srgbClr val="F4F4EC"/>
                </a:solidFill>
                <a:latin typeface="Pretendard Light"/>
              </a:rPr>
              <a:t> </a:t>
            </a: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전략</a:t>
            </a:r>
            <a:r>
              <a:rPr lang="en-US" sz="1800" b="0" i="0" u="none" strike="noStrike" spc="200">
                <a:solidFill>
                  <a:srgbClr val="F4F4EC"/>
                </a:solidFill>
                <a:latin typeface="Pretendard Light"/>
              </a:rPr>
              <a:t> -</a:t>
            </a: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유입</a:t>
            </a:r>
            <a:r>
              <a:rPr lang="en-US" sz="1800" b="0" i="0" u="none" strike="noStrike" spc="200">
                <a:solidFill>
                  <a:srgbClr val="F4F4EC"/>
                </a:solidFill>
                <a:latin typeface="Pretendard Light"/>
              </a:rPr>
              <a:t> </a:t>
            </a: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전략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5400"/>
            <a:ext cx="18376900" cy="114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03200" y="12700"/>
            <a:ext cx="18605500" cy="1879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376900" cy="1143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5613400" y="431800"/>
            <a:ext cx="7073900" cy="977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ko-KR" sz="5500" b="0" i="0" u="none" strike="noStrike">
                <a:solidFill>
                  <a:srgbClr val="FFFFFF"/>
                </a:solidFill>
                <a:ea typeface="Pretendard SemiBold"/>
              </a:rPr>
              <a:t>검색</a:t>
            </a:r>
            <a:r>
              <a:rPr lang="en-US" sz="5500" b="0" i="0" u="none" strike="noStrike">
                <a:solidFill>
                  <a:srgbClr val="FFFFFF"/>
                </a:solidFill>
                <a:latin typeface="Pretendard SemiBold"/>
              </a:rPr>
              <a:t> </a:t>
            </a:r>
            <a:r>
              <a:rPr lang="ko-KR" sz="5500" b="0" i="0" u="none" strike="noStrike">
                <a:solidFill>
                  <a:srgbClr val="FFFFFF"/>
                </a:solidFill>
                <a:ea typeface="Pretendard SemiBold"/>
              </a:rPr>
              <a:t>키워드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95700" y="4991100"/>
            <a:ext cx="4749800" cy="43180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3937000" y="5486400"/>
            <a:ext cx="4292600" cy="3822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342900" lvl="0" indent="-342900" algn="l">
              <a:lnSpc>
                <a:spcPct val="146079"/>
              </a:lnSpc>
              <a:buClr>
                <a:srgbClr val="000000"/>
              </a:buClr>
              <a:buFont typeface="Arial"/>
              <a:buChar char="●"/>
            </a:pPr>
            <a:r>
              <a:rPr lang="ko-KR" sz="3000" b="0" i="0" u="none" strike="noStrike">
                <a:solidFill>
                  <a:srgbClr val="000000"/>
                </a:solidFill>
                <a:ea typeface="Pretendard Regular"/>
              </a:rPr>
              <a:t>키워드의</a:t>
            </a:r>
            <a:r>
              <a:rPr lang="en-US" sz="3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Regular"/>
              </a:rPr>
              <a:t>월간</a:t>
            </a:r>
            <a:r>
              <a:rPr lang="en-US" sz="3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Regular"/>
              </a:rPr>
              <a:t>검색</a:t>
            </a:r>
            <a:r>
              <a:rPr lang="en-US" sz="3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Regular"/>
              </a:rPr>
              <a:t>수</a:t>
            </a:r>
            <a:r>
              <a:rPr lang="en-US" sz="3000" b="0" i="0" u="none" strike="noStrike">
                <a:solidFill>
                  <a:srgbClr val="000000"/>
                </a:solidFill>
                <a:latin typeface="Pretendard Regular"/>
              </a:rPr>
              <a:t> </a:t>
            </a:r>
          </a:p>
          <a:p>
            <a:pPr marL="342900" lvl="0" indent="-342900" algn="l">
              <a:lnSpc>
                <a:spcPct val="146079"/>
              </a:lnSpc>
              <a:buClr>
                <a:srgbClr val="000000"/>
              </a:buClr>
              <a:buFont typeface="Arial"/>
              <a:buChar char="●"/>
            </a:pPr>
            <a:r>
              <a:rPr lang="ko-KR" sz="3000" b="0" i="0" u="none" strike="noStrike">
                <a:solidFill>
                  <a:srgbClr val="000000"/>
                </a:solidFill>
                <a:ea typeface="Pretendard Regular"/>
              </a:rPr>
              <a:t>키워드의</a:t>
            </a:r>
            <a:r>
              <a:rPr lang="en-US" sz="3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Regular"/>
              </a:rPr>
              <a:t>월간</a:t>
            </a:r>
            <a:r>
              <a:rPr lang="en-US" sz="3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Regular"/>
              </a:rPr>
              <a:t>클릭</a:t>
            </a:r>
            <a:r>
              <a:rPr lang="en-US" sz="3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Regular"/>
              </a:rPr>
              <a:t>수</a:t>
            </a:r>
            <a:r>
              <a:rPr lang="en-US" sz="3000" b="0" i="0" u="none" strike="noStrike">
                <a:solidFill>
                  <a:srgbClr val="000000"/>
                </a:solidFill>
                <a:latin typeface="Pretendard Regular"/>
              </a:rPr>
              <a:t> </a:t>
            </a:r>
          </a:p>
          <a:p>
            <a:pPr marL="342900" lvl="0" indent="-342900" algn="l">
              <a:lnSpc>
                <a:spcPct val="146079"/>
              </a:lnSpc>
              <a:buClr>
                <a:srgbClr val="000000"/>
              </a:buClr>
              <a:buFont typeface="Arial"/>
              <a:buChar char="●"/>
            </a:pPr>
            <a:r>
              <a:rPr lang="ko-KR" sz="3000" b="0" i="0" u="none" strike="noStrike">
                <a:solidFill>
                  <a:srgbClr val="000000"/>
                </a:solidFill>
                <a:ea typeface="Pretendard Regular"/>
              </a:rPr>
              <a:t>키워드의</a:t>
            </a:r>
            <a:r>
              <a:rPr lang="en-US" sz="3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Regular"/>
              </a:rPr>
              <a:t>월</a:t>
            </a:r>
            <a:r>
              <a:rPr lang="en-US" sz="3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Regular"/>
              </a:rPr>
              <a:t>평균</a:t>
            </a:r>
            <a:r>
              <a:rPr lang="en-US" sz="3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Regular"/>
              </a:rPr>
              <a:t>클릭률</a:t>
            </a:r>
          </a:p>
          <a:p>
            <a:pPr marL="342900" lvl="0" indent="-342900" algn="l">
              <a:lnSpc>
                <a:spcPct val="146079"/>
              </a:lnSpc>
              <a:buClr>
                <a:srgbClr val="000000"/>
              </a:buClr>
              <a:buFont typeface="Arial"/>
              <a:buChar char="●"/>
            </a:pPr>
            <a:r>
              <a:rPr lang="ko-KR" sz="3000" b="0" i="0" u="none" strike="noStrike">
                <a:solidFill>
                  <a:srgbClr val="000000"/>
                </a:solidFill>
                <a:ea typeface="Pretendard Regular"/>
              </a:rPr>
              <a:t>경쟁정도</a:t>
            </a:r>
          </a:p>
          <a:p>
            <a:pPr marL="342900" lvl="0" indent="-342900" algn="l">
              <a:lnSpc>
                <a:spcPct val="146079"/>
              </a:lnSpc>
              <a:buClr>
                <a:srgbClr val="000000"/>
              </a:buClr>
              <a:buFont typeface="Arial"/>
              <a:buChar char="●"/>
            </a:pPr>
            <a:r>
              <a:rPr lang="ko-KR" sz="3000" b="0" i="0" u="none" strike="noStrike">
                <a:solidFill>
                  <a:srgbClr val="000000"/>
                </a:solidFill>
                <a:ea typeface="Pretendard Regular"/>
              </a:rPr>
              <a:t>월평균</a:t>
            </a:r>
            <a:r>
              <a:rPr lang="en-US" sz="3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Regular"/>
              </a:rPr>
              <a:t>노출</a:t>
            </a:r>
            <a:r>
              <a:rPr lang="en-US" sz="3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Regular"/>
              </a:rPr>
              <a:t>광고수</a:t>
            </a: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31400" y="4991100"/>
            <a:ext cx="4749800" cy="43180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0706100" y="6578600"/>
            <a:ext cx="3365500" cy="1193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342900" lvl="0" indent="-342900" algn="l">
              <a:lnSpc>
                <a:spcPct val="146079"/>
              </a:lnSpc>
              <a:buClr>
                <a:srgbClr val="000000"/>
              </a:buClr>
              <a:buFont typeface="Arial"/>
              <a:buChar char="●"/>
            </a:pPr>
            <a:r>
              <a:rPr lang="ko-KR" sz="3000" b="0" i="0" u="none" strike="noStrike">
                <a:solidFill>
                  <a:srgbClr val="000000"/>
                </a:solidFill>
                <a:ea typeface="Pretendard Regular"/>
              </a:rPr>
              <a:t>키워드</a:t>
            </a:r>
            <a:r>
              <a:rPr lang="en-US" sz="3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Regular"/>
              </a:rPr>
              <a:t>상품</a:t>
            </a:r>
            <a:r>
              <a:rPr lang="en-US" sz="3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Regular"/>
              </a:rPr>
              <a:t>수</a:t>
            </a:r>
            <a:r>
              <a:rPr lang="en-US" sz="3000" b="0" i="0" u="none" strike="noStrike">
                <a:solidFill>
                  <a:srgbClr val="000000"/>
                </a:solidFill>
                <a:latin typeface="Pretendard Regular"/>
              </a:rPr>
              <a:t>  </a:t>
            </a:r>
          </a:p>
          <a:p>
            <a:pPr marL="342900" lvl="0" indent="-342900" algn="l">
              <a:lnSpc>
                <a:spcPct val="146079"/>
              </a:lnSpc>
              <a:buClr>
                <a:srgbClr val="000000"/>
              </a:buClr>
              <a:buFont typeface="Arial"/>
              <a:buChar char="●"/>
            </a:pPr>
            <a:r>
              <a:rPr lang="ko-KR" sz="3000" b="0" i="0" u="none" strike="noStrike">
                <a:solidFill>
                  <a:srgbClr val="000000"/>
                </a:solidFill>
                <a:ea typeface="Pretendard Regular"/>
              </a:rPr>
              <a:t>클릭대비</a:t>
            </a:r>
            <a:r>
              <a:rPr lang="en-US" sz="3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Regular"/>
              </a:rPr>
              <a:t>광고비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343400" y="4102100"/>
            <a:ext cx="3276600" cy="520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3000" b="0" i="0" u="none" strike="noStrike">
                <a:solidFill>
                  <a:srgbClr val="000000"/>
                </a:solidFill>
                <a:ea typeface="Pretendard SemiBold"/>
              </a:rPr>
              <a:t>네이버</a:t>
            </a:r>
            <a:r>
              <a:rPr lang="en-US" sz="30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SemiBold"/>
              </a:rPr>
              <a:t>검색광고</a:t>
            </a:r>
            <a:r>
              <a:rPr lang="en-US" sz="3000" b="0" i="0" u="none" strike="noStrike">
                <a:solidFill>
                  <a:srgbClr val="000000"/>
                </a:solidFill>
                <a:latin typeface="Pretendard SemiBold"/>
              </a:rPr>
              <a:t> API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744200" y="4102100"/>
            <a:ext cx="2984500" cy="520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3000" b="0" i="0" u="none" strike="noStrike">
                <a:solidFill>
                  <a:srgbClr val="000000"/>
                </a:solidFill>
                <a:latin typeface="Pretendard SemiBold"/>
              </a:rPr>
              <a:t>itemscout </a:t>
            </a:r>
            <a:r>
              <a:rPr lang="ko-KR" sz="3000" b="0" i="0" u="none" strike="noStrike">
                <a:solidFill>
                  <a:srgbClr val="000000"/>
                </a:solidFill>
                <a:ea typeface="Pretendard SemiBold"/>
              </a:rPr>
              <a:t>크롤링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-355600" y="2019300"/>
            <a:ext cx="3441700" cy="520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3000" b="0" i="0" u="none" strike="noStrike">
                <a:solidFill>
                  <a:srgbClr val="8D776A"/>
                </a:solidFill>
                <a:latin typeface="Pretendard Bold"/>
              </a:rPr>
              <a:t>[ </a:t>
            </a:r>
            <a:r>
              <a:rPr lang="ko-KR" sz="3000" b="0" i="0" u="none" strike="noStrike">
                <a:solidFill>
                  <a:srgbClr val="8D776A"/>
                </a:solidFill>
                <a:ea typeface="Pretendard Bold"/>
              </a:rPr>
              <a:t>데이터</a:t>
            </a:r>
            <a:r>
              <a:rPr lang="en-US" sz="3000" b="0" i="0" u="none" strike="noStrike">
                <a:solidFill>
                  <a:srgbClr val="8D776A"/>
                </a:solidFill>
                <a:latin typeface="Pretendard Bold"/>
              </a:rPr>
              <a:t> </a:t>
            </a:r>
            <a:r>
              <a:rPr lang="ko-KR" sz="3000" b="0" i="0" u="none" strike="noStrike">
                <a:solidFill>
                  <a:srgbClr val="8D776A"/>
                </a:solidFill>
                <a:ea typeface="Pretendard Bold"/>
              </a:rPr>
              <a:t>분석</a:t>
            </a:r>
            <a:r>
              <a:rPr lang="en-US" sz="3000" b="0" i="0" u="none" strike="noStrike">
                <a:solidFill>
                  <a:srgbClr val="8D776A"/>
                </a:solidFill>
                <a:latin typeface="Pretendard Bold"/>
              </a:rPr>
              <a:t> ]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195300" y="330200"/>
            <a:ext cx="46990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16199"/>
              </a:lnSpc>
            </a:pP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마케팅</a:t>
            </a:r>
            <a:r>
              <a:rPr lang="en-US" sz="1800" b="0" i="0" u="none" strike="noStrike" spc="200">
                <a:solidFill>
                  <a:srgbClr val="F4F4EC"/>
                </a:solidFill>
                <a:latin typeface="Pretendard Light"/>
              </a:rPr>
              <a:t> </a:t>
            </a: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전략</a:t>
            </a:r>
            <a:r>
              <a:rPr lang="en-US" sz="1800" b="0" i="0" u="none" strike="noStrike" spc="200">
                <a:solidFill>
                  <a:srgbClr val="F4F4EC"/>
                </a:solidFill>
                <a:latin typeface="Pretendard Light"/>
              </a:rPr>
              <a:t> -</a:t>
            </a: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유입</a:t>
            </a:r>
            <a:r>
              <a:rPr lang="en-US" sz="1800" b="0" i="0" u="none" strike="noStrike" spc="200">
                <a:solidFill>
                  <a:srgbClr val="F4F4EC"/>
                </a:solidFill>
                <a:latin typeface="Pretendard Light"/>
              </a:rPr>
              <a:t> </a:t>
            </a: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전략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5400"/>
            <a:ext cx="18376900" cy="114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03200" y="12700"/>
            <a:ext cx="18605500" cy="1879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376900" cy="1143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5613400" y="431800"/>
            <a:ext cx="7073900" cy="977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ko-KR" sz="5500" b="0" i="0" u="none" strike="noStrike">
                <a:solidFill>
                  <a:srgbClr val="FFFFFF"/>
                </a:solidFill>
                <a:ea typeface="Pretendard SemiBold"/>
              </a:rPr>
              <a:t>검색</a:t>
            </a:r>
            <a:r>
              <a:rPr lang="en-US" sz="5500" b="0" i="0" u="none" strike="noStrike">
                <a:solidFill>
                  <a:srgbClr val="FFFFFF"/>
                </a:solidFill>
                <a:latin typeface="Pretendard SemiBold"/>
              </a:rPr>
              <a:t> </a:t>
            </a:r>
            <a:r>
              <a:rPr lang="ko-KR" sz="5500" b="0" i="0" u="none" strike="noStrike">
                <a:solidFill>
                  <a:srgbClr val="FFFFFF"/>
                </a:solidFill>
                <a:ea typeface="Pretendard SemiBold"/>
              </a:rPr>
              <a:t>키워드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65100" y="2209800"/>
            <a:ext cx="4343400" cy="520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900" b="0" i="0" u="none" strike="noStrike">
                <a:solidFill>
                  <a:srgbClr val="8D776A"/>
                </a:solidFill>
                <a:latin typeface="Pretendard Bold"/>
              </a:rPr>
              <a:t>[ </a:t>
            </a:r>
            <a:r>
              <a:rPr lang="ko-KR" sz="2900" b="0" i="0" u="none" strike="noStrike">
                <a:solidFill>
                  <a:srgbClr val="8D776A"/>
                </a:solidFill>
                <a:ea typeface="Pretendard Bold"/>
              </a:rPr>
              <a:t>키워드</a:t>
            </a:r>
            <a:r>
              <a:rPr lang="en-US" sz="2900" b="0" i="0" u="none" strike="noStrike">
                <a:solidFill>
                  <a:srgbClr val="8D776A"/>
                </a:solidFill>
                <a:latin typeface="Pretendard Bold"/>
              </a:rPr>
              <a:t> </a:t>
            </a:r>
            <a:r>
              <a:rPr lang="ko-KR" sz="2900" b="0" i="0" u="none" strike="noStrike">
                <a:solidFill>
                  <a:srgbClr val="8D776A"/>
                </a:solidFill>
                <a:ea typeface="Pretendard Bold"/>
              </a:rPr>
              <a:t>도출</a:t>
            </a:r>
            <a:r>
              <a:rPr lang="en-US" sz="2900" b="0" i="0" u="none" strike="noStrike">
                <a:solidFill>
                  <a:srgbClr val="8D776A"/>
                </a:solidFill>
                <a:latin typeface="Pretendard Bold"/>
              </a:rPr>
              <a:t>/ </a:t>
            </a:r>
            <a:r>
              <a:rPr lang="ko-KR" sz="2900" b="0" i="0" u="none" strike="noStrike">
                <a:solidFill>
                  <a:srgbClr val="8D776A"/>
                </a:solidFill>
                <a:ea typeface="Pretendard Bold"/>
              </a:rPr>
              <a:t>테스트</a:t>
            </a:r>
            <a:r>
              <a:rPr lang="en-US" sz="2900" b="0" i="0" u="none" strike="noStrike">
                <a:solidFill>
                  <a:srgbClr val="8D776A"/>
                </a:solidFill>
                <a:latin typeface="Pretendard Bold"/>
              </a:rPr>
              <a:t> ]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85300" y="6692900"/>
            <a:ext cx="2806700" cy="10287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2600" y="4140200"/>
            <a:ext cx="7315200" cy="10033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72600" y="5422900"/>
            <a:ext cx="6248400" cy="9779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95400" y="3606800"/>
            <a:ext cx="6794500" cy="61722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1549400" y="4851400"/>
            <a:ext cx="6324600" cy="3835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342900" lvl="0" indent="-342900" algn="l">
              <a:lnSpc>
                <a:spcPct val="99600"/>
              </a:lnSpc>
              <a:buClr>
                <a:srgbClr val="000000"/>
              </a:buClr>
              <a:buFont typeface="Arial"/>
              <a:buChar char="●"/>
            </a:pP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5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일마다의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테스트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및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지표확인</a:t>
            </a:r>
            <a:b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</a:br>
            <a:endParaRPr lang="ko-KR" sz="3500" b="0" i="0" u="none" strike="noStrike">
              <a:solidFill>
                <a:srgbClr val="000000"/>
              </a:solidFill>
              <a:ea typeface="Pretendard Regular"/>
            </a:endParaRPr>
          </a:p>
          <a:p>
            <a:pPr marL="342900" lvl="0" indent="-342900" algn="l">
              <a:lnSpc>
                <a:spcPct val="99600"/>
              </a:lnSpc>
              <a:buClr>
                <a:srgbClr val="000000"/>
              </a:buClr>
              <a:buFont typeface="Arial"/>
              <a:buChar char="●"/>
            </a:pP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지표를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통한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제외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키워드와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추가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테스트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키워드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선정</a:t>
            </a:r>
            <a:b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</a:br>
            <a:endParaRPr lang="ko-KR" sz="3500" b="0" i="0" u="none" strike="noStrike">
              <a:solidFill>
                <a:srgbClr val="000000"/>
              </a:solidFill>
              <a:ea typeface="Pretendard Regular"/>
            </a:endParaRPr>
          </a:p>
          <a:p>
            <a:pPr marL="342900" lvl="0" indent="-342900" algn="l">
              <a:lnSpc>
                <a:spcPct val="99600"/>
              </a:lnSpc>
              <a:buClr>
                <a:srgbClr val="000000"/>
              </a:buClr>
              <a:buFont typeface="Arial"/>
              <a:buChar char="●"/>
            </a:pP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데이터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분석을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통한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추가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키워드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산출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 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195300" y="330200"/>
            <a:ext cx="46990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16199"/>
              </a:lnSpc>
            </a:pP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마케팅</a:t>
            </a:r>
            <a:r>
              <a:rPr lang="en-US" sz="1800" b="0" i="0" u="none" strike="noStrike" spc="200">
                <a:solidFill>
                  <a:srgbClr val="F4F4EC"/>
                </a:solidFill>
                <a:latin typeface="Pretendard Light"/>
              </a:rPr>
              <a:t> </a:t>
            </a: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전략</a:t>
            </a:r>
            <a:r>
              <a:rPr lang="en-US" sz="1800" b="0" i="0" u="none" strike="noStrike" spc="200">
                <a:solidFill>
                  <a:srgbClr val="F4F4EC"/>
                </a:solidFill>
                <a:latin typeface="Pretendard Light"/>
              </a:rPr>
              <a:t> -</a:t>
            </a: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유입</a:t>
            </a:r>
            <a:r>
              <a:rPr lang="en-US" sz="1800" b="0" i="0" u="none" strike="noStrike" spc="200">
                <a:solidFill>
                  <a:srgbClr val="F4F4EC"/>
                </a:solidFill>
                <a:latin typeface="Pretendard Light"/>
              </a:rPr>
              <a:t> </a:t>
            </a: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전략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03200" y="12700"/>
            <a:ext cx="18605500" cy="1879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8376900" cy="114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4900" y="4521200"/>
            <a:ext cx="6172200" cy="46355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5613400" y="127000"/>
            <a:ext cx="7073900" cy="1676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5500" b="0" i="0" u="none" strike="noStrike">
                <a:solidFill>
                  <a:srgbClr val="FFFFFF"/>
                </a:solidFill>
                <a:latin typeface="Pretendard SemiBold"/>
              </a:rPr>
              <a:t>SNS </a:t>
            </a:r>
            <a:r>
              <a:rPr lang="ko-KR" sz="5500" b="0" i="0" u="none" strike="noStrike">
                <a:solidFill>
                  <a:srgbClr val="FFFFFF"/>
                </a:solidFill>
                <a:ea typeface="Pretendard SemiBold"/>
              </a:rPr>
              <a:t>채널</a:t>
            </a:r>
            <a:r>
              <a:rPr lang="en-US" sz="5500" b="0" i="0" u="none" strike="noStrike">
                <a:solidFill>
                  <a:srgbClr val="FFFFFF"/>
                </a:solidFill>
                <a:latin typeface="Pretendard SemiBold"/>
              </a:rPr>
              <a:t> </a:t>
            </a:r>
            <a:r>
              <a:rPr lang="ko-KR" sz="5500" b="0" i="0" u="none" strike="noStrike">
                <a:solidFill>
                  <a:srgbClr val="FFFFFF"/>
                </a:solidFill>
                <a:ea typeface="Pretendard SemiBold"/>
              </a:rPr>
              <a:t>컨텐츠</a:t>
            </a:r>
            <a:r>
              <a:rPr lang="en-US" sz="5500" b="0" i="0" u="none" strike="noStrike">
                <a:solidFill>
                  <a:srgbClr val="FFFFFF"/>
                </a:solidFill>
                <a:latin typeface="Pretendard SemiBold"/>
              </a:rPr>
              <a:t> </a:t>
            </a:r>
            <a:r>
              <a:rPr lang="ko-KR" sz="5500" b="0" i="0" u="none" strike="noStrike">
                <a:solidFill>
                  <a:srgbClr val="FFFFFF"/>
                </a:solidFill>
                <a:ea typeface="Pretendard SemiBold"/>
              </a:rPr>
              <a:t>마케팅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3195300" y="330200"/>
            <a:ext cx="46990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16199"/>
              </a:lnSpc>
            </a:pP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마케팅</a:t>
            </a:r>
            <a:r>
              <a:rPr lang="en-US" sz="1800" b="0" i="0" u="none" strike="noStrike" spc="200">
                <a:solidFill>
                  <a:srgbClr val="F4F4EC"/>
                </a:solidFill>
                <a:latin typeface="Pretendard Light"/>
              </a:rPr>
              <a:t> </a:t>
            </a: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전략</a:t>
            </a:r>
            <a:r>
              <a:rPr lang="en-US" sz="1800" b="0" i="0" u="none" strike="noStrike" spc="200">
                <a:solidFill>
                  <a:srgbClr val="F4F4EC"/>
                </a:solidFill>
                <a:latin typeface="Pretendard Light"/>
              </a:rPr>
              <a:t> -</a:t>
            </a: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유입</a:t>
            </a:r>
            <a:r>
              <a:rPr lang="en-US" sz="1800" b="0" i="0" u="none" strike="noStrike" spc="200">
                <a:solidFill>
                  <a:srgbClr val="F4F4EC"/>
                </a:solidFill>
                <a:latin typeface="Pretendard Light"/>
              </a:rPr>
              <a:t> </a:t>
            </a: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전략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4300" y="2743200"/>
            <a:ext cx="5118100" cy="520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3000" b="0" i="0" u="none" strike="noStrike">
                <a:solidFill>
                  <a:srgbClr val="000000"/>
                </a:solidFill>
                <a:latin typeface="Pretendard Bold"/>
              </a:rPr>
              <a:t>24.01 ~ 24.06 </a:t>
            </a:r>
            <a:r>
              <a:rPr lang="ko-KR" sz="3000" b="0" i="0" u="none" strike="noStrike">
                <a:solidFill>
                  <a:srgbClr val="000000"/>
                </a:solidFill>
                <a:ea typeface="Pretendard Bold"/>
              </a:rPr>
              <a:t>데이터</a:t>
            </a:r>
            <a:r>
              <a:rPr lang="en-US" sz="30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Bold"/>
              </a:rPr>
              <a:t>기준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032000" y="5473700"/>
            <a:ext cx="7264400" cy="1422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인스타그램과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유튜브와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같은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SNS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채널을</a:t>
            </a:r>
            <a:b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</a:b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통해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마케팅을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진행하고있지만</a:t>
            </a:r>
            <a:b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</a:b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트렌드에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맞지않는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컨텐츠로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인한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유입수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저조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03200" y="12700"/>
            <a:ext cx="18605500" cy="1879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8376900" cy="114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2500" y="3810000"/>
            <a:ext cx="4318000" cy="49784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5613400" y="127000"/>
            <a:ext cx="7073900" cy="1676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5500" b="0" i="0" u="none" strike="noStrike">
                <a:solidFill>
                  <a:srgbClr val="FFFFFF"/>
                </a:solidFill>
                <a:latin typeface="Pretendard SemiBold"/>
              </a:rPr>
              <a:t>SNS </a:t>
            </a:r>
            <a:r>
              <a:rPr lang="ko-KR" sz="5500" b="0" i="0" u="none" strike="noStrike">
                <a:solidFill>
                  <a:srgbClr val="FFFFFF"/>
                </a:solidFill>
                <a:ea typeface="Pretendard SemiBold"/>
              </a:rPr>
              <a:t>채널</a:t>
            </a:r>
            <a:r>
              <a:rPr lang="en-US" sz="5500" b="0" i="0" u="none" strike="noStrike">
                <a:solidFill>
                  <a:srgbClr val="FFFFFF"/>
                </a:solidFill>
                <a:latin typeface="Pretendard SemiBold"/>
              </a:rPr>
              <a:t> </a:t>
            </a:r>
            <a:r>
              <a:rPr lang="ko-KR" sz="5500" b="0" i="0" u="none" strike="noStrike">
                <a:solidFill>
                  <a:srgbClr val="FFFFFF"/>
                </a:solidFill>
                <a:ea typeface="Pretendard SemiBold"/>
              </a:rPr>
              <a:t>컨텐츠</a:t>
            </a:r>
            <a:r>
              <a:rPr lang="en-US" sz="5500" b="0" i="0" u="none" strike="noStrike">
                <a:solidFill>
                  <a:srgbClr val="FFFFFF"/>
                </a:solidFill>
                <a:latin typeface="Pretendard SemiBold"/>
              </a:rPr>
              <a:t> </a:t>
            </a:r>
            <a:r>
              <a:rPr lang="ko-KR" sz="5500" b="0" i="0" u="none" strike="noStrike">
                <a:solidFill>
                  <a:srgbClr val="FFFFFF"/>
                </a:solidFill>
                <a:ea typeface="Pretendard SemiBold"/>
              </a:rPr>
              <a:t>마케팅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3195300" y="330200"/>
            <a:ext cx="46990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16199"/>
              </a:lnSpc>
            </a:pP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마케팅</a:t>
            </a:r>
            <a:r>
              <a:rPr lang="en-US" sz="1800" b="0" i="0" u="none" strike="noStrike" spc="200">
                <a:solidFill>
                  <a:srgbClr val="F4F4EC"/>
                </a:solidFill>
                <a:latin typeface="Pretendard Light"/>
              </a:rPr>
              <a:t> </a:t>
            </a: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전략</a:t>
            </a:r>
            <a:r>
              <a:rPr lang="en-US" sz="1800" b="0" i="0" u="none" strike="noStrike" spc="200">
                <a:solidFill>
                  <a:srgbClr val="F4F4EC"/>
                </a:solidFill>
                <a:latin typeface="Pretendard Light"/>
              </a:rPr>
              <a:t> -</a:t>
            </a: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유입</a:t>
            </a:r>
            <a:r>
              <a:rPr lang="en-US" sz="1800" b="0" i="0" u="none" strike="noStrike" spc="200">
                <a:solidFill>
                  <a:srgbClr val="F4F4EC"/>
                </a:solidFill>
                <a:latin typeface="Pretendard Light"/>
              </a:rPr>
              <a:t> </a:t>
            </a: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전략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023100" y="2628900"/>
            <a:ext cx="3848100" cy="711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4000" b="0" i="0" u="none" strike="noStrike">
                <a:solidFill>
                  <a:srgbClr val="000000"/>
                </a:solidFill>
                <a:latin typeface="Pretendard Bold"/>
              </a:rPr>
              <a:t>SNS </a:t>
            </a:r>
            <a:r>
              <a:rPr lang="ko-KR" sz="4000" b="0" i="0" u="none" strike="noStrike">
                <a:solidFill>
                  <a:srgbClr val="000000"/>
                </a:solidFill>
                <a:ea typeface="Pretendard Bold"/>
              </a:rPr>
              <a:t>광고</a:t>
            </a:r>
            <a:r>
              <a:rPr lang="en-US" sz="40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4000" b="0" i="0" u="none" strike="noStrike">
                <a:solidFill>
                  <a:srgbClr val="000000"/>
                </a:solidFill>
                <a:ea typeface="Pretendard Bold"/>
              </a:rPr>
              <a:t>기획안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06400" y="3238500"/>
            <a:ext cx="4076700" cy="1892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342900" lvl="0" indent="-342900" algn="l">
              <a:lnSpc>
                <a:spcPct val="99600"/>
              </a:lnSpc>
              <a:buAutoNum type="arabicPeriod"/>
            </a:pP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타겟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고객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및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목표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설정</a:t>
            </a:r>
            <a:b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</a:br>
            <a:endParaRPr lang="ko-KR" sz="3000" b="0" i="0" u="none" strike="noStrike">
              <a:solidFill>
                <a:srgbClr val="000000"/>
              </a:solidFill>
              <a:ea typeface="Pretendard Medium"/>
            </a:endParaRPr>
          </a:p>
          <a:p>
            <a:pPr lvl="0" algn="l">
              <a:lnSpc>
                <a:spcPct val="99600"/>
              </a:lnSpc>
            </a:pP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     1.1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타겟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고객분석</a:t>
            </a:r>
          </a:p>
          <a:p>
            <a:pPr lvl="0" algn="l">
              <a:lnSpc>
                <a:spcPct val="99600"/>
              </a:lnSpc>
            </a:pP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     1.2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목표설정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06400" y="5410200"/>
            <a:ext cx="4851400" cy="4584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2,.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매력적인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릴스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콘텐츠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제작</a:t>
            </a:r>
          </a:p>
          <a:p>
            <a:pPr lvl="0" algn="l">
              <a:lnSpc>
                <a:spcPct val="99600"/>
              </a:lnSpc>
            </a:pP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  </a:t>
            </a:r>
          </a:p>
          <a:p>
            <a:pPr lvl="0" algn="l">
              <a:lnSpc>
                <a:spcPct val="99600"/>
              </a:lnSpc>
            </a:pP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     2.1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트렌드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파악</a:t>
            </a:r>
          </a:p>
          <a:p>
            <a:pPr marL="1104900" lvl="2" indent="-342900" algn="l">
              <a:lnSpc>
                <a:spcPct val="99600"/>
              </a:lnSpc>
              <a:buClr>
                <a:srgbClr val="000000"/>
              </a:buClr>
              <a:buFont typeface="Arial"/>
              <a:buChar char="■"/>
            </a:pP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 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인스타그램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릴스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탐색</a:t>
            </a:r>
          </a:p>
          <a:p>
            <a:pPr marL="1104900" lvl="2" indent="-342900" algn="l">
              <a:lnSpc>
                <a:spcPct val="99600"/>
              </a:lnSpc>
              <a:buClr>
                <a:srgbClr val="000000"/>
              </a:buClr>
              <a:buFont typeface="Arial"/>
              <a:buChar char="■"/>
            </a:pP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 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경쟁사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분석</a:t>
            </a:r>
          </a:p>
          <a:p>
            <a:pPr marL="1104900" lvl="2" indent="-342900" algn="l">
              <a:lnSpc>
                <a:spcPct val="99600"/>
              </a:lnSpc>
              <a:buClr>
                <a:srgbClr val="000000"/>
              </a:buClr>
              <a:buFont typeface="Arial"/>
              <a:buChar char="■"/>
            </a:pP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 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온라인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트렌드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분석</a:t>
            </a:r>
          </a:p>
          <a:p>
            <a:pPr lvl="0" algn="l">
              <a:lnSpc>
                <a:spcPct val="99600"/>
              </a:lnSpc>
            </a:pP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     2.2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콘텐츠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기획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728700" y="2133600"/>
            <a:ext cx="3746500" cy="792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3.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효과적인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릴스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홍보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및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분석</a:t>
            </a:r>
          </a:p>
          <a:p>
            <a:pPr lvl="0" algn="l">
              <a:lnSpc>
                <a:spcPct val="99600"/>
              </a:lnSpc>
            </a:pP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     3.1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적절한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해시태그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활용</a:t>
            </a:r>
          </a:p>
          <a:p>
            <a:pPr marL="927100" lvl="2" indent="-342900" algn="l">
              <a:lnSpc>
                <a:spcPct val="99600"/>
              </a:lnSpc>
              <a:buClr>
                <a:srgbClr val="000000"/>
              </a:buClr>
              <a:buFont typeface="Arial"/>
              <a:buChar char="■"/>
            </a:pP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관련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키워드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,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트렌드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해시태그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,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브랜드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해시태그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활용</a:t>
            </a:r>
          </a:p>
          <a:p>
            <a:pPr marL="927100" lvl="2" indent="-342900" algn="l">
              <a:lnSpc>
                <a:spcPct val="99600"/>
              </a:lnSpc>
              <a:buClr>
                <a:srgbClr val="000000"/>
              </a:buClr>
              <a:buFont typeface="Arial"/>
              <a:buChar char="■"/>
            </a:pP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해시태그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개수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조절</a:t>
            </a:r>
          </a:p>
          <a:p>
            <a:pPr lvl="0" algn="l">
              <a:lnSpc>
                <a:spcPct val="99600"/>
              </a:lnSpc>
            </a:pP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     </a:t>
            </a:r>
          </a:p>
          <a:p>
            <a:pPr lvl="0" algn="l">
              <a:lnSpc>
                <a:spcPct val="99600"/>
              </a:lnSpc>
            </a:pP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     3.2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타겟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고객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맞춤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홍보</a:t>
            </a:r>
          </a:p>
          <a:p>
            <a:pPr marL="927100" lvl="2" indent="-342900" algn="l">
              <a:lnSpc>
                <a:spcPct val="99600"/>
              </a:lnSpc>
              <a:buClr>
                <a:srgbClr val="000000"/>
              </a:buClr>
              <a:buFont typeface="Arial"/>
              <a:buChar char="■"/>
            </a:pP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타겟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고객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활동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시간대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게시</a:t>
            </a:r>
          </a:p>
          <a:p>
            <a:pPr lvl="0" algn="l">
              <a:lnSpc>
                <a:spcPct val="99600"/>
              </a:lnSpc>
            </a:pP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     3.3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참여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유도</a:t>
            </a:r>
          </a:p>
          <a:p>
            <a:pPr marL="927100" lvl="2" indent="-342900" algn="l">
              <a:lnSpc>
                <a:spcPct val="99600"/>
              </a:lnSpc>
              <a:buClr>
                <a:srgbClr val="000000"/>
              </a:buClr>
              <a:buFont typeface="Arial"/>
              <a:buChar char="■"/>
            </a:pP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댓글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이벤트</a:t>
            </a:r>
          </a:p>
          <a:p>
            <a:pPr lvl="0" algn="l">
              <a:lnSpc>
                <a:spcPct val="99600"/>
              </a:lnSpc>
            </a:pP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     3.4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성과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분석</a:t>
            </a:r>
          </a:p>
          <a:p>
            <a:pPr marL="927100" lvl="2" indent="-342900" algn="l">
              <a:lnSpc>
                <a:spcPct val="99600"/>
              </a:lnSpc>
              <a:buClr>
                <a:srgbClr val="000000"/>
              </a:buClr>
              <a:buFont typeface="Arial"/>
              <a:buChar char="■"/>
            </a:pP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조회수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,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좋아요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,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댓글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,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공유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,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저장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등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지표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분석</a:t>
            </a:r>
          </a:p>
          <a:p>
            <a:pPr marL="927100" lvl="2" indent="-342900" algn="l">
              <a:lnSpc>
                <a:spcPct val="99600"/>
              </a:lnSpc>
              <a:buClr>
                <a:srgbClr val="000000"/>
              </a:buClr>
              <a:buFont typeface="Arial"/>
              <a:buChar char="■"/>
            </a:pP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인구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통계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정보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,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관심사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분석</a:t>
            </a:r>
          </a:p>
          <a:p>
            <a:pPr marL="927100" lvl="2" indent="-342900" algn="l">
              <a:lnSpc>
                <a:spcPct val="99600"/>
              </a:lnSpc>
              <a:buClr>
                <a:srgbClr val="000000"/>
              </a:buClr>
              <a:buFont typeface="Arial"/>
              <a:buChar char="■"/>
            </a:pP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A/B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테스트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03200" y="12700"/>
            <a:ext cx="18605500" cy="1879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8376900" cy="1143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5613400" y="127000"/>
            <a:ext cx="7073900" cy="1676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5500" b="0" i="0" u="none" strike="noStrike">
                <a:solidFill>
                  <a:srgbClr val="FFFFFF"/>
                </a:solidFill>
                <a:latin typeface="Pretendard SemiBold"/>
              </a:rPr>
              <a:t>SNS </a:t>
            </a:r>
            <a:r>
              <a:rPr lang="ko-KR" sz="5500" b="0" i="0" u="none" strike="noStrike">
                <a:solidFill>
                  <a:srgbClr val="FFFFFF"/>
                </a:solidFill>
                <a:ea typeface="Pretendard SemiBold"/>
              </a:rPr>
              <a:t>채널</a:t>
            </a:r>
            <a:r>
              <a:rPr lang="en-US" sz="5500" b="0" i="0" u="none" strike="noStrike">
                <a:solidFill>
                  <a:srgbClr val="FFFFFF"/>
                </a:solidFill>
                <a:latin typeface="Pretendard SemiBold"/>
              </a:rPr>
              <a:t> </a:t>
            </a:r>
            <a:r>
              <a:rPr lang="ko-KR" sz="5500" b="0" i="0" u="none" strike="noStrike">
                <a:solidFill>
                  <a:srgbClr val="FFFFFF"/>
                </a:solidFill>
                <a:ea typeface="Pretendard SemiBold"/>
              </a:rPr>
              <a:t>컨텐츠</a:t>
            </a:r>
            <a:r>
              <a:rPr lang="en-US" sz="5500" b="0" i="0" u="none" strike="noStrike">
                <a:solidFill>
                  <a:srgbClr val="FFFFFF"/>
                </a:solidFill>
                <a:latin typeface="Pretendard SemiBold"/>
              </a:rPr>
              <a:t> </a:t>
            </a:r>
            <a:r>
              <a:rPr lang="ko-KR" sz="5500" b="0" i="0" u="none" strike="noStrike">
                <a:solidFill>
                  <a:srgbClr val="FFFFFF"/>
                </a:solidFill>
                <a:ea typeface="Pretendard SemiBold"/>
              </a:rPr>
              <a:t>마케팅</a:t>
            </a:r>
          </a:p>
        </p:txBody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9652000" y="2895600"/>
          <a:ext cx="7848600" cy="7915148"/>
        </p:xfrm>
        <a:graphic>
          <a:graphicData uri="http://schemas.openxmlformats.org/drawingml/2006/table">
            <a:tbl>
              <a:tblPr/>
              <a:tblGrid>
                <a:gridCol w="1308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8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8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08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08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081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20700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씬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 </a:t>
                      </a: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넘버</a:t>
                      </a:r>
                      <a:endParaRPr lang="en-US" sz="1100"/>
                    </a:p>
                  </a:txBody>
                  <a:tcPr marL="19050" marR="19050" marT="19050" marB="19050" anchor="ctr">
                    <a:lnL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화면</a:t>
                      </a:r>
                      <a:endParaRPr lang="en-US" sz="1100"/>
                    </a:p>
                  </a:txBody>
                  <a:tcPr marL="19050" marR="19050" marT="19050" marB="19050" anchor="ctr">
                    <a:lnL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상황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 </a:t>
                      </a: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설명</a:t>
                      </a:r>
                      <a:endParaRPr lang="en-US" sz="1100"/>
                    </a:p>
                  </a:txBody>
                  <a:tcPr marL="19050" marR="19050" marT="19050" marB="19050" anchor="ctr">
                    <a:lnL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사운드</a:t>
                      </a:r>
                      <a:endParaRPr lang="en-US" sz="1100"/>
                    </a:p>
                  </a:txBody>
                  <a:tcPr marL="19050" marR="19050" marT="19050" marB="19050" anchor="ctr">
                    <a:lnL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자막</a:t>
                      </a:r>
                      <a:endParaRPr lang="en-US" sz="1100"/>
                    </a:p>
                  </a:txBody>
                  <a:tcPr marL="19050" marR="19050" marT="19050" marB="19050" anchor="ctr">
                    <a:lnL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소요시간</a:t>
                      </a:r>
                      <a:endParaRPr lang="en-US" sz="1100"/>
                    </a:p>
                  </a:txBody>
                  <a:tcPr marL="19050" marR="19050" marT="19050" marB="19050" anchor="ctr">
                    <a:lnL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95400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#1</a:t>
                      </a:r>
                      <a:endParaRPr lang="en-US" sz="1100"/>
                    </a:p>
                  </a:txBody>
                  <a:tcPr marL="19050" marR="19050" marT="19050" marB="19050" anchor="ctr">
                    <a:lnL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/>
                    </a:p>
                  </a:txBody>
                  <a:tcPr marL="19050" marR="19050" marT="19050" marB="19050" anchor="ctr">
                    <a:lnL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썸네일</a:t>
                      </a:r>
                      <a:endParaRPr lang="en-US" sz="1100"/>
                    </a:p>
                  </a:txBody>
                  <a:tcPr marL="19050" marR="19050" marT="19050" marB="19050" anchor="ctr">
                    <a:lnL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맛잇는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 </a:t>
                      </a: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간식</a:t>
                      </a:r>
                      <a:endParaRPr lang="en-US" sz="1100"/>
                    </a:p>
                    <a:p>
                      <a:pPr lvl="0" algn="ctr">
                        <a:lnSpc>
                          <a:spcPct val="116199"/>
                        </a:lnSpc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- </a:t>
                      </a: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제이레빗</a:t>
                      </a:r>
                    </a:p>
                  </a:txBody>
                  <a:tcPr marL="19050" marR="19050" marT="19050" marB="19050" anchor="ctr">
                    <a:lnL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호두강정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 </a:t>
                      </a: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꿀조합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 best 2</a:t>
                      </a:r>
                      <a:endParaRPr lang="en-US" sz="1100"/>
                    </a:p>
                  </a:txBody>
                  <a:tcPr marL="19050" marR="19050" marT="19050" marB="19050" anchor="ctr">
                    <a:lnL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2</a:t>
                      </a: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초</a:t>
                      </a:r>
                      <a:endParaRPr lang="en-US" sz="1100"/>
                    </a:p>
                  </a:txBody>
                  <a:tcPr marL="19050" marR="19050" marT="19050" marB="19050" anchor="ctr">
                    <a:lnL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95400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#2</a:t>
                      </a:r>
                      <a:endParaRPr lang="en-US" sz="1100"/>
                    </a:p>
                  </a:txBody>
                  <a:tcPr marL="19050" marR="19050" marT="19050" marB="19050" anchor="ctr">
                    <a:lnL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/>
                    </a:p>
                  </a:txBody>
                  <a:tcPr marL="19050" marR="19050" marT="19050" marB="19050" anchor="ctr">
                    <a:lnL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투명볼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 </a:t>
                      </a: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안에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 </a:t>
                      </a: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담긴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 </a:t>
                      </a: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그릭요거트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 </a:t>
                      </a: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위에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 </a:t>
                      </a: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강정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 </a:t>
                      </a: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뿌려놓고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 </a:t>
                      </a: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시럽뿌리는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 </a:t>
                      </a: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장면</a:t>
                      </a:r>
                      <a:endParaRPr lang="en-US" sz="1100"/>
                    </a:p>
                  </a:txBody>
                  <a:tcPr marL="19050" marR="19050" marT="19050" marB="19050" anchor="ctr">
                    <a:lnL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/>
                    </a:p>
                  </a:txBody>
                  <a:tcPr marL="19050" marR="19050" marT="19050" marB="19050" anchor="ctr">
                    <a:lnL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호두강정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 + </a:t>
                      </a: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그릭요거트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 + </a:t>
                      </a: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블루베리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 + </a:t>
                      </a: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꿀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or</a:t>
                      </a: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메실청</a:t>
                      </a:r>
                      <a:endParaRPr lang="en-US" sz="1100"/>
                    </a:p>
                  </a:txBody>
                  <a:tcPr marL="19050" marR="19050" marT="19050" marB="19050" anchor="ctr">
                    <a:lnL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2</a:t>
                      </a: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초</a:t>
                      </a:r>
                      <a:endParaRPr lang="en-US" sz="1100"/>
                    </a:p>
                  </a:txBody>
                  <a:tcPr marL="19050" marR="19050" marT="19050" marB="19050" anchor="ctr">
                    <a:lnL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95400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#3</a:t>
                      </a:r>
                      <a:endParaRPr lang="en-US" sz="1100"/>
                    </a:p>
                  </a:txBody>
                  <a:tcPr marL="19050" marR="19050" marT="19050" marB="19050" anchor="ctr">
                    <a:lnL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/>
                    </a:p>
                  </a:txBody>
                  <a:tcPr marL="19050" marR="19050" marT="19050" marB="19050" anchor="ctr">
                    <a:lnL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투명볼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 </a:t>
                      </a: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안에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 </a:t>
                      </a: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담긴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 </a:t>
                      </a: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아이스크림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 </a:t>
                      </a: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위에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 </a:t>
                      </a: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강정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 </a:t>
                      </a: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뿌려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 </a:t>
                      </a: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놓고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 </a:t>
                      </a: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시럽뿌리는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 </a:t>
                      </a: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장면</a:t>
                      </a:r>
                      <a:endParaRPr lang="en-US" sz="1100"/>
                    </a:p>
                  </a:txBody>
                  <a:tcPr marL="19050" marR="19050" marT="19050" marB="19050" anchor="ctr">
                    <a:lnL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/>
                    </a:p>
                  </a:txBody>
                  <a:tcPr marL="19050" marR="19050" marT="19050" marB="19050" anchor="ctr">
                    <a:lnL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바닐라아이스크림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 + </a:t>
                      </a: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호두강정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+</a:t>
                      </a: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꿀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or</a:t>
                      </a: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초코시럽</a:t>
                      </a:r>
                      <a:endParaRPr lang="en-US" sz="1100"/>
                    </a:p>
                  </a:txBody>
                  <a:tcPr marL="19050" marR="19050" marT="19050" marB="19050" anchor="ctr">
                    <a:lnL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2</a:t>
                      </a: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초</a:t>
                      </a:r>
                      <a:endParaRPr lang="en-US" sz="1100"/>
                    </a:p>
                  </a:txBody>
                  <a:tcPr marL="19050" marR="19050" marT="19050" marB="19050" anchor="ctr">
                    <a:lnL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95400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#4</a:t>
                      </a:r>
                      <a:endParaRPr lang="en-US" sz="1100"/>
                    </a:p>
                  </a:txBody>
                  <a:tcPr marL="19050" marR="19050" marT="19050" marB="19050" anchor="ctr">
                    <a:lnL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/>
                    </a:p>
                  </a:txBody>
                  <a:tcPr marL="19050" marR="19050" marT="19050" marB="19050" anchor="ctr">
                    <a:lnL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먹는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 </a:t>
                      </a: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장면</a:t>
                      </a:r>
                      <a:endParaRPr lang="en-US" sz="1100"/>
                    </a:p>
                  </a:txBody>
                  <a:tcPr marL="19050" marR="19050" marT="19050" marB="19050" anchor="ctr">
                    <a:lnL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/>
                    </a:p>
                  </a:txBody>
                  <a:tcPr marL="19050" marR="19050" marT="19050" marB="19050" anchor="ctr">
                    <a:lnL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냠냠</a:t>
                      </a:r>
                      <a:endParaRPr lang="en-US" sz="1100"/>
                    </a:p>
                  </a:txBody>
                  <a:tcPr marL="19050" marR="19050" marT="19050" marB="19050" anchor="ctr">
                    <a:lnL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5</a:t>
                      </a: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초</a:t>
                      </a:r>
                      <a:endParaRPr lang="en-US" sz="1100"/>
                    </a:p>
                  </a:txBody>
                  <a:tcPr marL="19050" marR="19050" marT="19050" marB="19050" anchor="ctr">
                    <a:lnL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95400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#5</a:t>
                      </a:r>
                      <a:endParaRPr lang="en-US" sz="1100"/>
                    </a:p>
                  </a:txBody>
                  <a:tcPr marL="19050" marR="19050" marT="19050" marB="19050" anchor="ctr">
                    <a:lnL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/>
                    </a:p>
                  </a:txBody>
                  <a:tcPr marL="19050" marR="19050" marT="19050" marB="19050" anchor="ctr">
                    <a:lnL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HU100</a:t>
                      </a: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로고와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 </a:t>
                      </a: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함꼐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 </a:t>
                      </a: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아웃트로</a:t>
                      </a:r>
                      <a:endParaRPr lang="en-US" sz="1100"/>
                    </a:p>
                  </a:txBody>
                  <a:tcPr marL="19050" marR="19050" marT="19050" marB="19050" anchor="ctr">
                    <a:lnL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/>
                    </a:p>
                  </a:txBody>
                  <a:tcPr marL="19050" marR="19050" marT="19050" marB="19050" anchor="ctr">
                    <a:lnL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건강한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 </a:t>
                      </a: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선택</a:t>
                      </a:r>
                      <a:endParaRPr lang="en-US" sz="1100"/>
                    </a:p>
                    <a:p>
                      <a:pPr lvl="0" algn="ctr">
                        <a:lnSpc>
                          <a:spcPct val="116199"/>
                        </a:lnSpc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 hu100</a:t>
                      </a:r>
                    </a:p>
                  </a:txBody>
                  <a:tcPr marL="19050" marR="19050" marT="19050" marB="19050" anchor="ctr">
                    <a:lnL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1</a:t>
                      </a: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초</a:t>
                      </a:r>
                      <a:endParaRPr lang="en-US" sz="1100"/>
                    </a:p>
                  </a:txBody>
                  <a:tcPr marL="19050" marR="19050" marT="19050" marB="19050" anchor="ctr">
                    <a:lnL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6"/>
          <p:cNvSpPr txBox="1"/>
          <p:nvPr/>
        </p:nvSpPr>
        <p:spPr>
          <a:xfrm>
            <a:off x="9601200" y="1981200"/>
            <a:ext cx="2451100" cy="673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3800" b="1" i="0" u="none" strike="noStrike">
                <a:solidFill>
                  <a:srgbClr val="000000"/>
                </a:solidFill>
                <a:ea typeface="Pretendard SemiBold"/>
              </a:rPr>
              <a:t>스토리보드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1700" y="6680200"/>
            <a:ext cx="6146800" cy="15367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1320800" y="6845300"/>
            <a:ext cx="774700" cy="495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0350"/>
              </a:lnSpc>
            </a:pPr>
            <a:r>
              <a:rPr lang="ko-KR" sz="2800" b="1" i="0" u="none" strike="noStrike" spc="-300">
                <a:solidFill>
                  <a:srgbClr val="A3957D"/>
                </a:solidFill>
                <a:ea typeface="Pretendard SemiBold"/>
              </a:rPr>
              <a:t>제목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95400" y="7518400"/>
            <a:ext cx="2311400" cy="482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0350"/>
              </a:lnSpc>
            </a:pPr>
            <a:r>
              <a:rPr lang="ko-KR" sz="2700" b="0" i="0" u="none" strike="noStrike" spc="-300">
                <a:solidFill>
                  <a:srgbClr val="000000"/>
                </a:solidFill>
                <a:ea typeface="Pretendard SemiBold"/>
              </a:rPr>
              <a:t>꿀조합</a:t>
            </a:r>
            <a:r>
              <a:rPr lang="en-US" sz="2700" b="0" i="0" u="none" strike="noStrike" spc="-300">
                <a:solidFill>
                  <a:srgbClr val="000000"/>
                </a:solidFill>
                <a:latin typeface="Pretendard SemiBold"/>
              </a:rPr>
              <a:t> Best 2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1700" y="4826000"/>
            <a:ext cx="6146800" cy="15367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1320800" y="4965700"/>
            <a:ext cx="1473200" cy="495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0350"/>
              </a:lnSpc>
            </a:pPr>
            <a:r>
              <a:rPr lang="ko-KR" sz="2800" b="1" i="0" u="none" strike="noStrike" spc="-300">
                <a:solidFill>
                  <a:srgbClr val="A3957D"/>
                </a:solidFill>
                <a:ea typeface="Pretendard SemiBold"/>
              </a:rPr>
              <a:t>타겟층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95400" y="5702300"/>
            <a:ext cx="5346700" cy="482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0350"/>
              </a:lnSpc>
            </a:pPr>
            <a:r>
              <a:rPr lang="en-US" sz="2700" b="0" i="0" u="none" strike="noStrike" spc="-300">
                <a:solidFill>
                  <a:srgbClr val="000000"/>
                </a:solidFill>
                <a:latin typeface="Pretendard SemiBold"/>
              </a:rPr>
              <a:t>20~30</a:t>
            </a:r>
            <a:r>
              <a:rPr lang="ko-KR" sz="2700" b="0" i="0" u="none" strike="noStrike" spc="-300">
                <a:solidFill>
                  <a:srgbClr val="000000"/>
                </a:solidFill>
                <a:ea typeface="Pretendard SemiBold"/>
              </a:rPr>
              <a:t>대</a:t>
            </a:r>
            <a:r>
              <a:rPr lang="en-US" sz="2700" b="0" i="0" u="none" strike="noStrike" spc="-300">
                <a:solidFill>
                  <a:srgbClr val="000000"/>
                </a:solidFill>
                <a:latin typeface="Pretendard SemiBold"/>
              </a:rPr>
              <a:t>, SNS</a:t>
            </a:r>
            <a:r>
              <a:rPr lang="ko-KR" sz="2700" b="0" i="0" u="none" strike="noStrike" spc="-300">
                <a:solidFill>
                  <a:srgbClr val="000000"/>
                </a:solidFill>
                <a:ea typeface="Pretendard SemiBold"/>
              </a:rPr>
              <a:t>를</a:t>
            </a:r>
            <a:r>
              <a:rPr lang="en-US" sz="2700" b="0" i="0" u="none" strike="noStrike" spc="-30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700" b="0" i="0" u="none" strike="noStrike" spc="-300">
                <a:solidFill>
                  <a:srgbClr val="000000"/>
                </a:solidFill>
                <a:ea typeface="Pretendard SemiBold"/>
              </a:rPr>
              <a:t>많이</a:t>
            </a:r>
            <a:r>
              <a:rPr lang="en-US" sz="2700" b="0" i="0" u="none" strike="noStrike" spc="-30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700" b="0" i="0" u="none" strike="noStrike" spc="-300">
                <a:solidFill>
                  <a:srgbClr val="000000"/>
                </a:solidFill>
                <a:ea typeface="Pretendard SemiBold"/>
              </a:rPr>
              <a:t>사용하는</a:t>
            </a:r>
            <a:r>
              <a:rPr lang="en-US" sz="2700" b="0" i="0" u="none" strike="noStrike" spc="-30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700" b="0" i="0" u="none" strike="noStrike" spc="-300">
                <a:solidFill>
                  <a:srgbClr val="000000"/>
                </a:solidFill>
                <a:ea typeface="Pretendard SemiBold"/>
              </a:rPr>
              <a:t>세대</a:t>
            </a: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1700" y="8521700"/>
            <a:ext cx="6146800" cy="15367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1320800" y="8699500"/>
            <a:ext cx="1473200" cy="495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0350"/>
              </a:lnSpc>
            </a:pPr>
            <a:r>
              <a:rPr lang="ko-KR" sz="2800" b="1" i="0" u="none" strike="noStrike" spc="-300">
                <a:solidFill>
                  <a:srgbClr val="A3957D"/>
                </a:solidFill>
                <a:ea typeface="Pretendard SemiBold"/>
              </a:rPr>
              <a:t>길이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95400" y="9372600"/>
            <a:ext cx="2311400" cy="482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0350"/>
              </a:lnSpc>
            </a:pPr>
            <a:r>
              <a:rPr lang="en-US" sz="2700" b="0" i="0" u="none" strike="noStrike" spc="-300">
                <a:solidFill>
                  <a:srgbClr val="000000"/>
                </a:solidFill>
                <a:latin typeface="Pretendard SemiBold"/>
              </a:rPr>
              <a:t>1</a:t>
            </a:r>
            <a:r>
              <a:rPr lang="ko-KR" sz="2700" b="0" i="0" u="none" strike="noStrike" spc="-300">
                <a:solidFill>
                  <a:srgbClr val="000000"/>
                </a:solidFill>
                <a:ea typeface="Pretendard SemiBold"/>
              </a:rPr>
              <a:t>분</a:t>
            </a:r>
            <a:r>
              <a:rPr lang="en-US" sz="2700" b="0" i="0" u="none" strike="noStrike" spc="-30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700" b="0" i="0" u="none" strike="noStrike" spc="-300">
                <a:solidFill>
                  <a:srgbClr val="000000"/>
                </a:solidFill>
                <a:ea typeface="Pretendard SemiBold"/>
              </a:rPr>
              <a:t>이내</a:t>
            </a: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1700" y="2895600"/>
            <a:ext cx="6146800" cy="1536700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1320800" y="3022600"/>
            <a:ext cx="1473200" cy="495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0350"/>
              </a:lnSpc>
            </a:pPr>
            <a:r>
              <a:rPr lang="ko-KR" sz="2800" b="1" i="0" u="none" strike="noStrike" spc="-300">
                <a:solidFill>
                  <a:srgbClr val="A3957D"/>
                </a:solidFill>
                <a:ea typeface="Pretendard SemiBold"/>
              </a:rPr>
              <a:t>기획의도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95400" y="3733800"/>
            <a:ext cx="5003800" cy="482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0350"/>
              </a:lnSpc>
            </a:pPr>
            <a:r>
              <a:rPr lang="ko-KR" sz="2700" b="0" i="0" u="none" strike="noStrike" spc="-300">
                <a:solidFill>
                  <a:srgbClr val="000000"/>
                </a:solidFill>
                <a:ea typeface="Pretendard SemiBold"/>
              </a:rPr>
              <a:t>사이트</a:t>
            </a:r>
            <a:r>
              <a:rPr lang="en-US" sz="2700" b="0" i="0" u="none" strike="noStrike" spc="-30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700" b="0" i="0" u="none" strike="noStrike" spc="-300">
                <a:solidFill>
                  <a:srgbClr val="000000"/>
                </a:solidFill>
                <a:ea typeface="Pretendard SemiBold"/>
              </a:rPr>
              <a:t>유입</a:t>
            </a:r>
            <a:r>
              <a:rPr lang="en-US" sz="2700" b="0" i="0" u="none" strike="noStrike" spc="-30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700" b="0" i="0" u="none" strike="noStrike" spc="-300">
                <a:solidFill>
                  <a:srgbClr val="000000"/>
                </a:solidFill>
                <a:ea typeface="Pretendard SemiBold"/>
              </a:rPr>
              <a:t>인원</a:t>
            </a:r>
            <a:r>
              <a:rPr lang="en-US" sz="2700" b="0" i="0" u="none" strike="noStrike" spc="-30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700" b="0" i="0" u="none" strike="noStrike" spc="-300">
                <a:solidFill>
                  <a:srgbClr val="000000"/>
                </a:solidFill>
                <a:ea typeface="Pretendard SemiBold"/>
              </a:rPr>
              <a:t>증대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36600" y="2044700"/>
            <a:ext cx="1498600" cy="673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3800" b="1" i="0" u="none" strike="noStrike">
                <a:solidFill>
                  <a:srgbClr val="000000"/>
                </a:solidFill>
                <a:ea typeface="Pretendard SemiBold"/>
              </a:rPr>
              <a:t>개요</a:t>
            </a: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23600" y="3556000"/>
            <a:ext cx="1206500" cy="10541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36300" y="4838700"/>
            <a:ext cx="1181100" cy="10541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23600" y="6159500"/>
            <a:ext cx="1206500" cy="10541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98200" y="7429500"/>
            <a:ext cx="1206500" cy="10541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087100" y="8991600"/>
            <a:ext cx="1054100" cy="571500"/>
          </a:xfrm>
          <a:prstGeom prst="rect">
            <a:avLst/>
          </a:prstGeom>
        </p:spPr>
      </p:pic>
      <p:sp>
        <p:nvSpPr>
          <p:cNvPr id="25" name="TextBox 25"/>
          <p:cNvSpPr txBox="1"/>
          <p:nvPr/>
        </p:nvSpPr>
        <p:spPr>
          <a:xfrm>
            <a:off x="13195300" y="330200"/>
            <a:ext cx="46990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16199"/>
              </a:lnSpc>
            </a:pP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마케팅</a:t>
            </a:r>
            <a:r>
              <a:rPr lang="en-US" sz="1800" b="0" i="0" u="none" strike="noStrike" spc="200">
                <a:solidFill>
                  <a:srgbClr val="F4F4EC"/>
                </a:solidFill>
                <a:latin typeface="Pretendard Light"/>
              </a:rPr>
              <a:t> </a:t>
            </a: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전략</a:t>
            </a:r>
            <a:r>
              <a:rPr lang="en-US" sz="1800" b="0" i="0" u="none" strike="noStrike" spc="200">
                <a:solidFill>
                  <a:srgbClr val="F4F4EC"/>
                </a:solidFill>
                <a:latin typeface="Pretendard Light"/>
              </a:rPr>
              <a:t> -</a:t>
            </a: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유입</a:t>
            </a:r>
            <a:r>
              <a:rPr lang="en-US" sz="1800" b="0" i="0" u="none" strike="noStrike" spc="200">
                <a:solidFill>
                  <a:srgbClr val="F4F4EC"/>
                </a:solidFill>
                <a:latin typeface="Pretendard Light"/>
              </a:rPr>
              <a:t> </a:t>
            </a: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전략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" y="0"/>
            <a:ext cx="18453100" cy="10287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" y="952500"/>
            <a:ext cx="16383000" cy="114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" y="952500"/>
            <a:ext cx="16383000" cy="1143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6946900" y="4559300"/>
            <a:ext cx="4381500" cy="977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5500" b="0" i="0" u="none" strike="noStrike">
                <a:solidFill>
                  <a:srgbClr val="8D776A"/>
                </a:solidFill>
                <a:ea typeface="Pretendard SemiBold"/>
              </a:rPr>
              <a:t>구매</a:t>
            </a:r>
            <a:r>
              <a:rPr lang="en-US" sz="55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5500" b="0" i="0" u="none" strike="noStrike">
                <a:solidFill>
                  <a:srgbClr val="8D776A"/>
                </a:solidFill>
                <a:ea typeface="Pretendard SemiBold"/>
              </a:rPr>
              <a:t>전환</a:t>
            </a:r>
            <a:r>
              <a:rPr lang="en-US" sz="55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5500" b="0" i="0" u="none" strike="noStrike">
                <a:solidFill>
                  <a:srgbClr val="8D776A"/>
                </a:solidFill>
                <a:ea typeface="Pretendard SemiBold"/>
              </a:rPr>
              <a:t>전략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03200" y="12700"/>
            <a:ext cx="18605500" cy="1879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8376900" cy="114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" y="3860800"/>
            <a:ext cx="6781800" cy="44958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4241800" y="431800"/>
            <a:ext cx="9982200" cy="977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ko-KR" sz="5500" b="0" i="0" u="none" strike="noStrike">
                <a:solidFill>
                  <a:srgbClr val="FFFFFF"/>
                </a:solidFill>
                <a:ea typeface="Pretendard SemiBold"/>
              </a:rPr>
              <a:t>상세페이지</a:t>
            </a:r>
            <a:r>
              <a:rPr lang="en-US" sz="5500" b="0" i="0" u="none" strike="noStrike">
                <a:solidFill>
                  <a:srgbClr val="FFFFFF"/>
                </a:solidFill>
                <a:latin typeface="Pretendard SemiBold"/>
              </a:rPr>
              <a:t> </a:t>
            </a:r>
            <a:r>
              <a:rPr lang="ko-KR" sz="5500" b="0" i="0" u="none" strike="noStrike">
                <a:solidFill>
                  <a:srgbClr val="FFFFFF"/>
                </a:solidFill>
                <a:ea typeface="Pretendard SemiBold"/>
              </a:rPr>
              <a:t>수정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3195300" y="330200"/>
            <a:ext cx="46990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16199"/>
              </a:lnSpc>
            </a:pP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마케팅</a:t>
            </a:r>
            <a:r>
              <a:rPr lang="en-US" sz="1800" b="0" i="0" u="none" strike="noStrike" spc="200">
                <a:solidFill>
                  <a:srgbClr val="F4F4EC"/>
                </a:solidFill>
                <a:latin typeface="Pretendard Light"/>
              </a:rPr>
              <a:t> </a:t>
            </a: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전략</a:t>
            </a:r>
            <a:r>
              <a:rPr lang="en-US" sz="1800" b="0" i="0" u="none" strike="noStrike" spc="200">
                <a:solidFill>
                  <a:srgbClr val="F4F4EC"/>
                </a:solidFill>
                <a:latin typeface="Pretendard Light"/>
              </a:rPr>
              <a:t> - </a:t>
            </a: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구매</a:t>
            </a:r>
            <a:r>
              <a:rPr lang="en-US" sz="1800" b="0" i="0" u="none" strike="noStrike" spc="200">
                <a:solidFill>
                  <a:srgbClr val="F4F4EC"/>
                </a:solidFill>
                <a:latin typeface="Pretendard Light"/>
              </a:rPr>
              <a:t> </a:t>
            </a: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전환</a:t>
            </a:r>
            <a:r>
              <a:rPr lang="en-US" sz="1800" b="0" i="0" u="none" strike="noStrike" spc="200">
                <a:solidFill>
                  <a:srgbClr val="F4F4EC"/>
                </a:solidFill>
                <a:latin typeface="Pretendard Light"/>
              </a:rPr>
              <a:t> </a:t>
            </a: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전략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229100" y="2082800"/>
            <a:ext cx="9931400" cy="622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3500" b="0" i="0" u="none" strike="noStrike">
                <a:solidFill>
                  <a:srgbClr val="8D776A"/>
                </a:solidFill>
                <a:latin typeface="Pretendard SemiBold"/>
              </a:rPr>
              <a:t>[ </a:t>
            </a:r>
            <a:r>
              <a:rPr lang="ko-KR" sz="3500" b="0" i="0" u="none" strike="noStrike">
                <a:solidFill>
                  <a:srgbClr val="8D776A"/>
                </a:solidFill>
                <a:ea typeface="Pretendard SemiBold"/>
              </a:rPr>
              <a:t>상세페이지</a:t>
            </a:r>
            <a:r>
              <a:rPr lang="en-US" sz="35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3500" b="0" i="0" u="none" strike="noStrike">
                <a:solidFill>
                  <a:srgbClr val="8D776A"/>
                </a:solidFill>
                <a:ea typeface="Pretendard SemiBold"/>
              </a:rPr>
              <a:t>분석</a:t>
            </a:r>
            <a:r>
              <a:rPr lang="en-US" sz="3500" b="0" i="0" u="none" strike="noStrike">
                <a:solidFill>
                  <a:srgbClr val="8D776A"/>
                </a:solidFill>
                <a:latin typeface="Pretendard SemiBold"/>
              </a:rPr>
              <a:t>]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9" name="TextBox 9"/>
          <p:cNvSpPr txBox="1"/>
          <p:nvPr/>
        </p:nvSpPr>
        <p:spPr>
          <a:xfrm>
            <a:off x="9182100" y="3581400"/>
            <a:ext cx="8750300" cy="546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342900" lvl="0" indent="-342900" algn="l">
              <a:lnSpc>
                <a:spcPct val="99600"/>
              </a:lnSpc>
              <a:buAutoNum type="arabicPeriod"/>
            </a:pPr>
            <a:r>
              <a:rPr lang="ko-KR" sz="3000" b="0" i="0" u="none" strike="noStrike">
                <a:solidFill>
                  <a:srgbClr val="000000"/>
                </a:solidFill>
                <a:ea typeface="Pretendard Regular"/>
              </a:rPr>
              <a:t>페이지</a:t>
            </a:r>
            <a:r>
              <a:rPr lang="en-US" sz="3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Regular"/>
              </a:rPr>
              <a:t>뷰</a:t>
            </a:r>
            <a:r>
              <a:rPr lang="en-US" sz="3000" b="0" i="0" u="none" strike="noStrike">
                <a:solidFill>
                  <a:srgbClr val="000000"/>
                </a:solidFill>
                <a:latin typeface="Pretendard Regular"/>
              </a:rPr>
              <a:t> , </a:t>
            </a:r>
            <a:r>
              <a:rPr lang="ko-KR" sz="3000" b="0" i="0" u="none" strike="noStrike">
                <a:solidFill>
                  <a:srgbClr val="000000"/>
                </a:solidFill>
                <a:ea typeface="Pretendard Regular"/>
              </a:rPr>
              <a:t>체류시간</a:t>
            </a:r>
            <a:r>
              <a:rPr lang="en-US" sz="3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Regular"/>
              </a:rPr>
              <a:t>분석</a:t>
            </a:r>
            <a:r>
              <a:rPr lang="en-US" sz="3000" b="0" i="0" u="none" strike="noStrike">
                <a:solidFill>
                  <a:srgbClr val="000000"/>
                </a:solidFill>
                <a:latin typeface="Pretendard Regular"/>
              </a:rPr>
              <a:t> 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639300" y="4356100"/>
            <a:ext cx="12522200" cy="482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0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700" b="0" i="0" u="none" strike="noStrike">
                <a:solidFill>
                  <a:srgbClr val="000000"/>
                </a:solidFill>
                <a:ea typeface="Pretendard Regular"/>
              </a:rPr>
              <a:t>페이지뷰와</a:t>
            </a:r>
            <a:r>
              <a:rPr lang="en-US" sz="2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700" b="0" i="0" u="none" strike="noStrike">
                <a:solidFill>
                  <a:srgbClr val="000000"/>
                </a:solidFill>
                <a:ea typeface="Pretendard Regular"/>
              </a:rPr>
              <a:t>체류시간이</a:t>
            </a:r>
            <a:r>
              <a:rPr lang="en-US" sz="2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700" b="0" i="0" u="none" strike="noStrike">
                <a:solidFill>
                  <a:srgbClr val="000000"/>
                </a:solidFill>
                <a:ea typeface="Pretendard Regular"/>
              </a:rPr>
              <a:t>높은</a:t>
            </a:r>
            <a:r>
              <a:rPr lang="en-US" sz="2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700" b="0" i="0" u="none" strike="noStrike">
                <a:solidFill>
                  <a:srgbClr val="000000"/>
                </a:solidFill>
                <a:ea typeface="Pretendard Regular"/>
              </a:rPr>
              <a:t>페이지와</a:t>
            </a:r>
            <a:r>
              <a:rPr lang="en-US" sz="2700" b="0" i="0" u="none" strike="noStrike">
                <a:solidFill>
                  <a:srgbClr val="000000"/>
                </a:solidFill>
                <a:latin typeface="Pretendard Regular"/>
              </a:rPr>
              <a:t> </a:t>
            </a:r>
            <a:r>
              <a:rPr lang="ko-KR" sz="2700" b="0" i="0" u="none" strike="noStrike">
                <a:solidFill>
                  <a:srgbClr val="000000"/>
                </a:solidFill>
                <a:ea typeface="Pretendard Regular"/>
              </a:rPr>
              <a:t>낮은</a:t>
            </a:r>
            <a:r>
              <a:rPr lang="en-US" sz="2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700" b="0" i="0" u="none" strike="noStrike">
                <a:solidFill>
                  <a:srgbClr val="000000"/>
                </a:solidFill>
                <a:ea typeface="Pretendard Regular"/>
              </a:rPr>
              <a:t>페이지</a:t>
            </a:r>
            <a:r>
              <a:rPr lang="en-US" sz="2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700" b="0" i="0" u="none" strike="noStrike">
                <a:solidFill>
                  <a:srgbClr val="000000"/>
                </a:solidFill>
                <a:ea typeface="Pretendard Regular"/>
              </a:rPr>
              <a:t>비교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194800" y="5130800"/>
            <a:ext cx="8750300" cy="520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3000" b="0" i="0" u="none" strike="noStrike">
                <a:solidFill>
                  <a:srgbClr val="000000"/>
                </a:solidFill>
                <a:latin typeface="Pretendard Regular"/>
              </a:rPr>
              <a:t>2. </a:t>
            </a:r>
            <a:r>
              <a:rPr lang="ko-KR" sz="3000" b="0" i="0" u="none" strike="noStrike">
                <a:solidFill>
                  <a:srgbClr val="000000"/>
                </a:solidFill>
                <a:ea typeface="Pretendard Regular"/>
              </a:rPr>
              <a:t>구매</a:t>
            </a:r>
            <a:r>
              <a:rPr lang="en-US" sz="3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Regular"/>
              </a:rPr>
              <a:t>전환율</a:t>
            </a:r>
            <a:r>
              <a:rPr lang="en-US" sz="3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Regular"/>
              </a:rPr>
              <a:t>분석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639300" y="5943600"/>
            <a:ext cx="12522200" cy="952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0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700" b="0" i="0" u="none" strike="noStrike">
                <a:solidFill>
                  <a:srgbClr val="000000"/>
                </a:solidFill>
                <a:ea typeface="Pretendard Regular"/>
              </a:rPr>
              <a:t>구매</a:t>
            </a:r>
            <a:r>
              <a:rPr lang="en-US" sz="2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700" b="0" i="0" u="none" strike="noStrike">
                <a:solidFill>
                  <a:srgbClr val="000000"/>
                </a:solidFill>
                <a:ea typeface="Pretendard Regular"/>
              </a:rPr>
              <a:t>프로세스의</a:t>
            </a:r>
            <a:r>
              <a:rPr lang="en-US" sz="2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700" b="0" i="0" u="none" strike="noStrike">
                <a:solidFill>
                  <a:srgbClr val="000000"/>
                </a:solidFill>
                <a:ea typeface="Pretendard Regular"/>
              </a:rPr>
              <a:t>복잡성</a:t>
            </a:r>
            <a:r>
              <a:rPr lang="en-US" sz="2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700" b="0" i="0" u="none" strike="noStrike">
                <a:solidFill>
                  <a:srgbClr val="000000"/>
                </a:solidFill>
                <a:ea typeface="Pretendard Regular"/>
              </a:rPr>
              <a:t>문제</a:t>
            </a:r>
            <a:r>
              <a:rPr lang="en-US" sz="2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700" b="0" i="0" u="none" strike="noStrike">
                <a:solidFill>
                  <a:srgbClr val="000000"/>
                </a:solidFill>
                <a:ea typeface="Pretendard Regular"/>
              </a:rPr>
              <a:t>의심</a:t>
            </a:r>
          </a:p>
          <a:p>
            <a:pPr marL="342900" lvl="0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700" b="0" i="0" u="none" strike="noStrike">
                <a:solidFill>
                  <a:srgbClr val="000000"/>
                </a:solidFill>
                <a:ea typeface="Pretendard Regular"/>
              </a:rPr>
              <a:t>상세페이지의</a:t>
            </a:r>
            <a:r>
              <a:rPr lang="en-US" sz="2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700" b="0" i="0" u="none" strike="noStrike">
                <a:solidFill>
                  <a:srgbClr val="000000"/>
                </a:solidFill>
                <a:ea typeface="Pretendard Regular"/>
              </a:rPr>
              <a:t>매력도</a:t>
            </a:r>
            <a:r>
              <a:rPr lang="en-US" sz="2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700" b="0" i="0" u="none" strike="noStrike">
                <a:solidFill>
                  <a:srgbClr val="000000"/>
                </a:solidFill>
                <a:ea typeface="Pretendard Regular"/>
              </a:rPr>
              <a:t>부족</a:t>
            </a:r>
            <a:r>
              <a:rPr lang="en-US" sz="2700" b="0" i="0" u="none" strike="noStrike">
                <a:solidFill>
                  <a:srgbClr val="000000"/>
                </a:solidFill>
                <a:latin typeface="Pretendard Regular"/>
              </a:rPr>
              <a:t> or </a:t>
            </a:r>
            <a:r>
              <a:rPr lang="ko-KR" sz="2700" b="0" i="0" u="none" strike="noStrike">
                <a:solidFill>
                  <a:srgbClr val="000000"/>
                </a:solidFill>
                <a:ea typeface="Pretendard Regular"/>
              </a:rPr>
              <a:t>상품</a:t>
            </a:r>
            <a:r>
              <a:rPr lang="en-US" sz="2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700" b="0" i="0" u="none" strike="noStrike">
                <a:solidFill>
                  <a:srgbClr val="000000"/>
                </a:solidFill>
                <a:ea typeface="Pretendard Regular"/>
              </a:rPr>
              <a:t>신뢰도</a:t>
            </a:r>
            <a:r>
              <a:rPr lang="en-US" sz="2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700" b="0" i="0" u="none" strike="noStrike">
                <a:solidFill>
                  <a:srgbClr val="000000"/>
                </a:solidFill>
                <a:ea typeface="Pretendard Regular"/>
              </a:rPr>
              <a:t>부족</a:t>
            </a:r>
            <a:r>
              <a:rPr lang="en-US" sz="2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700" b="0" i="0" u="none" strike="noStrike">
                <a:solidFill>
                  <a:srgbClr val="000000"/>
                </a:solidFill>
                <a:ea typeface="Pretendard Regular"/>
              </a:rPr>
              <a:t>의심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207500" y="7289800"/>
            <a:ext cx="8750300" cy="520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3000" b="0" i="0" u="none" strike="noStrike">
                <a:solidFill>
                  <a:srgbClr val="000000"/>
                </a:solidFill>
                <a:latin typeface="Pretendard Regular"/>
              </a:rPr>
              <a:t>3. </a:t>
            </a:r>
            <a:r>
              <a:rPr lang="ko-KR" sz="3000" b="0" i="0" u="none" strike="noStrike">
                <a:solidFill>
                  <a:srgbClr val="000000"/>
                </a:solidFill>
                <a:ea typeface="Pretendard Regular"/>
              </a:rPr>
              <a:t>리뷰</a:t>
            </a:r>
            <a:r>
              <a:rPr lang="en-US" sz="3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Regular"/>
              </a:rPr>
              <a:t>분석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639300" y="8089900"/>
            <a:ext cx="12522200" cy="482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0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700" b="0" i="0" u="none" strike="noStrike">
                <a:solidFill>
                  <a:srgbClr val="000000"/>
                </a:solidFill>
                <a:ea typeface="Pretendard Regular"/>
              </a:rPr>
              <a:t>리뷰</a:t>
            </a:r>
            <a:r>
              <a:rPr lang="en-US" sz="2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700" b="0" i="0" u="none" strike="noStrike">
                <a:solidFill>
                  <a:srgbClr val="000000"/>
                </a:solidFill>
                <a:ea typeface="Pretendard Regular"/>
              </a:rPr>
              <a:t>분석을</a:t>
            </a:r>
            <a:r>
              <a:rPr lang="en-US" sz="2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700" b="0" i="0" u="none" strike="noStrike">
                <a:solidFill>
                  <a:srgbClr val="000000"/>
                </a:solidFill>
                <a:ea typeface="Pretendard Regular"/>
              </a:rPr>
              <a:t>통하여</a:t>
            </a:r>
            <a:r>
              <a:rPr lang="en-US" sz="2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700" b="0" i="0" u="none" strike="noStrike">
                <a:solidFill>
                  <a:srgbClr val="000000"/>
                </a:solidFill>
                <a:ea typeface="Pretendard Regular"/>
              </a:rPr>
              <a:t>장점</a:t>
            </a:r>
            <a:r>
              <a:rPr lang="en-US" sz="2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700" b="0" i="0" u="none" strike="noStrike">
                <a:solidFill>
                  <a:srgbClr val="000000"/>
                </a:solidFill>
                <a:ea typeface="Pretendard Regular"/>
              </a:rPr>
              <a:t>도출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03200" y="12700"/>
            <a:ext cx="18605500" cy="1879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8376900" cy="114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8600" y="2108200"/>
            <a:ext cx="10337800" cy="78232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97700" y="5562600"/>
            <a:ext cx="5143500" cy="34036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4241800" y="431800"/>
            <a:ext cx="9982200" cy="977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ko-KR" sz="5500" b="0" i="0" u="none" strike="noStrike">
                <a:solidFill>
                  <a:srgbClr val="FFFFFF"/>
                </a:solidFill>
                <a:ea typeface="Pretendard SemiBold"/>
              </a:rPr>
              <a:t>상세페이지</a:t>
            </a:r>
            <a:r>
              <a:rPr lang="en-US" sz="5500" b="0" i="0" u="none" strike="noStrike">
                <a:solidFill>
                  <a:srgbClr val="FFFFFF"/>
                </a:solidFill>
                <a:latin typeface="Pretendard SemiBold"/>
              </a:rPr>
              <a:t> </a:t>
            </a:r>
            <a:r>
              <a:rPr lang="ko-KR" sz="5500" b="0" i="0" u="none" strike="noStrike">
                <a:solidFill>
                  <a:srgbClr val="FFFFFF"/>
                </a:solidFill>
                <a:ea typeface="Pretendard SemiBold"/>
              </a:rPr>
              <a:t>개선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195300" y="330200"/>
            <a:ext cx="46990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16199"/>
              </a:lnSpc>
            </a:pP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마케팅</a:t>
            </a:r>
            <a:r>
              <a:rPr lang="en-US" sz="1800" b="0" i="0" u="none" strike="noStrike" spc="200">
                <a:solidFill>
                  <a:srgbClr val="F4F4EC"/>
                </a:solidFill>
                <a:latin typeface="Pretendard Light"/>
              </a:rPr>
              <a:t> </a:t>
            </a: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전략</a:t>
            </a:r>
            <a:r>
              <a:rPr lang="en-US" sz="1800" b="0" i="0" u="none" strike="noStrike" spc="200">
                <a:solidFill>
                  <a:srgbClr val="F4F4EC"/>
                </a:solidFill>
                <a:latin typeface="Pretendard Light"/>
              </a:rPr>
              <a:t> - </a:t>
            </a: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구매</a:t>
            </a:r>
            <a:r>
              <a:rPr lang="en-US" sz="1800" b="0" i="0" u="none" strike="noStrike" spc="200">
                <a:solidFill>
                  <a:srgbClr val="F4F4EC"/>
                </a:solidFill>
                <a:latin typeface="Pretendard Light"/>
              </a:rPr>
              <a:t> </a:t>
            </a: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전환</a:t>
            </a:r>
            <a:r>
              <a:rPr lang="en-US" sz="1800" b="0" i="0" u="none" strike="noStrike" spc="200">
                <a:solidFill>
                  <a:srgbClr val="F4F4EC"/>
                </a:solidFill>
                <a:latin typeface="Pretendard Light"/>
              </a:rPr>
              <a:t> </a:t>
            </a: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전략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-2147483648" y="2147483647"/>
            <a:ext cx="2147483647" cy="2147483647"/>
            <a:chOff x="0" y="0"/>
            <a:chExt cx="0" cy="0"/>
          </a:xfrm>
        </p:grpSpPr>
      </p:grpSp>
      <p:sp>
        <p:nvSpPr>
          <p:cNvPr id="9" name="TextBox 9"/>
          <p:cNvSpPr txBox="1"/>
          <p:nvPr/>
        </p:nvSpPr>
        <p:spPr>
          <a:xfrm>
            <a:off x="393700" y="3213100"/>
            <a:ext cx="2235200" cy="609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3500" b="0" i="0" u="none" strike="noStrike">
                <a:solidFill>
                  <a:srgbClr val="000000"/>
                </a:solidFill>
                <a:ea typeface="Pretendard Bold"/>
              </a:rPr>
              <a:t>컨텐츠</a:t>
            </a:r>
            <a:r>
              <a:rPr lang="en-US" sz="35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Bold"/>
              </a:rPr>
              <a:t>개선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-165100" y="4610100"/>
            <a:ext cx="7531100" cy="1879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1104900" lvl="2" indent="-342900" algn="l">
              <a:lnSpc>
                <a:spcPct val="99600"/>
              </a:lnSpc>
              <a:buClr>
                <a:srgbClr val="000000"/>
              </a:buClr>
              <a:buFont typeface="Arial"/>
              <a:buChar char="■"/>
            </a:pP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체류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시간이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짧다면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상세한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상품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설명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,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고품질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이미지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및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영상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추가</a:t>
            </a:r>
          </a:p>
          <a:p>
            <a:pPr marL="1104900" lvl="2" indent="-342900" algn="l">
              <a:lnSpc>
                <a:spcPct val="99600"/>
              </a:lnSpc>
              <a:buClr>
                <a:srgbClr val="000000"/>
              </a:buClr>
              <a:buFont typeface="Arial"/>
              <a:buChar char="■"/>
            </a:pP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고객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리뷰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및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사용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후기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강조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03200" y="12700"/>
            <a:ext cx="18605500" cy="1879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8376900" cy="114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29900" y="3467100"/>
            <a:ext cx="6172200" cy="51943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4241800" y="431800"/>
            <a:ext cx="9982200" cy="977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ko-KR" sz="5500" b="0" i="0" u="none" strike="noStrike">
                <a:solidFill>
                  <a:srgbClr val="FFFFFF"/>
                </a:solidFill>
                <a:ea typeface="Pretendard SemiBold"/>
              </a:rPr>
              <a:t>상세페이지</a:t>
            </a:r>
            <a:r>
              <a:rPr lang="en-US" sz="5500" b="0" i="0" u="none" strike="noStrike">
                <a:solidFill>
                  <a:srgbClr val="FFFFFF"/>
                </a:solidFill>
                <a:latin typeface="Pretendard SemiBold"/>
              </a:rPr>
              <a:t> </a:t>
            </a:r>
            <a:r>
              <a:rPr lang="ko-KR" sz="5500" b="0" i="0" u="none" strike="noStrike">
                <a:solidFill>
                  <a:srgbClr val="FFFFFF"/>
                </a:solidFill>
                <a:ea typeface="Pretendard SemiBold"/>
              </a:rPr>
              <a:t>개선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3195300" y="330200"/>
            <a:ext cx="46990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16199"/>
              </a:lnSpc>
            </a:pP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마케팅</a:t>
            </a:r>
            <a:r>
              <a:rPr lang="en-US" sz="1800" b="0" i="0" u="none" strike="noStrike" spc="200">
                <a:solidFill>
                  <a:srgbClr val="F4F4EC"/>
                </a:solidFill>
                <a:latin typeface="Pretendard Light"/>
              </a:rPr>
              <a:t> </a:t>
            </a: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전략</a:t>
            </a:r>
            <a:r>
              <a:rPr lang="en-US" sz="1800" b="0" i="0" u="none" strike="noStrike" spc="200">
                <a:solidFill>
                  <a:srgbClr val="F4F4EC"/>
                </a:solidFill>
                <a:latin typeface="Pretendard Light"/>
              </a:rPr>
              <a:t> - </a:t>
            </a: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구매</a:t>
            </a:r>
            <a:r>
              <a:rPr lang="en-US" sz="1800" b="0" i="0" u="none" strike="noStrike" spc="200">
                <a:solidFill>
                  <a:srgbClr val="F4F4EC"/>
                </a:solidFill>
                <a:latin typeface="Pretendard Light"/>
              </a:rPr>
              <a:t> </a:t>
            </a: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전환</a:t>
            </a:r>
            <a:r>
              <a:rPr lang="en-US" sz="1800" b="0" i="0" u="none" strike="noStrike" spc="200">
                <a:solidFill>
                  <a:srgbClr val="F4F4EC"/>
                </a:solidFill>
                <a:latin typeface="Pretendard Light"/>
              </a:rPr>
              <a:t> </a:t>
            </a: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전략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-2147483648" y="2147483647"/>
            <a:ext cx="2147483647" cy="2147483647"/>
            <a:chOff x="0" y="0"/>
            <a:chExt cx="0" cy="0"/>
          </a:xfrm>
        </p:grpSpPr>
      </p:grpSp>
      <p:sp>
        <p:nvSpPr>
          <p:cNvPr id="8" name="TextBox 8"/>
          <p:cNvSpPr txBox="1"/>
          <p:nvPr/>
        </p:nvSpPr>
        <p:spPr>
          <a:xfrm>
            <a:off x="393700" y="3213100"/>
            <a:ext cx="2235200" cy="609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3500" b="0" i="0" u="none" strike="noStrike">
                <a:solidFill>
                  <a:srgbClr val="000000"/>
                </a:solidFill>
                <a:latin typeface="Pretendard Bold"/>
              </a:rPr>
              <a:t>UI/UX </a:t>
            </a:r>
            <a:r>
              <a:rPr lang="ko-KR" sz="3500" b="0" i="0" u="none" strike="noStrike">
                <a:solidFill>
                  <a:srgbClr val="000000"/>
                </a:solidFill>
                <a:ea typeface="Pretendard Bold"/>
              </a:rPr>
              <a:t>개선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-165100" y="4584700"/>
            <a:ext cx="8521700" cy="977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1104900" lvl="2" indent="-342900" algn="l">
              <a:lnSpc>
                <a:spcPct val="99600"/>
              </a:lnSpc>
              <a:buClr>
                <a:srgbClr val="000000"/>
              </a:buClr>
              <a:buFont typeface="Arial"/>
              <a:buChar char="■"/>
            </a:pP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전환율을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높이기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위해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구매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프로세스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UI/UX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개선</a:t>
            </a:r>
          </a:p>
          <a:p>
            <a:pPr marL="1104900" lvl="2" indent="-342900" algn="l">
              <a:lnSpc>
                <a:spcPct val="99600"/>
              </a:lnSpc>
              <a:buClr>
                <a:srgbClr val="000000"/>
              </a:buClr>
              <a:buFont typeface="Arial"/>
              <a:buChar char="■"/>
            </a:pP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가독성을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높이기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위한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폰트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및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레이아웃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조정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03200" y="12700"/>
            <a:ext cx="18605500" cy="1879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8376900" cy="114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94000" y="3263900"/>
            <a:ext cx="9855200" cy="58039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2527300"/>
            <a:ext cx="9410700" cy="31496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4000500" y="495300"/>
            <a:ext cx="9982200" cy="977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ko-KR" sz="5500" b="0" i="0" u="none" strike="noStrike">
                <a:solidFill>
                  <a:srgbClr val="FFFFFF"/>
                </a:solidFill>
                <a:ea typeface="Pretendard SemiBold"/>
              </a:rPr>
              <a:t>매월</a:t>
            </a:r>
            <a:r>
              <a:rPr lang="en-US" sz="5500" b="0" i="0" u="none" strike="noStrike">
                <a:solidFill>
                  <a:srgbClr val="FFFFFF"/>
                </a:solidFill>
                <a:latin typeface="Pretendard SemiBold"/>
              </a:rPr>
              <a:t> </a:t>
            </a:r>
            <a:r>
              <a:rPr lang="ko-KR" sz="5500" b="0" i="0" u="none" strike="noStrike">
                <a:solidFill>
                  <a:srgbClr val="FFFFFF"/>
                </a:solidFill>
                <a:ea typeface="Pretendard SemiBold"/>
              </a:rPr>
              <a:t>이벤트</a:t>
            </a:r>
            <a:r>
              <a:rPr lang="en-US" sz="5500" b="0" i="0" u="none" strike="noStrike">
                <a:solidFill>
                  <a:srgbClr val="FFFFFF"/>
                </a:solidFill>
                <a:latin typeface="Pretendard SemiBold"/>
              </a:rPr>
              <a:t> </a:t>
            </a:r>
            <a:r>
              <a:rPr lang="ko-KR" sz="5500" b="0" i="0" u="none" strike="noStrike">
                <a:solidFill>
                  <a:srgbClr val="FFFFFF"/>
                </a:solidFill>
                <a:ea typeface="Pretendard SemiBold"/>
              </a:rPr>
              <a:t>기획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195300" y="330200"/>
            <a:ext cx="46990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16199"/>
              </a:lnSpc>
            </a:pP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마케팅</a:t>
            </a:r>
            <a:r>
              <a:rPr lang="en-US" sz="1800" b="0" i="0" u="none" strike="noStrike" spc="200">
                <a:solidFill>
                  <a:srgbClr val="F4F4EC"/>
                </a:solidFill>
                <a:latin typeface="Pretendard Light"/>
              </a:rPr>
              <a:t> </a:t>
            </a: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전략</a:t>
            </a:r>
            <a:r>
              <a:rPr lang="en-US" sz="1800" b="0" i="0" u="none" strike="noStrike" spc="200">
                <a:solidFill>
                  <a:srgbClr val="F4F4EC"/>
                </a:solidFill>
                <a:latin typeface="Pretendard Light"/>
              </a:rPr>
              <a:t> - </a:t>
            </a: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구매</a:t>
            </a:r>
            <a:r>
              <a:rPr lang="en-US" sz="1800" b="0" i="0" u="none" strike="noStrike" spc="200">
                <a:solidFill>
                  <a:srgbClr val="F4F4EC"/>
                </a:solidFill>
                <a:latin typeface="Pretendard Light"/>
              </a:rPr>
              <a:t> </a:t>
            </a: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전환</a:t>
            </a:r>
            <a:r>
              <a:rPr lang="en-US" sz="1800" b="0" i="0" u="none" strike="noStrike" spc="200">
                <a:solidFill>
                  <a:srgbClr val="F4F4EC"/>
                </a:solidFill>
                <a:latin typeface="Pretendard Light"/>
              </a:rPr>
              <a:t> </a:t>
            </a: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전략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03200" y="12700"/>
            <a:ext cx="18605500" cy="1879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8376900" cy="1143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4000500" y="495300"/>
            <a:ext cx="9982200" cy="977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ko-KR" sz="5500" b="0" i="0" u="none" strike="noStrike">
                <a:solidFill>
                  <a:srgbClr val="FFFFFF"/>
                </a:solidFill>
                <a:ea typeface="Pretendard SemiBold"/>
              </a:rPr>
              <a:t>매월</a:t>
            </a:r>
            <a:r>
              <a:rPr lang="en-US" sz="5500" b="0" i="0" u="none" strike="noStrike">
                <a:solidFill>
                  <a:srgbClr val="FFFFFF"/>
                </a:solidFill>
                <a:latin typeface="Pretendard SemiBold"/>
              </a:rPr>
              <a:t> </a:t>
            </a:r>
            <a:r>
              <a:rPr lang="ko-KR" sz="5500" b="0" i="0" u="none" strike="noStrike">
                <a:solidFill>
                  <a:srgbClr val="FFFFFF"/>
                </a:solidFill>
                <a:ea typeface="Pretendard SemiBold"/>
              </a:rPr>
              <a:t>이벤트</a:t>
            </a:r>
            <a:r>
              <a:rPr lang="en-US" sz="5500" b="0" i="0" u="none" strike="noStrike">
                <a:solidFill>
                  <a:srgbClr val="FFFFFF"/>
                </a:solidFill>
                <a:latin typeface="Pretendard SemiBold"/>
              </a:rPr>
              <a:t> </a:t>
            </a:r>
            <a:r>
              <a:rPr lang="ko-KR" sz="5500" b="0" i="0" u="none" strike="noStrike">
                <a:solidFill>
                  <a:srgbClr val="FFFFFF"/>
                </a:solidFill>
                <a:ea typeface="Pretendard SemiBold"/>
              </a:rPr>
              <a:t>기획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292100" y="2425700"/>
            <a:ext cx="6794500" cy="3822700"/>
          </a:xfrm>
          <a:prstGeom prst="rect">
            <a:avLst/>
          </a:prstGeom>
          <a:effectLst>
            <a:outerShdw blurRad="145562" dist="176449" dir="2700000">
              <a:srgbClr val="000000">
                <a:alpha val="50000"/>
              </a:srgbClr>
            </a:outerShdw>
          </a:effectLst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400" y="7264400"/>
            <a:ext cx="8153400" cy="2794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93200" y="7264400"/>
            <a:ext cx="8928100" cy="27940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9347200" y="7391400"/>
            <a:ext cx="8077200" cy="2082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06240"/>
              </a:lnSpc>
            </a:pPr>
            <a:r>
              <a:rPr lang="ko-KR" sz="3500" b="0" i="0" u="none" strike="noStrike">
                <a:solidFill>
                  <a:srgbClr val="8D776A"/>
                </a:solidFill>
                <a:ea typeface="Pretendard SemiBold"/>
              </a:rPr>
              <a:t>목표</a:t>
            </a:r>
          </a:p>
          <a:p>
            <a:pPr lvl="0" algn="l">
              <a:lnSpc>
                <a:spcPct val="106240"/>
              </a:lnSpc>
            </a:pPr>
            <a:r>
              <a:rPr lang="ko-KR" sz="3000" b="0" i="0" u="none" strike="noStrike">
                <a:solidFill>
                  <a:srgbClr val="000000"/>
                </a:solidFill>
                <a:ea typeface="Pretendard SemiBold"/>
              </a:rPr>
              <a:t>경쟁사보다</a:t>
            </a:r>
            <a:r>
              <a:rPr lang="en-US" sz="30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SemiBold"/>
              </a:rPr>
              <a:t>더</a:t>
            </a:r>
            <a:r>
              <a:rPr lang="en-US" sz="30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SemiBold"/>
              </a:rPr>
              <a:t>가격적으로</a:t>
            </a:r>
            <a:r>
              <a:rPr lang="en-US" sz="30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SemiBold"/>
              </a:rPr>
              <a:t>경쟁에서</a:t>
            </a:r>
            <a:r>
              <a:rPr lang="en-US" sz="30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SemiBold"/>
              </a:rPr>
              <a:t>우위를</a:t>
            </a:r>
            <a:r>
              <a:rPr lang="en-US" sz="30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SemiBold"/>
              </a:rPr>
              <a:t>차지하는</a:t>
            </a:r>
            <a:r>
              <a:rPr lang="en-US" sz="30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SemiBold"/>
              </a:rPr>
              <a:t>인식</a:t>
            </a:r>
            <a:r>
              <a:rPr lang="en-US" sz="30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SemiBold"/>
              </a:rPr>
              <a:t>제공</a:t>
            </a:r>
          </a:p>
          <a:p>
            <a:pPr lvl="0" algn="l">
              <a:lnSpc>
                <a:spcPct val="106240"/>
              </a:lnSpc>
            </a:pPr>
            <a:r>
              <a:rPr lang="ko-KR" sz="3000" b="0" i="0" u="none" strike="noStrike">
                <a:solidFill>
                  <a:srgbClr val="000000"/>
                </a:solidFill>
                <a:ea typeface="Pretendard SemiBold"/>
              </a:rPr>
              <a:t>단체</a:t>
            </a:r>
            <a:r>
              <a:rPr lang="en-US" sz="30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SemiBold"/>
              </a:rPr>
              <a:t>답례품의</a:t>
            </a:r>
            <a:r>
              <a:rPr lang="en-US" sz="30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SemiBold"/>
              </a:rPr>
              <a:t>합리적인</a:t>
            </a:r>
            <a:r>
              <a:rPr lang="en-US" sz="30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SemiBold"/>
              </a:rPr>
              <a:t>가격을</a:t>
            </a:r>
            <a:r>
              <a:rPr lang="en-US" sz="30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SemiBold"/>
              </a:rPr>
              <a:t>강조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14400" y="7391400"/>
            <a:ext cx="7835900" cy="2387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06240"/>
              </a:lnSpc>
            </a:pPr>
            <a:r>
              <a:rPr lang="ko-KR" sz="3200" b="0" i="0" u="none" strike="noStrike" dirty="0">
                <a:solidFill>
                  <a:srgbClr val="8D776A"/>
                </a:solidFill>
                <a:ea typeface="Pretendard SemiBold"/>
              </a:rPr>
              <a:t>개요</a:t>
            </a:r>
          </a:p>
          <a:p>
            <a:pPr lvl="0" algn="l">
              <a:lnSpc>
                <a:spcPct val="106240"/>
              </a:lnSpc>
            </a:pPr>
            <a:r>
              <a:rPr lang="ko-KR" sz="2800" b="0" i="0" u="none" strike="noStrike" dirty="0">
                <a:solidFill>
                  <a:srgbClr val="000000"/>
                </a:solidFill>
                <a:ea typeface="Pretendard SemiBold"/>
              </a:rPr>
              <a:t>특정</a:t>
            </a:r>
            <a:r>
              <a:rPr lang="en-US" sz="2800" b="0" i="0" u="none" strike="noStrike" dirty="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800" b="0" i="0" u="none" strike="noStrike" dirty="0">
                <a:solidFill>
                  <a:srgbClr val="000000"/>
                </a:solidFill>
                <a:ea typeface="Pretendard SemiBold"/>
              </a:rPr>
              <a:t>고객을</a:t>
            </a:r>
            <a:r>
              <a:rPr lang="en-US" sz="2800" b="0" i="0" u="none" strike="noStrike" dirty="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800" b="0" i="0" u="none" strike="noStrike" dirty="0">
                <a:solidFill>
                  <a:srgbClr val="000000"/>
                </a:solidFill>
                <a:ea typeface="Pretendard SemiBold"/>
              </a:rPr>
              <a:t>타깃으로</a:t>
            </a:r>
            <a:r>
              <a:rPr lang="en-US" sz="2800" b="0" i="0" u="none" strike="noStrike" dirty="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800" b="0" i="0" u="none" strike="noStrike" dirty="0">
                <a:solidFill>
                  <a:srgbClr val="000000"/>
                </a:solidFill>
                <a:ea typeface="Pretendard SemiBold"/>
              </a:rPr>
              <a:t>이벤트를</a:t>
            </a:r>
            <a:r>
              <a:rPr lang="en-US" sz="2800" b="0" i="0" u="none" strike="noStrike" dirty="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800" b="0" i="0" u="none" strike="noStrike" dirty="0">
                <a:solidFill>
                  <a:srgbClr val="000000"/>
                </a:solidFill>
                <a:ea typeface="Pretendard SemiBold"/>
              </a:rPr>
              <a:t>진행하여</a:t>
            </a:r>
            <a:r>
              <a:rPr lang="en-US" sz="2800" b="0" i="0" u="none" strike="noStrike" dirty="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800" b="0" i="0" u="none" strike="noStrike" dirty="0">
                <a:solidFill>
                  <a:srgbClr val="000000"/>
                </a:solidFill>
                <a:ea typeface="Pretendard SemiBold"/>
              </a:rPr>
              <a:t>고객</a:t>
            </a:r>
            <a:r>
              <a:rPr lang="en-US" sz="2800" b="0" i="0" u="none" strike="noStrike" dirty="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800" b="0" i="0" u="none" strike="noStrike" dirty="0">
                <a:solidFill>
                  <a:srgbClr val="000000"/>
                </a:solidFill>
                <a:ea typeface="Pretendard SemiBold"/>
              </a:rPr>
              <a:t>개인화</a:t>
            </a:r>
            <a:r>
              <a:rPr lang="en-US" sz="2800" b="0" i="0" u="none" strike="noStrike" dirty="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800" b="0" i="0" u="none" strike="noStrike" dirty="0">
                <a:solidFill>
                  <a:srgbClr val="000000"/>
                </a:solidFill>
                <a:ea typeface="Pretendard SemiBold"/>
              </a:rPr>
              <a:t>성향의</a:t>
            </a:r>
            <a:r>
              <a:rPr lang="en-US" sz="2800" b="0" i="0" u="none" strike="noStrike" dirty="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800" b="0" i="0" u="none" strike="noStrike" dirty="0">
                <a:solidFill>
                  <a:srgbClr val="000000"/>
                </a:solidFill>
                <a:ea typeface="Pretendard SemiBold"/>
              </a:rPr>
              <a:t>이벤트</a:t>
            </a:r>
            <a:r>
              <a:rPr lang="en-US" sz="2800" b="0" i="0" u="none" strike="noStrike" dirty="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800" b="0" i="0" u="none" strike="noStrike" dirty="0">
                <a:solidFill>
                  <a:srgbClr val="000000"/>
                </a:solidFill>
                <a:ea typeface="Pretendard SemiBold"/>
              </a:rPr>
              <a:t>진행</a:t>
            </a:r>
          </a:p>
          <a:p>
            <a:pPr lvl="0" algn="l">
              <a:lnSpc>
                <a:spcPct val="106240"/>
              </a:lnSpc>
            </a:pPr>
            <a:r>
              <a:rPr lang="ko-KR" sz="2800" b="0" i="0" u="none" strike="noStrike" dirty="0">
                <a:solidFill>
                  <a:srgbClr val="000000"/>
                </a:solidFill>
                <a:ea typeface="Pretendard SemiBold"/>
              </a:rPr>
              <a:t>기존의</a:t>
            </a:r>
            <a:r>
              <a:rPr lang="en-US" sz="2800" b="0" i="0" u="none" strike="noStrike" dirty="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800" b="0" i="0" u="none" strike="noStrike" dirty="0">
                <a:solidFill>
                  <a:srgbClr val="000000"/>
                </a:solidFill>
                <a:ea typeface="Pretendard SemiBold"/>
              </a:rPr>
              <a:t>할인</a:t>
            </a:r>
            <a:r>
              <a:rPr lang="en-US" sz="2800" b="0" i="0" u="none" strike="noStrike" dirty="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800" b="0" i="0" u="none" strike="noStrike" dirty="0">
                <a:solidFill>
                  <a:srgbClr val="000000"/>
                </a:solidFill>
                <a:ea typeface="Pretendard SemiBold"/>
              </a:rPr>
              <a:t>시스템을</a:t>
            </a:r>
            <a:r>
              <a:rPr lang="en-US" sz="2800" b="0" i="0" u="none" strike="noStrike" dirty="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800" b="0" i="0" u="none" strike="noStrike" dirty="0">
                <a:solidFill>
                  <a:srgbClr val="000000"/>
                </a:solidFill>
                <a:ea typeface="Pretendard SemiBold"/>
              </a:rPr>
              <a:t>유지하되</a:t>
            </a:r>
            <a:r>
              <a:rPr lang="en-US" sz="2800" b="0" i="0" u="none" strike="noStrike" dirty="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800" b="0" i="0" u="none" strike="noStrike" dirty="0">
                <a:solidFill>
                  <a:srgbClr val="000000"/>
                </a:solidFill>
                <a:ea typeface="Pretendard SemiBold"/>
              </a:rPr>
              <a:t>이름을</a:t>
            </a:r>
            <a:r>
              <a:rPr lang="en-US" sz="2800" b="0" i="0" u="none" strike="noStrike" dirty="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800" b="0" i="0" u="none" strike="noStrike" dirty="0">
                <a:solidFill>
                  <a:srgbClr val="000000"/>
                </a:solidFill>
                <a:ea typeface="Pretendard SemiBold"/>
              </a:rPr>
              <a:t>부여하여</a:t>
            </a:r>
            <a:r>
              <a:rPr lang="en-US" sz="2800" b="0" i="0" u="none" strike="noStrike" dirty="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800" b="0" i="0" u="none" strike="noStrike" dirty="0">
                <a:solidFill>
                  <a:srgbClr val="000000"/>
                </a:solidFill>
                <a:ea typeface="Pretendard SemiBold"/>
              </a:rPr>
              <a:t>이벤트의</a:t>
            </a:r>
            <a:r>
              <a:rPr lang="en-US" sz="2800" b="0" i="0" u="none" strike="noStrike" dirty="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800" b="0" i="0" u="none" strike="noStrike" dirty="0">
                <a:solidFill>
                  <a:srgbClr val="000000"/>
                </a:solidFill>
                <a:ea typeface="Pretendard SemiBold"/>
              </a:rPr>
              <a:t>명목을</a:t>
            </a:r>
            <a:r>
              <a:rPr lang="en-US" sz="2800" b="0" i="0" u="none" strike="noStrike" dirty="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800" b="0" i="0" u="none" strike="noStrike" dirty="0">
                <a:solidFill>
                  <a:srgbClr val="000000"/>
                </a:solidFill>
                <a:ea typeface="Pretendard SemiBold"/>
              </a:rPr>
              <a:t>다르게</a:t>
            </a:r>
            <a:r>
              <a:rPr lang="en-US" sz="2800" b="0" i="0" u="none" strike="noStrike" dirty="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800" b="0" i="0" u="none" strike="noStrike" dirty="0">
                <a:solidFill>
                  <a:srgbClr val="000000"/>
                </a:solidFill>
                <a:ea typeface="Pretendard SemiBold"/>
              </a:rPr>
              <a:t>하고</a:t>
            </a:r>
            <a:r>
              <a:rPr lang="en-US" sz="2800" b="0" i="0" u="none" strike="noStrike" dirty="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800" b="0" i="0" u="none" strike="noStrike" dirty="0">
                <a:solidFill>
                  <a:srgbClr val="000000"/>
                </a:solidFill>
                <a:ea typeface="Pretendard SemiBold"/>
              </a:rPr>
              <a:t>부담되지</a:t>
            </a:r>
            <a:r>
              <a:rPr lang="en-US" sz="2800" b="0" i="0" u="none" strike="noStrike" dirty="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800" b="0" i="0" u="none" strike="noStrike" dirty="0">
                <a:solidFill>
                  <a:srgbClr val="000000"/>
                </a:solidFill>
                <a:ea typeface="Pretendard SemiBold"/>
              </a:rPr>
              <a:t>않는</a:t>
            </a:r>
            <a:r>
              <a:rPr lang="en-US" sz="2800" b="0" i="0" u="none" strike="noStrike" dirty="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800" b="0" i="0" u="none" strike="noStrike" dirty="0">
                <a:solidFill>
                  <a:srgbClr val="000000"/>
                </a:solidFill>
                <a:ea typeface="Pretendard SemiBold"/>
              </a:rPr>
              <a:t>가격을</a:t>
            </a:r>
            <a:r>
              <a:rPr lang="en-US" sz="2800" b="0" i="0" u="none" strike="noStrike" dirty="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800" b="0" i="0" u="none" strike="noStrike" dirty="0">
                <a:solidFill>
                  <a:srgbClr val="000000"/>
                </a:solidFill>
                <a:ea typeface="Pretendard SemiBold"/>
              </a:rPr>
              <a:t>제시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45300" y="2628900"/>
            <a:ext cx="5270500" cy="3517900"/>
          </a:xfrm>
          <a:prstGeom prst="rect">
            <a:avLst/>
          </a:prstGeom>
          <a:effectLst>
            <a:outerShdw blurRad="123089" dist="216343" dir="2700000">
              <a:srgbClr val="000000">
                <a:alpha val="50000"/>
              </a:srgbClr>
            </a:outerShdw>
          </a:effectLst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484100" y="2603500"/>
            <a:ext cx="5321300" cy="3543300"/>
          </a:xfrm>
          <a:prstGeom prst="rect">
            <a:avLst/>
          </a:prstGeom>
          <a:effectLst>
            <a:outerShdw blurRad="125191" dist="218183" dir="2700000">
              <a:srgbClr val="000000">
                <a:alpha val="50000"/>
              </a:srgbClr>
            </a:outerShdw>
          </a:effectLst>
        </p:spPr>
      </p:pic>
      <p:sp>
        <p:nvSpPr>
          <p:cNvPr id="12" name="TextBox 12"/>
          <p:cNvSpPr txBox="1"/>
          <p:nvPr/>
        </p:nvSpPr>
        <p:spPr>
          <a:xfrm>
            <a:off x="13195300" y="330200"/>
            <a:ext cx="46990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16199"/>
              </a:lnSpc>
            </a:pP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마케팅</a:t>
            </a:r>
            <a:r>
              <a:rPr lang="en-US" sz="1800" b="0" i="0" u="none" strike="noStrike" spc="200">
                <a:solidFill>
                  <a:srgbClr val="F4F4EC"/>
                </a:solidFill>
                <a:latin typeface="Pretendard Light"/>
              </a:rPr>
              <a:t> </a:t>
            </a: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전략</a:t>
            </a:r>
            <a:r>
              <a:rPr lang="en-US" sz="1800" b="0" i="0" u="none" strike="noStrike" spc="200">
                <a:solidFill>
                  <a:srgbClr val="F4F4EC"/>
                </a:solidFill>
                <a:latin typeface="Pretendard Light"/>
              </a:rPr>
              <a:t> - </a:t>
            </a: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구매</a:t>
            </a:r>
            <a:r>
              <a:rPr lang="en-US" sz="1800" b="0" i="0" u="none" strike="noStrike" spc="200">
                <a:solidFill>
                  <a:srgbClr val="F4F4EC"/>
                </a:solidFill>
                <a:latin typeface="Pretendard Light"/>
              </a:rPr>
              <a:t> </a:t>
            </a: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전환</a:t>
            </a:r>
            <a:r>
              <a:rPr lang="en-US" sz="1800" b="0" i="0" u="none" strike="noStrike" spc="200">
                <a:solidFill>
                  <a:srgbClr val="F4F4EC"/>
                </a:solidFill>
                <a:latin typeface="Pretendard Light"/>
              </a:rPr>
              <a:t> </a:t>
            </a: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전략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0287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" y="952500"/>
            <a:ext cx="16383000" cy="114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" y="952500"/>
            <a:ext cx="16383000" cy="1143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3400" y="3302000"/>
            <a:ext cx="990600" cy="393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3400" y="3860800"/>
            <a:ext cx="990600" cy="393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0" y="3289300"/>
            <a:ext cx="990600" cy="3937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0" y="3860800"/>
            <a:ext cx="990600" cy="3937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3340100" y="2997200"/>
            <a:ext cx="4572000" cy="2197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ko-KR" sz="7200" b="0" i="0" u="none" strike="noStrike">
                <a:solidFill>
                  <a:srgbClr val="FDFDF2"/>
                </a:solidFill>
                <a:ea typeface="Pretendard SemiBold"/>
              </a:rPr>
              <a:t>신규</a:t>
            </a:r>
            <a:r>
              <a:rPr lang="en-US" sz="7200" b="0" i="0" u="none" strike="noStrike">
                <a:solidFill>
                  <a:srgbClr val="FDFDF2"/>
                </a:solidFill>
                <a:latin typeface="Pretendard SemiBold"/>
              </a:rPr>
              <a:t> </a:t>
            </a:r>
            <a:r>
              <a:rPr lang="ko-KR" sz="7200" b="0" i="0" u="none" strike="noStrike">
                <a:solidFill>
                  <a:srgbClr val="FDFDF2"/>
                </a:solidFill>
                <a:ea typeface="Pretendard SemiBold"/>
              </a:rPr>
              <a:t>유입량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134600" y="3022600"/>
            <a:ext cx="4521200" cy="1282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ko-KR" sz="7200" b="0" i="0" u="none" strike="noStrike">
                <a:solidFill>
                  <a:srgbClr val="E0D9D1"/>
                </a:solidFill>
                <a:ea typeface="Pretendard SemiBold"/>
              </a:rPr>
              <a:t>구매</a:t>
            </a:r>
            <a:r>
              <a:rPr lang="en-US" sz="7200" b="0" i="0" u="none" strike="noStrike">
                <a:solidFill>
                  <a:srgbClr val="E0D9D1"/>
                </a:solidFill>
                <a:latin typeface="Pretendard SemiBold"/>
              </a:rPr>
              <a:t> </a:t>
            </a:r>
            <a:r>
              <a:rPr lang="ko-KR" sz="7200" b="0" i="0" u="none" strike="noStrike">
                <a:solidFill>
                  <a:srgbClr val="E0D9D1"/>
                </a:solidFill>
                <a:ea typeface="Pretendard SemiBold"/>
              </a:rPr>
              <a:t>전환율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073400" y="5118100"/>
            <a:ext cx="11239500" cy="2197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ko-KR" sz="7200" b="0" i="0" u="none" strike="noStrike">
                <a:solidFill>
                  <a:srgbClr val="8D776A"/>
                </a:solidFill>
                <a:ea typeface="Pretendard SemiBold"/>
              </a:rPr>
              <a:t>신규</a:t>
            </a:r>
            <a:r>
              <a:rPr lang="en-US" sz="72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7200" b="0" i="0" u="none" strike="noStrike">
                <a:solidFill>
                  <a:srgbClr val="8D776A"/>
                </a:solidFill>
                <a:ea typeface="Pretendard SemiBold"/>
              </a:rPr>
              <a:t>고객</a:t>
            </a:r>
            <a:r>
              <a:rPr lang="en-US" sz="72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7200" b="0" i="0" u="none" strike="noStrike">
                <a:solidFill>
                  <a:srgbClr val="8D776A"/>
                </a:solidFill>
                <a:ea typeface="Pretendard SemiBold"/>
              </a:rPr>
              <a:t>유입과</a:t>
            </a:r>
            <a:r>
              <a:rPr lang="en-US" sz="72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7200" b="0" i="0" u="none" strike="noStrike">
                <a:solidFill>
                  <a:srgbClr val="8D776A"/>
                </a:solidFill>
                <a:ea typeface="Pretendard SemiBold"/>
              </a:rPr>
              <a:t>구매전환율을</a:t>
            </a:r>
            <a:r>
              <a:rPr lang="en-US" sz="72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7200" b="0" i="0" u="none" strike="noStrike">
                <a:solidFill>
                  <a:srgbClr val="8D776A"/>
                </a:solidFill>
                <a:ea typeface="Pretendard SemiBold"/>
              </a:rPr>
              <a:t>높혀</a:t>
            </a:r>
            <a:r>
              <a:rPr lang="en-US" sz="72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7200" b="0" i="0" u="none" strike="noStrike">
                <a:solidFill>
                  <a:srgbClr val="8D776A"/>
                </a:solidFill>
                <a:ea typeface="Pretendard SemiBold"/>
              </a:rPr>
              <a:t>매출을</a:t>
            </a:r>
            <a:r>
              <a:rPr lang="en-US" sz="72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7200" b="0" i="0" u="none" strike="noStrike">
                <a:solidFill>
                  <a:srgbClr val="8D776A"/>
                </a:solidFill>
                <a:ea typeface="Pretendard SemiBold"/>
              </a:rPr>
              <a:t>상승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03200" y="12700"/>
            <a:ext cx="18605500" cy="1879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8376900" cy="1143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6865600" y="330200"/>
            <a:ext cx="10287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16199"/>
              </a:lnSpc>
            </a:pP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목표</a:t>
            </a:r>
            <a:r>
              <a:rPr lang="en-US" sz="1800" b="0" i="0" u="none" strike="noStrike" spc="200">
                <a:solidFill>
                  <a:srgbClr val="F4F4EC"/>
                </a:solidFill>
                <a:latin typeface="Pretendard Light"/>
              </a:rPr>
              <a:t> </a:t>
            </a: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성과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114800" y="533400"/>
            <a:ext cx="9982200" cy="977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ko-KR" sz="5500" b="0" i="0" u="none" strike="noStrike">
                <a:solidFill>
                  <a:srgbClr val="FFFFFF"/>
                </a:solidFill>
                <a:ea typeface="Pretendard SemiBold"/>
              </a:rPr>
              <a:t>목표</a:t>
            </a:r>
            <a:r>
              <a:rPr lang="en-US" sz="5500" b="0" i="0" u="none" strike="noStrike">
                <a:solidFill>
                  <a:srgbClr val="FFFFFF"/>
                </a:solidFill>
                <a:latin typeface="Pretendard SemiBold"/>
              </a:rPr>
              <a:t> </a:t>
            </a:r>
            <a:r>
              <a:rPr lang="ko-KR" sz="5500" b="0" i="0" u="none" strike="noStrike">
                <a:solidFill>
                  <a:srgbClr val="FFFFFF"/>
                </a:solidFill>
                <a:ea typeface="Pretendard SemiBold"/>
              </a:rPr>
              <a:t>성과</a:t>
            </a:r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2095500" y="2209800"/>
          <a:ext cx="14249400" cy="7327900"/>
        </p:xfrm>
        <a:graphic>
          <a:graphicData uri="http://schemas.openxmlformats.org/drawingml/2006/table">
            <a:tbl>
              <a:tblPr/>
              <a:tblGrid>
                <a:gridCol w="2819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1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76300">
                <a:tc>
                  <a:txBody>
                    <a:bodyPr/>
                    <a:lstStyle/>
                    <a:p>
                      <a:pPr lvl="0" algn="ctr">
                        <a:lnSpc>
                          <a:spcPct val="92130"/>
                        </a:lnSpc>
                        <a:defRPr/>
                      </a:pPr>
                      <a:r>
                        <a:rPr lang="ko-KR" sz="2400" b="1" i="0" u="sng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분류</a:t>
                      </a:r>
                      <a:endParaRPr lang="en-US" sz="1100"/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4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4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2130"/>
                        </a:lnSpc>
                        <a:defRPr/>
                      </a:pPr>
                      <a:r>
                        <a:rPr lang="ko-KR" sz="2400" b="1" i="0" u="sng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현재</a:t>
                      </a:r>
                      <a:endParaRPr lang="en-US" sz="1100"/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4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4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2130"/>
                        </a:lnSpc>
                        <a:defRPr/>
                      </a:pPr>
                      <a:r>
                        <a:rPr lang="ko-KR" sz="2400" b="1" i="0" u="sng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집행</a:t>
                      </a:r>
                      <a:r>
                        <a:rPr lang="en-US" sz="2400" b="1" i="0" u="sng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 </a:t>
                      </a:r>
                      <a:r>
                        <a:rPr lang="ko-KR" sz="2400" b="1" i="0" u="sng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후</a:t>
                      </a:r>
                      <a:endParaRPr lang="en-US" sz="1100"/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4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4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35200">
                <a:tc>
                  <a:txBody>
                    <a:bodyPr/>
                    <a:lstStyle/>
                    <a:p>
                      <a:pPr lvl="0" algn="ctr">
                        <a:lnSpc>
                          <a:spcPct val="92130"/>
                        </a:lnSpc>
                        <a:defRPr/>
                      </a:pPr>
                      <a:r>
                        <a:rPr lang="en-US" sz="2300" b="1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SNS </a:t>
                      </a:r>
                      <a:r>
                        <a:rPr lang="ko-KR" sz="2300" b="1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채널</a:t>
                      </a:r>
                      <a:r>
                        <a:rPr lang="en-US" sz="2300" b="1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 </a:t>
                      </a:r>
                      <a:endParaRPr lang="en-US" sz="1100"/>
                    </a:p>
                    <a:p>
                      <a:pPr lvl="0" algn="ctr">
                        <a:lnSpc>
                          <a:spcPct val="92130"/>
                        </a:lnSpc>
                      </a:pPr>
                      <a:r>
                        <a:rPr lang="ko-KR" sz="2300" b="1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유입량</a:t>
                      </a:r>
                      <a:r>
                        <a:rPr lang="en-US" sz="2300" b="1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/</a:t>
                      </a:r>
                      <a:r>
                        <a:rPr lang="ko-KR" sz="2300" b="1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결제율</a:t>
                      </a: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4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2130"/>
                        </a:lnSpc>
                        <a:defRPr/>
                      </a:pPr>
                      <a:r>
                        <a:rPr lang="en-US" sz="2300" b="1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6</a:t>
                      </a:r>
                      <a:r>
                        <a:rPr lang="ko-KR" sz="2300" b="1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월</a:t>
                      </a:r>
                      <a:r>
                        <a:rPr lang="en-US" sz="2300" b="1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 </a:t>
                      </a:r>
                      <a:r>
                        <a:rPr lang="ko-KR" sz="2300" b="1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최근</a:t>
                      </a:r>
                      <a:r>
                        <a:rPr lang="en-US" sz="2300" b="1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 15</a:t>
                      </a:r>
                      <a:r>
                        <a:rPr lang="ko-KR" sz="2300" b="1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일</a:t>
                      </a:r>
                      <a:r>
                        <a:rPr lang="en-US" sz="2300" b="1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 </a:t>
                      </a:r>
                      <a:r>
                        <a:rPr lang="ko-KR" sz="2300" b="1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기준</a:t>
                      </a:r>
                      <a:endParaRPr lang="en-US" sz="1100"/>
                    </a:p>
                    <a:p>
                      <a:pPr lvl="0" algn="ctr">
                        <a:lnSpc>
                          <a:spcPct val="92130"/>
                        </a:lnSpc>
                      </a:pPr>
                      <a:r>
                        <a:rPr lang="en-US" sz="2300" b="1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4</a:t>
                      </a:r>
                      <a:r>
                        <a:rPr lang="ko-KR" sz="2300" b="1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명</a:t>
                      </a:r>
                      <a:r>
                        <a:rPr lang="en-US" sz="2300" b="1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/0%</a:t>
                      </a:r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4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2130"/>
                        </a:lnSpc>
                        <a:defRPr/>
                      </a:pPr>
                      <a:r>
                        <a:rPr lang="en-US" sz="2300" b="1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15</a:t>
                      </a:r>
                      <a:r>
                        <a:rPr lang="ko-KR" sz="2300" b="1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일</a:t>
                      </a:r>
                      <a:r>
                        <a:rPr lang="en-US" sz="2300" b="1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 </a:t>
                      </a:r>
                      <a:r>
                        <a:rPr lang="ko-KR" sz="2300" b="1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안에</a:t>
                      </a:r>
                      <a:r>
                        <a:rPr lang="en-US" sz="2300" b="1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(7.17~7.31)</a:t>
                      </a:r>
                      <a:endParaRPr lang="en-US" sz="1100"/>
                    </a:p>
                    <a:p>
                      <a:pPr lvl="0" algn="ctr">
                        <a:lnSpc>
                          <a:spcPct val="92130"/>
                        </a:lnSpc>
                      </a:pPr>
                      <a:r>
                        <a:rPr lang="en-US" sz="2300" b="1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100</a:t>
                      </a:r>
                      <a:r>
                        <a:rPr lang="ko-KR" sz="2300" b="1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명</a:t>
                      </a:r>
                      <a:r>
                        <a:rPr lang="en-US" sz="2300" b="1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/10% </a:t>
                      </a:r>
                      <a:r>
                        <a:rPr lang="ko-KR" sz="2300" b="1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이상</a:t>
                      </a:r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4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8200">
                <a:tc>
                  <a:txBody>
                    <a:bodyPr/>
                    <a:lstStyle/>
                    <a:p>
                      <a:pPr lvl="0" algn="ctr">
                        <a:lnSpc>
                          <a:spcPct val="92130"/>
                        </a:lnSpc>
                        <a:defRPr/>
                      </a:pPr>
                      <a:r>
                        <a:rPr lang="ko-KR" sz="2300" b="1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파워링크</a:t>
                      </a:r>
                      <a:r>
                        <a:rPr lang="en-US" sz="2300" b="1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 </a:t>
                      </a:r>
                      <a:r>
                        <a:rPr lang="ko-KR" sz="2300" b="1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광고</a:t>
                      </a:r>
                      <a:r>
                        <a:rPr lang="en-US" sz="2300" b="1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 </a:t>
                      </a:r>
                      <a:endParaRPr lang="en-US" sz="1100"/>
                    </a:p>
                    <a:p>
                      <a:pPr lvl="0" algn="ctr">
                        <a:lnSpc>
                          <a:spcPct val="92130"/>
                        </a:lnSpc>
                      </a:pPr>
                      <a:r>
                        <a:rPr lang="ko-KR" sz="2300" b="1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유입량</a:t>
                      </a:r>
                      <a:r>
                        <a:rPr lang="en-US" sz="2300" b="1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/</a:t>
                      </a:r>
                      <a:r>
                        <a:rPr lang="ko-KR" sz="2300" b="1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결제율</a:t>
                      </a: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2130"/>
                        </a:lnSpc>
                        <a:defRPr/>
                      </a:pPr>
                      <a:r>
                        <a:rPr lang="en-US" sz="2300" b="1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6</a:t>
                      </a:r>
                      <a:r>
                        <a:rPr lang="ko-KR" sz="2300" b="1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월</a:t>
                      </a:r>
                      <a:r>
                        <a:rPr lang="en-US" sz="2300" b="1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 </a:t>
                      </a:r>
                      <a:r>
                        <a:rPr lang="ko-KR" sz="2300" b="1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최근</a:t>
                      </a:r>
                      <a:r>
                        <a:rPr lang="en-US" sz="2300" b="1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 15</a:t>
                      </a:r>
                      <a:r>
                        <a:rPr lang="ko-KR" sz="2300" b="1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일</a:t>
                      </a:r>
                      <a:r>
                        <a:rPr lang="en-US" sz="2300" b="1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 </a:t>
                      </a:r>
                      <a:r>
                        <a:rPr lang="ko-KR" sz="2300" b="1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기준</a:t>
                      </a:r>
                      <a:endParaRPr lang="en-US" sz="1100"/>
                    </a:p>
                    <a:p>
                      <a:pPr lvl="0" algn="ctr">
                        <a:lnSpc>
                          <a:spcPct val="92130"/>
                        </a:lnSpc>
                      </a:pPr>
                      <a:r>
                        <a:rPr lang="en-US" sz="2300" b="1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94</a:t>
                      </a:r>
                      <a:r>
                        <a:rPr lang="ko-KR" sz="2300" b="1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명</a:t>
                      </a:r>
                      <a:r>
                        <a:rPr lang="en-US" sz="2300" b="1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/3.26%</a:t>
                      </a:r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2130"/>
                        </a:lnSpc>
                        <a:defRPr/>
                      </a:pPr>
                      <a:r>
                        <a:rPr lang="en-US" sz="2300" b="1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15</a:t>
                      </a:r>
                      <a:r>
                        <a:rPr lang="ko-KR" sz="2300" b="1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일</a:t>
                      </a:r>
                      <a:r>
                        <a:rPr lang="en-US" sz="2300" b="1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 </a:t>
                      </a:r>
                      <a:r>
                        <a:rPr lang="ko-KR" sz="2300" b="1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안에</a:t>
                      </a:r>
                      <a:r>
                        <a:rPr lang="en-US" sz="2300" b="1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(7.17~7.31)</a:t>
                      </a:r>
                      <a:br>
                        <a:rPr lang="en-US" sz="2300" b="1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</a:br>
                      <a:r>
                        <a:rPr lang="en-US" sz="2300" b="1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200</a:t>
                      </a:r>
                      <a:r>
                        <a:rPr lang="ko-KR" sz="2300" b="1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명</a:t>
                      </a:r>
                      <a:r>
                        <a:rPr lang="en-US" sz="2300" b="1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/8% </a:t>
                      </a:r>
                      <a:r>
                        <a:rPr lang="ko-KR" sz="2300" b="1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이상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8200">
                <a:tc>
                  <a:txBody>
                    <a:bodyPr/>
                    <a:lstStyle/>
                    <a:p>
                      <a:pPr lvl="0" algn="ctr">
                        <a:lnSpc>
                          <a:spcPct val="92130"/>
                        </a:lnSpc>
                        <a:defRPr/>
                      </a:pPr>
                      <a:r>
                        <a:rPr lang="ko-KR" sz="2300" b="1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상세페이지</a:t>
                      </a:r>
                      <a:r>
                        <a:rPr lang="en-US" sz="2300" b="1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 </a:t>
                      </a:r>
                      <a:r>
                        <a:rPr lang="ko-KR" sz="2300" b="1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조회</a:t>
                      </a:r>
                      <a:r>
                        <a:rPr lang="en-US" sz="2300" b="1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 </a:t>
                      </a:r>
                      <a:r>
                        <a:rPr lang="ko-KR" sz="2300" b="1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대비</a:t>
                      </a:r>
                      <a:endParaRPr lang="en-US" sz="1100"/>
                    </a:p>
                    <a:p>
                      <a:pPr lvl="0" algn="ctr">
                        <a:lnSpc>
                          <a:spcPct val="92130"/>
                        </a:lnSpc>
                      </a:pPr>
                      <a:r>
                        <a:rPr lang="ko-KR" sz="2300" b="1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결제율</a:t>
                      </a: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2130"/>
                        </a:lnSpc>
                        <a:defRPr/>
                      </a:pPr>
                      <a:r>
                        <a:rPr lang="ko-KR" sz="2300" b="0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최근</a:t>
                      </a:r>
                      <a:r>
                        <a:rPr lang="en-US" sz="2300" b="0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 15</a:t>
                      </a:r>
                      <a:r>
                        <a:rPr lang="ko-KR" sz="2300" b="0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일</a:t>
                      </a:r>
                      <a:r>
                        <a:rPr lang="en-US" sz="2300" b="0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 </a:t>
                      </a:r>
                      <a:r>
                        <a:rPr lang="ko-KR" sz="2300" b="0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기준</a:t>
                      </a:r>
                      <a:r>
                        <a:rPr lang="en-US" sz="2300" b="0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(7.10)</a:t>
                      </a:r>
                      <a:endParaRPr lang="en-US" sz="1100"/>
                    </a:p>
                    <a:p>
                      <a:pPr lvl="0" algn="ctr">
                        <a:lnSpc>
                          <a:spcPct val="92130"/>
                        </a:lnSpc>
                      </a:pPr>
                      <a:r>
                        <a:rPr lang="en-US" sz="2300" b="0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55.5%</a:t>
                      </a:r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2130"/>
                        </a:lnSpc>
                        <a:defRPr/>
                      </a:pPr>
                      <a:r>
                        <a:rPr lang="en-US" sz="2300" b="1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15</a:t>
                      </a:r>
                      <a:r>
                        <a:rPr lang="ko-KR" sz="2300" b="1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일</a:t>
                      </a:r>
                      <a:r>
                        <a:rPr lang="en-US" sz="2300" b="1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 </a:t>
                      </a:r>
                      <a:r>
                        <a:rPr lang="ko-KR" sz="2300" b="1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안에</a:t>
                      </a:r>
                      <a:r>
                        <a:rPr lang="en-US" sz="2300" b="1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(7.17~7.31)</a:t>
                      </a:r>
                      <a:endParaRPr lang="en-US" sz="1100"/>
                    </a:p>
                    <a:p>
                      <a:pPr lvl="0" algn="ctr">
                        <a:lnSpc>
                          <a:spcPct val="92130"/>
                        </a:lnSpc>
                      </a:pPr>
                      <a:r>
                        <a:rPr lang="en-US" sz="2300" b="1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80%</a:t>
                      </a:r>
                      <a:r>
                        <a:rPr lang="ko-KR" sz="2300" b="1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이상</a:t>
                      </a:r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0287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952500"/>
            <a:ext cx="16383000" cy="8407400"/>
          </a:xfrm>
          <a:prstGeom prst="rect">
            <a:avLst/>
          </a:prstGeom>
          <a:effectLst>
            <a:outerShdw blurRad="702899" dist="323117" dir="2700000">
              <a:srgbClr val="000000">
                <a:alpha val="15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" y="952500"/>
            <a:ext cx="16383000" cy="1143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52500" y="4064000"/>
            <a:ext cx="1003300" cy="1562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32200" y="4064000"/>
            <a:ext cx="1003300" cy="15621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3187700" y="3911600"/>
            <a:ext cx="11912600" cy="1943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11000" b="0" i="0" u="none" strike="noStrike">
                <a:solidFill>
                  <a:srgbClr val="F4F4EC"/>
                </a:solidFill>
                <a:latin typeface="Pretendard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1566</Words>
  <Application>Microsoft Macintosh PowerPoint</Application>
  <PresentationFormat>사용자 지정</PresentationFormat>
  <Paragraphs>320</Paragraphs>
  <Slides>25</Slides>
  <Notes>24</Notes>
  <HiddenSlides>0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37" baseType="lpstr">
      <vt:lpstr>Calibri</vt:lpstr>
      <vt:lpstr>Pretendard SemiBold</vt:lpstr>
      <vt:lpstr>Pretendard Medium</vt:lpstr>
      <vt:lpstr>Pretendard Bold</vt:lpstr>
      <vt:lpstr>맑은 고딕</vt:lpstr>
      <vt:lpstr>Pretendard Light</vt:lpstr>
      <vt:lpstr>S-Core Dream 4 Regular</vt:lpstr>
      <vt:lpstr>Arial</vt:lpstr>
      <vt:lpstr>Hakgyoansim Gaeulsopung B</vt:lpstr>
      <vt:lpstr>Pretendard Regular</vt:lpstr>
      <vt:lpstr>S-Core Dream 5 Medium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강희 이</cp:lastModifiedBy>
  <cp:revision>4</cp:revision>
  <dcterms:created xsi:type="dcterms:W3CDTF">2006-08-16T00:00:00Z</dcterms:created>
  <dcterms:modified xsi:type="dcterms:W3CDTF">2024-07-25T03:43:19Z</dcterms:modified>
</cp:coreProperties>
</file>
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2" r:id="rId23"/>
    <p:sldId id="277" r:id="rId24"/>
    <p:sldId id="278" r:id="rId25"/>
    <p:sldId id="279" r:id="rId26"/>
    <p:sldId id="280" r:id="rId27"/>
    <p:sldId id="281" r:id="rId28"/>
  </p:sldIdLst>
  <p:sldSz cx="18288000" cy="10287000"/>
  <p:notesSz cx="6858000" cy="9144000"/>
  <p:embeddedFontLst>
    <p:embeddedFont>
      <p:font typeface="Hakgyoansim Gaeulsopung B" panose="020B0600000101010101" charset="-127"/>
      <p:bold r:id="rId30"/>
    </p:embeddedFont>
    <p:embeddedFont>
      <p:font typeface="Pretendard Bold" panose="020B0600000101010101" charset="-127"/>
      <p:bold r:id="rId31"/>
    </p:embeddedFont>
    <p:embeddedFont>
      <p:font typeface="Pretendard Regular" panose="020B0600000101010101" charset="-127"/>
      <p:regular r:id="rId32"/>
    </p:embeddedFont>
    <p:embeddedFont>
      <p:font typeface="Pretendard Black" panose="02000A03000000020004" pitchFamily="50" charset="-127"/>
      <p:bold r:id="rId33"/>
    </p:embeddedFont>
    <p:embeddedFont>
      <p:font typeface="Pretendard Light" panose="02000403000000020004" pitchFamily="50" charset="-127"/>
      <p:regular r:id="rId34"/>
    </p:embeddedFont>
    <p:embeddedFont>
      <p:font typeface="Pretendard Medium" panose="02000603000000020004" pitchFamily="50" charset="-127"/>
      <p:regular r:id="rId35"/>
      <p:bold r:id="rId36"/>
    </p:embeddedFont>
    <p:embeddedFont>
      <p:font typeface="Pretendard SemiBold" panose="02000703000000020004" pitchFamily="50" charset="-127"/>
      <p:regular r:id="rId37"/>
      <p:bold r:id="rId38"/>
    </p:embeddedFont>
    <p:embeddedFont>
      <p:font typeface="S-Core Dream 4 Regular" panose="020B0503030302020204" pitchFamily="34" charset="-127"/>
      <p:regular r:id="rId39"/>
    </p:embeddedFont>
    <p:embeddedFont>
      <p:font typeface="S-Core Dream 5 Medium" panose="020B0503030302020204" pitchFamily="34" charset="-127"/>
      <p:regular r:id="rId40"/>
    </p:embeddedFont>
    <p:embeddedFont>
      <p:font typeface="맑은 고딕" panose="020B0503020000020004" pitchFamily="50" charset="-127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D54B89-F0C9-4181-B726-D362BBD60043}" v="2" dt="2024-07-12T01:18:14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29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3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보정 김" userId="a0043f0dcba7ef25" providerId="LiveId" clId="{5A888016-5D77-4611-B04F-5B6C1E0FBA54}"/>
    <pc:docChg chg="modSld">
      <pc:chgData name="보정 김" userId="a0043f0dcba7ef25" providerId="LiveId" clId="{5A888016-5D77-4611-B04F-5B6C1E0FBA54}" dt="2024-07-12T04:14:28.963" v="3" actId="20577"/>
      <pc:docMkLst>
        <pc:docMk/>
      </pc:docMkLst>
      <pc:sldChg chg="modSp mod">
        <pc:chgData name="보정 김" userId="a0043f0dcba7ef25" providerId="LiveId" clId="{5A888016-5D77-4611-B04F-5B6C1E0FBA54}" dt="2024-07-12T04:14:28.963" v="3" actId="20577"/>
        <pc:sldMkLst>
          <pc:docMk/>
          <pc:sldMk cId="0" sldId="260"/>
        </pc:sldMkLst>
        <pc:spChg chg="mod">
          <ac:chgData name="보정 김" userId="a0043f0dcba7ef25" providerId="LiveId" clId="{5A888016-5D77-4611-B04F-5B6C1E0FBA54}" dt="2024-07-12T04:14:28.963" v="3" actId="20577"/>
          <ac:spMkLst>
            <pc:docMk/>
            <pc:sldMk cId="0" sldId="260"/>
            <ac:spMk id="3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89DFB-2448-4B42-8AF6-EC0DC8CF724C}" type="datetimeFigureOut">
              <a:rPr kumimoji="1" lang="ko-KR" altLang="en-US" smtClean="0"/>
              <a:t>2024-07-12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3BC88-43DA-5E4F-A285-25D538DE44E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235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안녕하세요 최종프로젝트 기획발표를 맡은 이강희입니다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저희는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스마트스토어인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매출상승을 위한 마케팅 솔루션을 기획해 보았습니다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857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팀원은 다음과 같이 조장 황영준의 전두지휘 아래 기획</a:t>
            </a:r>
            <a:r>
              <a:rPr lang="en-US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디자인</a:t>
            </a:r>
            <a:r>
              <a:rPr lang="en-US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데이터분석을 함께 진행하였습니다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485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이번 기획발표는 자사 현황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문제인식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타겟층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마케팅전략 그리고 목표성과 순서로 진행할 예정입니다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7870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먼저 자사 현황입니다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저희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후백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스마트 스토어는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비정제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설탕을 입혀 만든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호두강정을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결혼 답례품 등 다양한 상황의 답례품으로써 판매하는 스마트스토어로 작은 크기의 용기에 담긴 </a:t>
            </a:r>
            <a:r>
              <a:rPr lang="en-US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80g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호두강정을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주력 상품으로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판매하고있습니다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22802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다음은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SWOT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분석입니다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저희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강점은 리뷰 평점이 좋으며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수제 제작으로 인한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고퀄리티의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제품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고객응대 속도가 빠르고 주문 후 신속한 배송처리가 강점으로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볼수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약점으로는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호두강정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하나만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판매하다보니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제품과 맛 다양성 부족과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상세페이지의 디자인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컨텐츠 부족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광고를 통한 유입대비 구매 전환율이 낮고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SNS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채널의 홍보가 부족하다는 점입니다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기회부분은 현재 건강식품의 유행으로 인한여 건강식품인 호두가 경쟁력을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가질수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있다는 점입니다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위협부분으로는 현재 답례품시장에서 와인의 비중이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높아지고있는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추세며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호두를 싫어하거나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알러지가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있는 사람들에게 외면 받을 수 있다는 점 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1582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주 구매자는 스마트스토어 통계자료를 살펴본 결과 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유입수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및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결제수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대비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30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대 초반에 여성이며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9970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이를 통한 페르소나는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가까운 시일내의 결혼식을 앞두고 있는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30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대 초반 여성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황보정이며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고급스러우면서 가격이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부담되지않고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결혼식에 방문한 다양한 연령대의 손님들을 고려한 답례품을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찾고있습니다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13416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다음은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문제점입니다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문제점은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광고주로부터 직접 수집한 내용이며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먼저 실제 여러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주변인들로부터의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피드백을통한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가독성이 떨어지는 상세페이지와</a:t>
            </a: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를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활용한 마케팅 부족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적절하지못한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키워드로 인한 비효율적인 파워링크 광고가 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이러한 문제점들을 해결하기 위하여 신규고객 유입전략과 구매전환전략을 짜보았는데요</a:t>
            </a:r>
          </a:p>
          <a:p>
            <a:pPr latinLnBrk="1"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2499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첫번쨰 유입전략은 효율적인 파워링크 키워드입니다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1630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파워링크는 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네이버 검색 결과 페이지의 상단에 광고를 노출시켜 사용자의 시선을 끌기가 쉽고 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특정키워드를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설정하여 관련된 검색어를 입력한 사용자에게 광고를 노출시키는 특징을 가지며 </a:t>
            </a:r>
            <a:b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</a:b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클릭 수 노출 수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전환율등의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광고성과를 모니터링할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수있는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도구가 제공된다는 장점을 지녔습니다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7733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최근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2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주 파워링크 키워드별 현황을 보면 설정한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19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개의 키워드 중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4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개의 키워드를 제외한 나머지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15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개의 키워드 노출도가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0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인것을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알수있었습니다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3269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그래서 저희는 데이터 분석을 통한 키워드 산출 그리고 테스트의 반복 작업을 통하여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최적의 키워드를 산출하기로 하였습니다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73263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데이터 분석과정에서는 네이버 검색광고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API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와 </a:t>
            </a:r>
            <a:r>
              <a:rPr lang="en-US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itemscout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크롤링을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통한</a:t>
            </a:r>
            <a:b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</a:b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키워드의 월간 검색 수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키워드의 월간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클릭수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경쟁정도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키워드 상품 수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클릭대비 광고비등의 데이터를 활용하여 키워드를 도출하고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5915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5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일마다의 테스트와 다음과 같은 지표들을 확인하면서 제외할 키워드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추가로 테스트할 키워드를 구분하고 반복하면서 최적의 키워드를 산출할 것입니다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8414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다음은 유입 전략으로는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채널 컨텐츠 마케팅입니다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현재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후백은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인스타그램과 유튜브와 같은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채널운영과 컨텐츠 제작을 통한 홍보를 진행하고 있지만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24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년도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월부터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6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월까지의 데이터를 확인해보면 인스타그램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유입수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40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유튜브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10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명으로 매우 저조한 상태입니다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8993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이를 해결하기위해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웹크롤링을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통한 인스타그램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호두강정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관련</a:t>
            </a:r>
            <a:r>
              <a:rPr lang="en-US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릴스의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좋아요수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댓글수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공유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수등이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높은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릴스를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추출하여 트렌드를 분석하고 상세한 기획안과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82703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스토리보드 작성을 통해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릴스와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숏폼과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같은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홍보 컨텐츠를 만들 </a:t>
            </a:r>
            <a:r>
              <a:rPr lang="ko-KR" altLang="en-US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계획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016789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네 지금까지 신규유입전략에 얘기해보았는데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다음은 구매전환 전략입니다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23300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구매전략으로는 다음과 같은 페이지 뷰 체류시간 분석 등을 통하여 인사이트를 도출하여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86793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상세한 상품 설명 및 고품질 이미지</a:t>
            </a:r>
            <a:r>
              <a:rPr lang="en-US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베스트 고객 리뷰를 좀 더 강조하여 보여줄 것입니다</a:t>
            </a:r>
            <a:r>
              <a:rPr lang="en-US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r>
              <a:rPr lang="ko-KR" altLang="en-US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 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63588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0" lvl="2" indent="0" algn="l">
              <a:lnSpc>
                <a:spcPct val="99600"/>
              </a:lnSpc>
              <a:buClr>
                <a:srgbClr val="000000"/>
              </a:buClr>
              <a:buFont typeface="Arial"/>
              <a:buNone/>
            </a:pPr>
            <a:r>
              <a:rPr lang="ko-KR" altLang="en-US" sz="1800" b="0" i="0" u="none" strike="noStrike" dirty="0">
                <a:solidFill>
                  <a:srgbClr val="000000"/>
                </a:solidFill>
                <a:ea typeface="Pretendard Medium"/>
              </a:rPr>
              <a:t>기존 </a:t>
            </a:r>
            <a:r>
              <a:rPr lang="ko-KR" altLang="en-US" sz="1800" b="0" i="0" u="none" strike="noStrike" dirty="0" err="1">
                <a:solidFill>
                  <a:srgbClr val="000000"/>
                </a:solidFill>
                <a:ea typeface="Pretendard Medium"/>
              </a:rPr>
              <a:t>수량별</a:t>
            </a:r>
            <a:r>
              <a:rPr lang="ko-KR" altLang="en-US" sz="1800" b="0" i="0" u="none" strike="noStrike" dirty="0">
                <a:solidFill>
                  <a:srgbClr val="000000"/>
                </a:solidFill>
                <a:ea typeface="Pretendard Medium"/>
              </a:rPr>
              <a:t> 추가 할인이벤트와 </a:t>
            </a:r>
            <a:r>
              <a:rPr lang="ko-KR" altLang="en-US" sz="1800" b="0" i="0" u="none" strike="noStrike" dirty="0" err="1">
                <a:solidFill>
                  <a:srgbClr val="000000"/>
                </a:solidFill>
                <a:ea typeface="Pretendard Medium"/>
              </a:rPr>
              <a:t>퀵비</a:t>
            </a:r>
            <a:r>
              <a:rPr lang="ko-KR" altLang="en-US" sz="1800" b="0" i="0" u="none" strike="noStrike" dirty="0">
                <a:solidFill>
                  <a:srgbClr val="000000"/>
                </a:solidFill>
                <a:ea typeface="Pretendard Medium"/>
              </a:rPr>
              <a:t> 지원 이벤트의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Medium"/>
              </a:rPr>
              <a:t>가독성을</a:t>
            </a:r>
            <a:r>
              <a:rPr lang="en-US" altLang="ko-KR" sz="18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Medium"/>
              </a:rPr>
              <a:t>높이기</a:t>
            </a:r>
            <a:r>
              <a:rPr lang="en-US" altLang="ko-KR" sz="18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Medium"/>
              </a:rPr>
              <a:t>위한</a:t>
            </a:r>
            <a:r>
              <a:rPr lang="en-US" altLang="ko-KR" sz="18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Medium"/>
              </a:rPr>
              <a:t>레이아웃</a:t>
            </a:r>
            <a:r>
              <a:rPr lang="en-US" altLang="ko-KR" sz="1800" b="0" i="0" u="none" strike="noStrike" dirty="0">
                <a:solidFill>
                  <a:srgbClr val="000000"/>
                </a:solidFill>
                <a:ea typeface="Pretendard Medium"/>
              </a:rPr>
              <a:t>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a typeface="Pretendard Medium"/>
              </a:rPr>
              <a:t>및 디자인</a:t>
            </a:r>
            <a:r>
              <a:rPr lang="en-US" altLang="ko-KR" sz="18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Medium"/>
              </a:rPr>
              <a:t>조정</a:t>
            </a:r>
            <a:r>
              <a:rPr lang="ko-KR" altLang="en-US" sz="1800" b="0" i="0" u="none" strike="noStrike" dirty="0">
                <a:solidFill>
                  <a:srgbClr val="000000"/>
                </a:solidFill>
                <a:ea typeface="Pretendard Medium"/>
              </a:rPr>
              <a:t>을 했습니다</a:t>
            </a:r>
            <a:r>
              <a:rPr lang="en-US" altLang="ko-KR" sz="1800" b="0" i="0" u="none" strike="noStrike" dirty="0">
                <a:solidFill>
                  <a:srgbClr val="000000"/>
                </a:solidFill>
                <a:ea typeface="Pretendard Medium"/>
              </a:rPr>
              <a:t>.</a:t>
            </a:r>
            <a:r>
              <a:rPr lang="ko-KR" altLang="en-US" sz="1800" b="0" i="0" u="none" strike="noStrike" dirty="0">
                <a:solidFill>
                  <a:srgbClr val="000000"/>
                </a:solidFill>
                <a:ea typeface="Pretendard Medium"/>
              </a:rPr>
              <a:t> </a:t>
            </a:r>
            <a:endParaRPr lang="ko-KR" altLang="ko-KR" sz="1800" b="0" i="0" u="none" strike="noStrike" dirty="0">
              <a:solidFill>
                <a:srgbClr val="000000"/>
              </a:solidFill>
              <a:ea typeface="Pretendard Medium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96403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UI/UX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를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개선 등 유입된 예비구매자가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이탈하지않고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우리의 상품을 한눈에 이해하고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구매할수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있도록 매력적인 상세페이지 개선을 통하여 구매전환에 기여를 할 수 있게 한 계획입니다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05989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또한 현재 각 상품마다 기본적으로 할인이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들어가있지만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6920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이를 이대로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방치해두는게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아닌</a:t>
            </a:r>
            <a:b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</a:b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각 달마다 특별한 이벤트처럼 제목을 지어 사용자에게 이달의 특별 프로모션처럼 보이게 하여 구매를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유도할수있게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할 계획입니다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22187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이렇게 저희는 신규고객 유입과 구매 전환율을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높혀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매출 상승을 목표로 하며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52697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목표성과로는</a:t>
            </a: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채널유입량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최근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15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일 기준대비 유입량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4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명에서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100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 그리고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결제율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0%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에서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10%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까지 증대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파워링크 광고를 통한 유입량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94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명에서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200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결제율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3.26%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에서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8%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까지 증대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상세페이지 조회 대비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결제율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55.5%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에서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80%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이상까지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올리는것을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목표로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하고있습니다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4925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33.png"/><Relationship Id="rId5" Type="http://schemas.openxmlformats.org/officeDocument/2006/relationships/image" Target="../media/image4.png"/><Relationship Id="rId10" Type="http://schemas.openxmlformats.org/officeDocument/2006/relationships/image" Target="../media/image32.pn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7.png"/><Relationship Id="rId5" Type="http://schemas.openxmlformats.org/officeDocument/2006/relationships/image" Target="../media/image22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36.png"/><Relationship Id="rId1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6.png"/><Relationship Id="rId5" Type="http://schemas.openxmlformats.org/officeDocument/2006/relationships/image" Target="../media/image42.png"/><Relationship Id="rId10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2.png"/><Relationship Id="rId10" Type="http://schemas.openxmlformats.org/officeDocument/2006/relationships/image" Target="../media/image52.png"/><Relationship Id="rId4" Type="http://schemas.openxmlformats.org/officeDocument/2006/relationships/image" Target="../media/image49.png"/><Relationship Id="rId9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7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40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7.png"/><Relationship Id="rId9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40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7.png"/><Relationship Id="rId9" Type="http://schemas.openxmlformats.org/officeDocument/2006/relationships/image" Target="../media/image8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300" y="2006600"/>
            <a:ext cx="800100" cy="124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1900" y="5143500"/>
            <a:ext cx="2692400" cy="2222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489700" y="5626100"/>
            <a:ext cx="5410200" cy="1003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9"/>
              </a:lnSpc>
            </a:pP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후백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매출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상승을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위한</a:t>
            </a:r>
          </a:p>
          <a:p>
            <a:pPr lvl="0" algn="ctr">
              <a:lnSpc>
                <a:spcPct val="119519"/>
              </a:lnSpc>
            </a:pP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마케팅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솔루션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기획안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87700" y="3848100"/>
            <a:ext cx="11912600" cy="195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11000" b="0" i="0" u="none" strike="noStrike">
                <a:solidFill>
                  <a:srgbClr val="A3957D"/>
                </a:solidFill>
                <a:latin typeface="Pretendard Bold"/>
              </a:rPr>
              <a:t>HU 100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19000" y="1295400"/>
            <a:ext cx="46990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Light"/>
              </a:rPr>
              <a:t>BRAND</a:t>
            </a:r>
          </a:p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Light"/>
              </a:rPr>
              <a:t>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00"/>
            <a:ext cx="18288000" cy="176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1374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8356600"/>
            <a:ext cx="800100" cy="1244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727700" y="139700"/>
            <a:ext cx="66294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000" b="0" i="0" u="none" strike="noStrike">
                <a:solidFill>
                  <a:srgbClr val="FFFFFF"/>
                </a:solidFill>
                <a:latin typeface="Pretendard SemiBold"/>
              </a:rPr>
              <a:t>TEAMMATE 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436600" y="215900"/>
            <a:ext cx="46990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endParaRPr lang="en-US" sz="1800" b="0" i="0" u="none" strike="noStrike" spc="200" dirty="0">
              <a:solidFill>
                <a:srgbClr val="F4F4EC"/>
              </a:solidFill>
              <a:latin typeface="Pretendard Light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8900" y="8737600"/>
            <a:ext cx="157226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36000"/>
          </a:blip>
          <a:stretch>
            <a:fillRect/>
          </a:stretch>
        </p:blipFill>
        <p:spPr>
          <a:xfrm>
            <a:off x="5143500" y="5588000"/>
            <a:ext cx="2451100" cy="2743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alphaModFix amt="36000"/>
          </a:blip>
          <a:stretch>
            <a:fillRect/>
          </a:stretch>
        </p:blipFill>
        <p:spPr>
          <a:xfrm>
            <a:off x="2311400" y="5588000"/>
            <a:ext cx="2451100" cy="2743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alphaModFix amt="36000"/>
          </a:blip>
          <a:stretch>
            <a:fillRect/>
          </a:stretch>
        </p:blipFill>
        <p:spPr>
          <a:xfrm>
            <a:off x="7988300" y="5588000"/>
            <a:ext cx="2451100" cy="2743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928100" y="4152900"/>
            <a:ext cx="558800" cy="127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6000" y="4406900"/>
            <a:ext cx="8496300" cy="127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3213100" y="4762500"/>
            <a:ext cx="698500" cy="139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6032500" y="4749800"/>
            <a:ext cx="698500" cy="127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8864600" y="4762500"/>
            <a:ext cx="685800" cy="127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1709400" y="4749800"/>
            <a:ext cx="685800" cy="127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08300" y="4991100"/>
            <a:ext cx="1244600" cy="1244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53100" y="4991100"/>
            <a:ext cx="1244600" cy="1244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7900" y="4991100"/>
            <a:ext cx="1244600" cy="1244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336800" y="6781800"/>
            <a:ext cx="2400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ko-KR" sz="3700" b="0" i="0" u="none" strike="noStrike" spc="-300">
                <a:solidFill>
                  <a:srgbClr val="515050"/>
                </a:solidFill>
                <a:ea typeface="Pretendard SemiBold"/>
              </a:rPr>
              <a:t>황영준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68900" y="6781800"/>
            <a:ext cx="2400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ko-KR" sz="3700" b="0" i="0" u="none" strike="noStrike" spc="-300">
                <a:solidFill>
                  <a:srgbClr val="515050"/>
                </a:solidFill>
                <a:ea typeface="Pretendard SemiBold"/>
              </a:rPr>
              <a:t>이상준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13700" y="6781800"/>
            <a:ext cx="2400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ko-KR" sz="3700" b="0" i="0" u="none" strike="noStrike" spc="-300">
                <a:solidFill>
                  <a:srgbClr val="515050"/>
                </a:solidFill>
                <a:ea typeface="Pretendard SemiBold"/>
              </a:rPr>
              <a:t>이강희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03500" y="7632700"/>
            <a:ext cx="1854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전두지휘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11500" y="5194300"/>
            <a:ext cx="838200" cy="825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07100" y="5194300"/>
            <a:ext cx="736600" cy="838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1900" y="5194300"/>
            <a:ext cx="723900" cy="838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5400" y="4406900"/>
            <a:ext cx="8496300" cy="127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14516100" y="4762500"/>
            <a:ext cx="698500" cy="1397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3086100" y="6311900"/>
            <a:ext cx="863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400" b="0" i="0" u="none" strike="noStrike" spc="-100">
                <a:solidFill>
                  <a:srgbClr val="515050"/>
                </a:solidFill>
                <a:ea typeface="Pretendard SemiBold"/>
              </a:rPr>
              <a:t>조장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76900" y="6362700"/>
            <a:ext cx="1384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400" b="0" i="0" u="none" strike="noStrike" spc="-100">
                <a:solidFill>
                  <a:srgbClr val="515050"/>
                </a:solidFill>
                <a:ea typeface="Pretendard SemiBold"/>
              </a:rPr>
              <a:t>팀원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21700" y="6362700"/>
            <a:ext cx="1384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400" b="0" i="0" u="none" strike="noStrike" spc="-100">
                <a:solidFill>
                  <a:srgbClr val="515050"/>
                </a:solidFill>
                <a:ea typeface="Pretendard SemiBold"/>
              </a:rPr>
              <a:t>팀원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715000" y="7594600"/>
            <a:ext cx="13081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기획</a:t>
            </a:r>
            <a:r>
              <a:rPr lang="en-US" sz="2100" b="0" i="0" u="none" strike="noStrike" spc="-100">
                <a:solidFill>
                  <a:srgbClr val="676767"/>
                </a:solidFill>
                <a:latin typeface="Pretendard SemiBold"/>
              </a:rPr>
              <a:t>,</a:t>
            </a: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디자인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93100" y="7632700"/>
            <a:ext cx="1854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기획</a:t>
            </a:r>
            <a:r>
              <a:rPr lang="en-US" sz="2100" b="0" i="0" u="none" strike="noStrike" spc="-100">
                <a:solidFill>
                  <a:srgbClr val="676767"/>
                </a:solidFill>
                <a:latin typeface="Pretendard SemiBold"/>
              </a:rPr>
              <a:t>,</a:t>
            </a: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데이터분석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7">
            <a:alphaModFix amt="36000"/>
          </a:blip>
          <a:stretch>
            <a:fillRect/>
          </a:stretch>
        </p:blipFill>
        <p:spPr>
          <a:xfrm>
            <a:off x="10833100" y="5588000"/>
            <a:ext cx="2451100" cy="27432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0" y="4991100"/>
            <a:ext cx="1244600" cy="12446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10858500" y="6781800"/>
            <a:ext cx="2400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ko-KR" sz="3700" b="0" i="0" u="none" strike="noStrike" spc="-300">
                <a:solidFill>
                  <a:srgbClr val="515050"/>
                </a:solidFill>
                <a:ea typeface="Pretendard SemiBold"/>
              </a:rPr>
              <a:t>김보정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84000" y="5194300"/>
            <a:ext cx="736600" cy="8382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11353800" y="6362700"/>
            <a:ext cx="1384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400" b="0" i="0" u="none" strike="noStrike" spc="-100">
                <a:solidFill>
                  <a:srgbClr val="515050"/>
                </a:solidFill>
                <a:ea typeface="Pretendard SemiBold"/>
              </a:rPr>
              <a:t>팀원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972800" y="7632700"/>
            <a:ext cx="21209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기획</a:t>
            </a:r>
            <a:r>
              <a:rPr lang="en-US" sz="2100" b="0" i="0" u="none" strike="noStrike" spc="-100">
                <a:solidFill>
                  <a:srgbClr val="676767"/>
                </a:solidFill>
                <a:latin typeface="Pretendard SemiBold"/>
              </a:rPr>
              <a:t>,</a:t>
            </a: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디자인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7">
            <a:alphaModFix amt="36000"/>
          </a:blip>
          <a:stretch>
            <a:fillRect/>
          </a:stretch>
        </p:blipFill>
        <p:spPr>
          <a:xfrm>
            <a:off x="13677900" y="5549900"/>
            <a:ext cx="2451100" cy="27432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87500" y="4953000"/>
            <a:ext cx="1244600" cy="12446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13703300" y="6743700"/>
            <a:ext cx="2400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ko-KR" sz="3700" b="0" i="0" u="none" strike="noStrike" spc="-300">
                <a:solidFill>
                  <a:srgbClr val="515050"/>
                </a:solidFill>
                <a:ea typeface="Pretendard SemiBold"/>
              </a:rPr>
              <a:t>성유진</a:t>
            </a: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541500" y="5156200"/>
            <a:ext cx="736600" cy="838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70600" y="2082800"/>
            <a:ext cx="6311900" cy="1955800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14211300" y="6324600"/>
            <a:ext cx="1384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400" b="0" i="0" u="none" strike="noStrike" spc="-100">
                <a:solidFill>
                  <a:srgbClr val="515050"/>
                </a:solidFill>
                <a:ea typeface="Pretendard SemiBold"/>
              </a:rPr>
              <a:t>팀원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830300" y="7607300"/>
            <a:ext cx="21209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기획</a:t>
            </a:r>
            <a:r>
              <a:rPr lang="en-US" sz="2100" b="0" i="0" u="none" strike="noStrike" spc="-100">
                <a:solidFill>
                  <a:srgbClr val="676767"/>
                </a:solidFill>
                <a:latin typeface="Pretendard SemiBold"/>
              </a:rPr>
              <a:t>,</a:t>
            </a: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디자인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54800" y="2463800"/>
            <a:ext cx="49149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600" b="0" i="0" u="none" strike="noStrike" spc="-100">
                <a:solidFill>
                  <a:srgbClr val="000000"/>
                </a:solidFill>
                <a:latin typeface="Pretendard Black"/>
              </a:rPr>
              <a:t>Dark </a:t>
            </a:r>
            <a:r>
              <a:rPr lang="ko-KR" sz="6600" b="0" i="0" u="none" strike="noStrike" spc="-100">
                <a:solidFill>
                  <a:srgbClr val="000000"/>
                </a:solidFill>
                <a:ea typeface="Pretendard Black"/>
              </a:rPr>
              <a:t>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271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8700" y="2095500"/>
            <a:ext cx="850900" cy="133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7734300"/>
            <a:ext cx="850900" cy="133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1600"/>
            <a:ext cx="182880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52"/>
            <a:ext cx="18288000" cy="113747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2300" y="2552700"/>
            <a:ext cx="7874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00" y="3898900"/>
            <a:ext cx="787400" cy="1028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6900" y="5270500"/>
            <a:ext cx="787400" cy="1016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4200" y="6553200"/>
            <a:ext cx="800100" cy="914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72300" y="7772400"/>
            <a:ext cx="787400" cy="1003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778500" y="457200"/>
            <a:ext cx="66421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목차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97800" y="2540000"/>
            <a:ext cx="5410200" cy="599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자사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현황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판매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제품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SWOT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분석</a:t>
            </a:r>
          </a:p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문제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인식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문제점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도출</a:t>
            </a:r>
          </a:p>
          <a:p>
            <a:pPr lvl="0" algn="l">
              <a:lnSpc>
                <a:spcPct val="151890"/>
              </a:lnSpc>
            </a:pP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TARGET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PERSONA</a:t>
            </a:r>
          </a:p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마케팅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신규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유입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구매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전환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목표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성과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00"/>
            <a:ext cx="18288000" cy="176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58"/>
            <a:ext cx="18288000" cy="11374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7900" y="4102100"/>
            <a:ext cx="800100" cy="124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7632700"/>
            <a:ext cx="800100" cy="124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3000" y="2882900"/>
            <a:ext cx="3200400" cy="2425700"/>
          </a:xfrm>
          <a:prstGeom prst="rect">
            <a:avLst/>
          </a:prstGeom>
          <a:effectLst>
            <a:outerShdw blurRad="58837" dist="56091" dir="2700000">
              <a:srgbClr val="000000">
                <a:alpha val="5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84100" y="2895600"/>
            <a:ext cx="3175000" cy="2438400"/>
          </a:xfrm>
          <a:prstGeom prst="rect">
            <a:avLst/>
          </a:prstGeom>
          <a:effectLst>
            <a:outerShdw blurRad="59189" dist="56258" dir="2700000">
              <a:srgbClr val="000000">
                <a:alpha val="5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6500" y="2908300"/>
            <a:ext cx="3213100" cy="2438400"/>
          </a:xfrm>
          <a:prstGeom prst="rect">
            <a:avLst/>
          </a:prstGeom>
          <a:effectLst>
            <a:outerShdw blurRad="59189" dist="56258" dir="2700000">
              <a:srgbClr val="000000">
                <a:alpha val="5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4300" y="1485900"/>
            <a:ext cx="2616200" cy="2616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5727700" y="419100"/>
            <a:ext cx="66421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브랜드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판매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36600" y="3683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자사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분석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2600" y="5384800"/>
            <a:ext cx="4495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호두강정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호두정과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답례품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80g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60200" y="5384800"/>
            <a:ext cx="4876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호두강정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호두정과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답례품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2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구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/3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구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/4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구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48500" y="5384800"/>
            <a:ext cx="4495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실속형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3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팩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120g x 3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호두정과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 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9200" y="6896100"/>
            <a:ext cx="3213100" cy="2413000"/>
          </a:xfrm>
          <a:prstGeom prst="rect">
            <a:avLst/>
          </a:prstGeom>
          <a:effectLst>
            <a:outerShdw blurRad="58290" dist="55829" dir="2700000">
              <a:srgbClr val="000000">
                <a:alpha val="50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6604000" y="9372600"/>
            <a:ext cx="4876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호두강정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낱개포장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12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19400" y="2032000"/>
            <a:ext cx="3302000" cy="876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000" b="0" i="0" u="none" strike="noStrike">
                <a:solidFill>
                  <a:srgbClr val="DB0000"/>
                </a:solidFill>
                <a:ea typeface="Hakgyoansim Gaeulsopung B"/>
              </a:rPr>
              <a:t>주력</a:t>
            </a:r>
            <a:r>
              <a:rPr lang="en-US" sz="5000" b="0" i="0" u="none" strike="noStrike">
                <a:solidFill>
                  <a:srgbClr val="DB0000"/>
                </a:solidFill>
                <a:latin typeface="Hakgyoansim Gaeulsopung B"/>
              </a:rPr>
              <a:t> </a:t>
            </a:r>
            <a:r>
              <a:rPr lang="ko-KR" sz="5000" b="0" i="0" u="none" strike="noStrike">
                <a:solidFill>
                  <a:srgbClr val="DB0000"/>
                </a:solidFill>
                <a:ea typeface="Hakgyoansim Gaeulsopung B"/>
              </a:rPr>
              <a:t>상품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271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00" y="2082800"/>
            <a:ext cx="850900" cy="133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7480300"/>
            <a:ext cx="850900" cy="133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00" y="5448300"/>
            <a:ext cx="15913100" cy="139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5613400" y="5422900"/>
            <a:ext cx="6769100" cy="139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3276600"/>
            <a:ext cx="127000" cy="127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3784600"/>
            <a:ext cx="127000" cy="12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4292600"/>
            <a:ext cx="127000" cy="127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4826000"/>
            <a:ext cx="127000" cy="127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3213100"/>
            <a:ext cx="127000" cy="127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3721100"/>
            <a:ext cx="127000" cy="127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4254500"/>
            <a:ext cx="127000" cy="127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4762500"/>
            <a:ext cx="127000" cy="127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0" y="7099300"/>
            <a:ext cx="127000" cy="127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0" y="7632700"/>
            <a:ext cx="127000" cy="1270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1682635700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7800" y="6959600"/>
            <a:ext cx="127000" cy="127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7800" y="7505700"/>
            <a:ext cx="127000" cy="127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01600"/>
            <a:ext cx="18288000" cy="1651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8288000" cy="113747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25700" y="3987800"/>
            <a:ext cx="3987800" cy="139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17200" y="5003800"/>
            <a:ext cx="3187700" cy="114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28300" y="3937000"/>
            <a:ext cx="3187700" cy="114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04500" y="4470400"/>
            <a:ext cx="4648200" cy="1143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778500" y="457200"/>
            <a:ext cx="66421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SWOT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분석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0800" y="2082800"/>
            <a:ext cx="2019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spc="-100">
                <a:solidFill>
                  <a:srgbClr val="8D776A"/>
                </a:solidFill>
                <a:latin typeface="Pretendard SemiBold"/>
              </a:rPr>
              <a:t>S</a:t>
            </a: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trength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4800" y="2095500"/>
            <a:ext cx="24892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spc="-100">
                <a:solidFill>
                  <a:srgbClr val="8D776A"/>
                </a:solidFill>
                <a:latin typeface="Pretendard SemiBold"/>
              </a:rPr>
              <a:t>W</a:t>
            </a: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eekness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8100" y="5626100"/>
            <a:ext cx="3098800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 spc="-100">
                <a:solidFill>
                  <a:srgbClr val="8D776A"/>
                </a:solidFill>
                <a:latin typeface="Pretendard SemiBold"/>
              </a:rPr>
              <a:t>O</a:t>
            </a:r>
            <a:r>
              <a:rPr lang="en-US" sz="3200" b="0" i="0" u="none" strike="noStrike">
                <a:solidFill>
                  <a:srgbClr val="8D776A"/>
                </a:solidFill>
                <a:latin typeface="Pretendard SemiBold"/>
              </a:rPr>
              <a:t>pportunity</a:t>
            </a:r>
            <a:endParaRPr lang="en-US" sz="3200" b="0" i="0" u="none" strike="noStrike" dirty="0">
              <a:solidFill>
                <a:srgbClr val="8D776A"/>
              </a:solidFill>
              <a:latin typeface="Pretendard Semi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194800" y="5638800"/>
            <a:ext cx="1727200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 spc="-100">
                <a:solidFill>
                  <a:srgbClr val="8D776A"/>
                </a:solidFill>
                <a:latin typeface="Pretendard SemiBold"/>
              </a:rPr>
              <a:t>T</a:t>
            </a:r>
            <a:r>
              <a:rPr lang="en-US" sz="3200" b="0" i="0" u="none" strike="noStrike">
                <a:solidFill>
                  <a:srgbClr val="8D776A"/>
                </a:solidFill>
                <a:latin typeface="Pretendard SemiBold"/>
              </a:rPr>
              <a:t>hreat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463800" y="3111500"/>
            <a:ext cx="5664200" cy="193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리뷰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,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평점이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좋음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수제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제작으로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제품의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퀄리티가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높음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고객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응대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속도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빠름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주문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신속한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배송처리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668000" y="3035300"/>
            <a:ext cx="5829300" cy="193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제품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,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맛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다양성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부족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상세페이지의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디자인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부족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광고를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통한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유입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대비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구매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전환율이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낮음</a:t>
            </a:r>
          </a:p>
          <a:p>
            <a:pPr lvl="0" algn="l">
              <a:lnSpc>
                <a:spcPct val="159359"/>
              </a:lnSpc>
            </a:pP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SNS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채널의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홍보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부족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25700" y="6946900"/>
            <a:ext cx="66421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건강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식품의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유행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호두에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다양한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맛을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추가하여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소비자의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폭을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확대할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있음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53700" y="6807200"/>
            <a:ext cx="56642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답례품의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시장에서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와인의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비중이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높아지는중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호두를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싫어하거나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알러지가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있는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사람들에게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외면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436600" y="3683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자사</a:t>
            </a:r>
            <a:r>
              <a:rPr lang="en-US" alt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분석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700"/>
            <a:ext cx="18288000" cy="1879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288000" cy="11374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0500" y="2641600"/>
            <a:ext cx="8064500" cy="6108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315200" y="444500"/>
            <a:ext cx="3657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PERSONA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840200" y="412197"/>
            <a:ext cx="12319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Target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44100" y="4635500"/>
            <a:ext cx="7340600" cy="180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유입수</a:t>
            </a:r>
            <a:r>
              <a:rPr lang="en-US" sz="36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6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결제수</a:t>
            </a:r>
            <a:r>
              <a:rPr lang="en-US" sz="36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대비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lvl="0" algn="l">
              <a:lnSpc>
                <a:spcPct val="99600"/>
              </a:lnSpc>
            </a:pPr>
            <a:br>
              <a:rPr/>
            </a:b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주</a:t>
            </a:r>
            <a:r>
              <a:rPr lang="en-US" sz="47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구매자</a:t>
            </a:r>
            <a:r>
              <a:rPr lang="en-US" sz="4700" b="0" i="0" u="none" strike="noStrike">
                <a:solidFill>
                  <a:srgbClr val="000000"/>
                </a:solidFill>
                <a:latin typeface="Pretendard Bold"/>
              </a:rPr>
              <a:t> 31~35</a:t>
            </a: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세</a:t>
            </a:r>
            <a:r>
              <a:rPr lang="en-US" sz="47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여성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2362200"/>
            <a:ext cx="4787900" cy="6172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"/>
            <a:ext cx="18288000" cy="1879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8288000" cy="11374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4203700"/>
            <a:ext cx="2806700" cy="800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7200900"/>
            <a:ext cx="2692400" cy="80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0700" y="3937000"/>
            <a:ext cx="7607300" cy="800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3100" y="6908800"/>
            <a:ext cx="4546600" cy="863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36400" y="3962400"/>
            <a:ext cx="2222500" cy="101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34800" y="4406900"/>
            <a:ext cx="3632200" cy="101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955800" y="5905500"/>
            <a:ext cx="1803400" cy="172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6240"/>
              </a:lnSpc>
            </a:pPr>
            <a:r>
              <a:rPr lang="en-US" sz="2800" b="0" i="0" u="none" strike="noStrike">
                <a:solidFill>
                  <a:srgbClr val="8D776A"/>
                </a:solidFill>
                <a:latin typeface="Pretendard SemiBold"/>
              </a:rPr>
              <a:t>Profile</a:t>
            </a:r>
          </a:p>
          <a:p>
            <a:pPr lvl="0" algn="l">
              <a:lnSpc>
                <a:spcPct val="106240"/>
              </a:lnSpc>
            </a:pPr>
            <a:r>
              <a:rPr lang="en-US" sz="2800" b="0" i="0" u="none" strike="noStrike">
                <a:solidFill>
                  <a:srgbClr val="8D776A"/>
                </a:solidFill>
                <a:latin typeface="Pretendard SemiBold"/>
              </a:rPr>
              <a:t>   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이름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황보정</a:t>
            </a:r>
          </a:p>
          <a:p>
            <a:pPr lvl="0" algn="l">
              <a:lnSpc>
                <a:spcPct val="10624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나이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31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세</a:t>
            </a:r>
          </a:p>
          <a:p>
            <a:pPr lvl="0" algn="l">
              <a:lnSpc>
                <a:spcPct val="10624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직업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배우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28200" y="3098800"/>
            <a:ext cx="7277100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NEEDS</a:t>
            </a:r>
          </a:p>
          <a:p>
            <a:pPr lvl="0" algn="l">
              <a:lnSpc>
                <a:spcPct val="10707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고급스러우면서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가격이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부담되지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않는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답례품을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원함</a:t>
            </a:r>
          </a:p>
          <a:p>
            <a:pPr lvl="0" algn="l">
              <a:lnSpc>
                <a:spcPct val="10707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결혼식에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오신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어르신과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동료를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고려한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답례품을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찾고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있음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48900" y="5384800"/>
            <a:ext cx="7670800" cy="223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369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PAIN POINT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제품의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합리적이지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못한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가격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고급스럽지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못한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패키징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배송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날짜가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맞지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않음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너무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맛이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달면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안됨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4800" y="3225800"/>
            <a:ext cx="27051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BIO</a:t>
            </a:r>
          </a:p>
          <a:p>
            <a:pPr lvl="0" algn="l">
              <a:lnSpc>
                <a:spcPct val="9960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8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월에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결혼식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예정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5200" y="444500"/>
            <a:ext cx="3657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PERSONA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840200" y="450850"/>
            <a:ext cx="12319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endParaRPr lang="en-US" sz="1800" b="0" i="0" u="none" strike="noStrike" spc="200" dirty="0">
              <a:solidFill>
                <a:srgbClr val="F4F4EC"/>
              </a:solidFill>
              <a:latin typeface="Pretendard Light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26B102FB-4DC4-F7B1-3B67-F9C682B69821}"/>
              </a:ext>
            </a:extLst>
          </p:cNvPr>
          <p:cNvSpPr txBox="1"/>
          <p:nvPr/>
        </p:nvSpPr>
        <p:spPr>
          <a:xfrm>
            <a:off x="16840200" y="412197"/>
            <a:ext cx="12319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Target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2700"/>
            <a:ext cx="18288000" cy="1879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2700" y="-38100"/>
            <a:ext cx="18376900" cy="1143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11300" y="406400"/>
            <a:ext cx="152908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문제점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36600" y="3683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문제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인식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600" y="3187700"/>
            <a:ext cx="5003800" cy="1181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600" y="4978400"/>
            <a:ext cx="5003800" cy="1181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600" y="6807200"/>
            <a:ext cx="5003800" cy="1181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2700" y="3771900"/>
            <a:ext cx="29210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0" y="3187700"/>
            <a:ext cx="5003800" cy="1181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0" y="4978400"/>
            <a:ext cx="5003800" cy="1181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0" y="6807200"/>
            <a:ext cx="5003800" cy="1181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2700" y="5562600"/>
            <a:ext cx="29210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8100" y="7366000"/>
            <a:ext cx="2921000" cy="38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048000" y="3314700"/>
            <a:ext cx="42291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실제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여러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소비자로부터의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b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</a:b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상세페이지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문제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수집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48000" y="5295900"/>
            <a:ext cx="4216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SNS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를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활용한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마케팅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부족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82900" y="6946900"/>
            <a:ext cx="4483100" cy="876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적절하지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못한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키워드로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선정으로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인한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비효율적인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파워링크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광고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34700" y="3492500"/>
            <a:ext cx="43307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상세페이지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개선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18800" y="5067300"/>
            <a:ext cx="46101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유튜브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인스타그램등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SNS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채널</a:t>
            </a:r>
          </a:p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컨텐츠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마케팅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0700" y="6908800"/>
            <a:ext cx="47625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분석을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통한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효율적인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키워드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산출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4531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210300" y="4559300"/>
            <a:ext cx="58674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신규</a:t>
            </a:r>
            <a:r>
              <a:rPr lang="en-US" sz="55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고객</a:t>
            </a:r>
            <a:r>
              <a:rPr lang="en-US" sz="55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유입</a:t>
            </a:r>
            <a:r>
              <a:rPr lang="en-US" sz="55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전략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5765800"/>
            <a:ext cx="5232400" cy="142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000" y="2628900"/>
            <a:ext cx="10223500" cy="6845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413000" y="4813300"/>
            <a:ext cx="254000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200" b="0" i="0" u="none" strike="noStrike">
                <a:solidFill>
                  <a:srgbClr val="000000"/>
                </a:solidFill>
                <a:ea typeface="Pretendard Bold"/>
              </a:rPr>
              <a:t>파워링크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91500" y="2870200"/>
            <a:ext cx="53848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검색결과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페이지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최상위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노출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42300" y="4876800"/>
            <a:ext cx="53848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키워드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타겟팅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39100" y="3644900"/>
            <a:ext cx="96901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네이버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검색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결과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페이지의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상단에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노출되어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사용자의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시선을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끌기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쉽다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유저들의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많은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클릭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유도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가능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89900" y="5905500"/>
            <a:ext cx="98552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특정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키워드를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설정하여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관련된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검색어를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입력한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사용자에게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가능</a:t>
            </a:r>
          </a:p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키워드의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선택과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입찰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전략에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따라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위치와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빈도가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달라집니다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91500" y="7175500"/>
            <a:ext cx="53848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실시간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성과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분석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04200" y="8128000"/>
            <a:ext cx="95758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성과를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실시간으로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모니터링하고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분석할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있는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다양한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도구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제공</a:t>
            </a:r>
          </a:p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클릭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,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,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전환율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등의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데이터를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기반으로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캠페인을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최적화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3644900"/>
            <a:ext cx="10541000" cy="5867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4394200"/>
            <a:ext cx="5588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최근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2</a:t>
            </a: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주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파워링크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현황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500" y="5854700"/>
            <a:ext cx="50927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19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중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b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</a:b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4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개의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제외한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b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</a:b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15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개키워드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노출도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0 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5200" y="5537200"/>
            <a:ext cx="5397500" cy="800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8216900" y="4394200"/>
            <a:ext cx="3086100" cy="3086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814300" y="5676900"/>
            <a:ext cx="31877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최적의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" y="2451100"/>
            <a:ext cx="7150100" cy="720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378200" y="3035300"/>
            <a:ext cx="1244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</a:t>
            </a:r>
          </a:p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산출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2500" y="7620000"/>
            <a:ext cx="31877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테스트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9600" y="7620000"/>
            <a:ext cx="1841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데이터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분석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700" y="4991100"/>
            <a:ext cx="4749800" cy="4318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133235" y="5110316"/>
            <a:ext cx="4292600" cy="382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키워드의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월간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검색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키워드의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월간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클릭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키워드의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월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평균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 err="1">
                <a:solidFill>
                  <a:srgbClr val="000000"/>
                </a:solidFill>
                <a:ea typeface="Pretendard Regular"/>
              </a:rPr>
              <a:t>클릭률</a:t>
            </a:r>
            <a:endParaRPr lang="ko-KR" sz="3000" b="0" i="0" u="none" strike="noStrike" dirty="0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경쟁정도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월평균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노출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 err="1">
                <a:solidFill>
                  <a:srgbClr val="000000"/>
                </a:solidFill>
                <a:ea typeface="Pretendard Regular"/>
              </a:rPr>
              <a:t>광고수</a:t>
            </a:r>
            <a:endParaRPr lang="ko-KR" sz="3000" b="0" i="0" u="none" strike="noStrike" dirty="0">
              <a:solidFill>
                <a:srgbClr val="000000"/>
              </a:solidFill>
              <a:ea typeface="Pretendard Regular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400" y="4991100"/>
            <a:ext cx="4749800" cy="4318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623550" y="6328902"/>
            <a:ext cx="33655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키워드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상품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 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클릭대비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Regular"/>
              </a:rPr>
              <a:t>광고비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43400" y="4102100"/>
            <a:ext cx="32766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네이버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검색광고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API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44200" y="4102100"/>
            <a:ext cx="2984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itemscout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크롤링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355600" y="2019300"/>
            <a:ext cx="34417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Bold"/>
              </a:rPr>
              <a:t>[ </a:t>
            </a:r>
            <a:r>
              <a:rPr lang="ko-KR" sz="3000" b="0" i="0" u="none" strike="noStrike">
                <a:solidFill>
                  <a:srgbClr val="8D776A"/>
                </a:solidFill>
                <a:ea typeface="Pretendard Bold"/>
              </a:rPr>
              <a:t>데이터</a:t>
            </a:r>
            <a:r>
              <a:rPr lang="en-US" sz="3000" b="0" i="0" u="none" strike="noStrike">
                <a:solidFill>
                  <a:srgbClr val="8D776A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8D776A"/>
                </a:solidFill>
                <a:ea typeface="Pretendard Bold"/>
              </a:rPr>
              <a:t>분석</a:t>
            </a:r>
            <a:r>
              <a:rPr lang="en-US" sz="3000" b="0" i="0" u="none" strike="noStrike">
                <a:solidFill>
                  <a:srgbClr val="8D776A"/>
                </a:solidFill>
                <a:latin typeface="Pretendard Bold"/>
              </a:rPr>
              <a:t> 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100" y="2209800"/>
            <a:ext cx="43434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[ </a:t>
            </a:r>
            <a:r>
              <a:rPr lang="ko-KR" sz="2900" b="0" i="0" u="none" strike="noStrike">
                <a:solidFill>
                  <a:srgbClr val="8D776A"/>
                </a:solidFill>
                <a:ea typeface="Pretendard Bold"/>
              </a:rPr>
              <a:t>키워드</a:t>
            </a: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 </a:t>
            </a:r>
            <a:r>
              <a:rPr lang="ko-KR" sz="2900" b="0" i="0" u="none" strike="noStrike">
                <a:solidFill>
                  <a:srgbClr val="8D776A"/>
                </a:solidFill>
                <a:ea typeface="Pretendard Bold"/>
              </a:rPr>
              <a:t>도출</a:t>
            </a: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/ </a:t>
            </a:r>
            <a:r>
              <a:rPr lang="ko-KR" sz="2900" b="0" i="0" u="none" strike="noStrike">
                <a:solidFill>
                  <a:srgbClr val="8D776A"/>
                </a:solidFill>
                <a:ea typeface="Pretendard Bold"/>
              </a:rPr>
              <a:t>테스트</a:t>
            </a: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 ]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300" y="6692900"/>
            <a:ext cx="2806700" cy="1028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4140200"/>
            <a:ext cx="7315200" cy="1003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5422900"/>
            <a:ext cx="6248400" cy="977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" y="3606800"/>
            <a:ext cx="6794500" cy="6172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549400" y="4851400"/>
            <a:ext cx="6324600" cy="3835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5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일마다의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테스트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지표확인</a:t>
            </a:r>
            <a:b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</a:br>
            <a:endParaRPr lang="ko-KR" sz="35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지표를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통한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제외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키워드와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추가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테스트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키워드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선정</a:t>
            </a:r>
            <a:b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</a:br>
            <a:endParaRPr lang="ko-KR" sz="35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분석을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통한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추가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키워드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산출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4900" y="4521200"/>
            <a:ext cx="6172200" cy="4635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127000"/>
            <a:ext cx="70739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SNS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채널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컨텐츠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마케팅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" y="2743200"/>
            <a:ext cx="51181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24.01 ~ 24.06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데이터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기준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32000" y="5473700"/>
            <a:ext cx="72644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인스타그램과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유튜브와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같은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SNS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채널을</a:t>
            </a:r>
            <a:b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</a:b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통해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마케팅을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진행하고있지만</a:t>
            </a:r>
            <a:b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</a:b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트렌드에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맞지않는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컨텐츠로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인한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유입수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저조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3810000"/>
            <a:ext cx="4318000" cy="4978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127000"/>
            <a:ext cx="70739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SNS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채널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컨텐츠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마케팅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23100" y="2628900"/>
            <a:ext cx="3848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SNS </a:t>
            </a:r>
            <a:r>
              <a:rPr lang="ko-KR" sz="4000" b="0" i="0" u="none" strike="noStrike">
                <a:solidFill>
                  <a:srgbClr val="000000"/>
                </a:solidFill>
                <a:ea typeface="Pretendard Bold"/>
              </a:rPr>
              <a:t>광고</a:t>
            </a: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Bold"/>
              </a:rPr>
              <a:t>기획안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6400" y="3238500"/>
            <a:ext cx="4076700" cy="189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목표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설정</a:t>
            </a:r>
            <a:b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</a:br>
            <a:endParaRPr lang="ko-KR" sz="3000" b="0" i="0" u="none" strike="noStrike">
              <a:solidFill>
                <a:srgbClr val="000000"/>
              </a:solidFill>
              <a:ea typeface="Pretendard Medium"/>
            </a:endParaRP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1.1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고객분석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1.2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목표설정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6400" y="5410200"/>
            <a:ext cx="4851400" cy="458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2,.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매력적인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릴스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콘텐츠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제작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 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2.1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트렌드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파악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인스타그램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릴스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탐색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경쟁사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온라인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트렌드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2.2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콘텐츠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기획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28700" y="2133600"/>
            <a:ext cx="3746500" cy="792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3.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효과적인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릴스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홍보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3.1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적절한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활용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관련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키워드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트렌드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브랜드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활용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개수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조절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3.2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맞춤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홍보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활동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시간대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게시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3.3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참여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유도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댓글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이벤트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3.4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성과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조회수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좋아요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댓글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공유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저장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등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지표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인구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통계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정보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관심사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A/B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테스트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613400" y="127000"/>
            <a:ext cx="70739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SNS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채널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컨텐츠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마케팅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396477"/>
              </p:ext>
            </p:extLst>
          </p:nvPr>
        </p:nvGraphicFramePr>
        <p:xfrm>
          <a:off x="8458200" y="2895600"/>
          <a:ext cx="9042402" cy="6997700"/>
        </p:xfrm>
        <a:graphic>
          <a:graphicData uri="http://schemas.openxmlformats.org/drawingml/2006/table">
            <a:tbl>
              <a:tblPr/>
              <a:tblGrid>
                <a:gridCol w="1507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7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7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7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7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씬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넘버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화면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상황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설명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사운드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자막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소요시간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S-Core Dream 4 Regular"/>
                        </a:rPr>
                        <a:t>#1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썸네일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맛잇는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간식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-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제이레빗</a:t>
                      </a:r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호두강정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꿀조합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best 2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2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#2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투명볼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안에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담긴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그릭요거트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위에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뿌려놓고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시럽뿌리는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장면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호두강정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그릭요거트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블루베리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꿀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or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메실청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2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#3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투명볼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안에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담긴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아이스크림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위에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뿌려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놓고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시럽뿌리는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장면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바닐라아이스크림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호두강정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+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꿀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or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초코시럽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2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#4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먹는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장면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냠냠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5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#5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HU100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로고와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함꼐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아웃트로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건강한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선택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 hu100</a:t>
                      </a:r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S-Core Dream 4 Regular"/>
                        </a:rPr>
                        <a:t>1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8305800" y="2044700"/>
            <a:ext cx="24511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1" i="0" u="none" strike="noStrike" dirty="0">
                <a:solidFill>
                  <a:srgbClr val="000000"/>
                </a:solidFill>
                <a:ea typeface="Pretendard SemiBold"/>
              </a:rPr>
              <a:t>스토리보드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6680200"/>
            <a:ext cx="4711700" cy="1536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20800" y="6845300"/>
            <a:ext cx="774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제목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400" y="7474770"/>
            <a:ext cx="23114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000" b="0" i="0" u="none" strike="noStrike" spc="-300" dirty="0" err="1">
                <a:solidFill>
                  <a:srgbClr val="000000"/>
                </a:solidFill>
                <a:ea typeface="Pretendard SemiBold"/>
              </a:rPr>
              <a:t>꿀조합</a:t>
            </a:r>
            <a:r>
              <a:rPr lang="en-US" sz="2000" b="0" i="0" u="none" strike="noStrike" spc="-300" dirty="0">
                <a:solidFill>
                  <a:srgbClr val="000000"/>
                </a:solidFill>
                <a:latin typeface="Pretendard SemiBold"/>
              </a:rPr>
              <a:t> Best 2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826000"/>
            <a:ext cx="4711700" cy="1536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20800" y="4965700"/>
            <a:ext cx="14732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타겟층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5875" y="5626100"/>
            <a:ext cx="53467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en-US" sz="2000" b="0" i="0" u="none" strike="noStrike" spc="-300" dirty="0">
                <a:solidFill>
                  <a:srgbClr val="000000"/>
                </a:solidFill>
                <a:latin typeface="Pretendard SemiBold"/>
              </a:rPr>
              <a:t>20~30</a:t>
            </a:r>
            <a:r>
              <a:rPr lang="ko-KR" sz="2000" b="0" i="0" u="none" strike="noStrike" spc="-300" dirty="0">
                <a:solidFill>
                  <a:srgbClr val="000000"/>
                </a:solidFill>
                <a:ea typeface="Pretendard SemiBold"/>
              </a:rPr>
              <a:t>대</a:t>
            </a:r>
            <a:r>
              <a:rPr lang="en-US" sz="2000" b="0" i="0" u="none" strike="noStrike" spc="-300" dirty="0">
                <a:solidFill>
                  <a:srgbClr val="000000"/>
                </a:solidFill>
                <a:latin typeface="Pretendard SemiBold"/>
              </a:rPr>
              <a:t>,  SNS</a:t>
            </a:r>
            <a:r>
              <a:rPr lang="ko-KR" sz="2000" b="0" i="0" u="none" strike="noStrike" spc="-300" dirty="0">
                <a:solidFill>
                  <a:srgbClr val="000000"/>
                </a:solidFill>
                <a:ea typeface="Pretendard SemiBold"/>
              </a:rPr>
              <a:t>를</a:t>
            </a:r>
            <a:r>
              <a:rPr lang="en-US" sz="2000" b="0" i="0" u="none" strike="noStrike" spc="-300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000" b="0" i="0" u="none" strike="noStrike" spc="-300" dirty="0">
                <a:solidFill>
                  <a:srgbClr val="000000"/>
                </a:solidFill>
                <a:ea typeface="Pretendard SemiBold"/>
              </a:rPr>
              <a:t>많이</a:t>
            </a:r>
            <a:r>
              <a:rPr lang="en-US" sz="2000" b="0" i="0" u="none" strike="noStrike" spc="-300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000" b="0" i="0" u="none" strike="noStrike" spc="-300" dirty="0">
                <a:solidFill>
                  <a:srgbClr val="000000"/>
                </a:solidFill>
                <a:ea typeface="Pretendard SemiBold"/>
              </a:rPr>
              <a:t>사용하는</a:t>
            </a:r>
            <a:r>
              <a:rPr lang="en-US" sz="2000" b="0" i="0" u="none" strike="noStrike" spc="-300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000" b="0" i="0" u="none" strike="noStrike" spc="-300" dirty="0">
                <a:solidFill>
                  <a:srgbClr val="000000"/>
                </a:solidFill>
                <a:ea typeface="Pretendard SemiBold"/>
              </a:rPr>
              <a:t>세대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8521700"/>
            <a:ext cx="4711700" cy="15367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20800" y="8699500"/>
            <a:ext cx="14732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길이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5875" y="9269771"/>
            <a:ext cx="23114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en-US" sz="2000" b="0" i="0" u="none" strike="noStrike" spc="-300" dirty="0">
                <a:solidFill>
                  <a:srgbClr val="000000"/>
                </a:solidFill>
                <a:latin typeface="Pretendard SemiBold"/>
              </a:rPr>
              <a:t>1</a:t>
            </a:r>
            <a:r>
              <a:rPr lang="ko-KR" sz="2000" b="0" i="0" u="none" strike="noStrike" spc="-300" dirty="0">
                <a:solidFill>
                  <a:srgbClr val="000000"/>
                </a:solidFill>
                <a:ea typeface="Pretendard SemiBold"/>
              </a:rPr>
              <a:t>분</a:t>
            </a:r>
            <a:r>
              <a:rPr lang="en-US" sz="2000" b="0" i="0" u="none" strike="noStrike" spc="-300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000" b="0" i="0" u="none" strike="noStrike" spc="-300" dirty="0">
                <a:solidFill>
                  <a:srgbClr val="000000"/>
                </a:solidFill>
                <a:ea typeface="Pretendard SemiBold"/>
              </a:rPr>
              <a:t>이내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2895600"/>
            <a:ext cx="4711700" cy="1536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20800" y="3022600"/>
            <a:ext cx="14732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 dirty="0">
                <a:solidFill>
                  <a:srgbClr val="A3957D"/>
                </a:solidFill>
                <a:ea typeface="Pretendard SemiBold"/>
              </a:rPr>
              <a:t>기획의도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5400" y="3733800"/>
            <a:ext cx="50038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000" b="0" i="0" u="none" strike="noStrike" spc="-300" dirty="0">
                <a:solidFill>
                  <a:srgbClr val="000000"/>
                </a:solidFill>
                <a:ea typeface="Pretendard SemiBold"/>
              </a:rPr>
              <a:t>사이트</a:t>
            </a:r>
            <a:r>
              <a:rPr lang="en-US" sz="2000" b="0" i="0" u="none" strike="noStrike" spc="-300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000" b="0" i="0" u="none" strike="noStrike" spc="-300" dirty="0">
                <a:solidFill>
                  <a:srgbClr val="000000"/>
                </a:solidFill>
                <a:ea typeface="Pretendard SemiBold"/>
              </a:rPr>
              <a:t>유입</a:t>
            </a:r>
            <a:r>
              <a:rPr lang="en-US" altLang="ko-KR" sz="2000" b="0" i="0" u="none" strike="noStrike" spc="-300" dirty="0">
                <a:solidFill>
                  <a:srgbClr val="000000"/>
                </a:solidFill>
                <a:ea typeface="Pretendard SemiBold"/>
              </a:rPr>
              <a:t> </a:t>
            </a:r>
            <a:r>
              <a:rPr lang="en-US" sz="2000" b="0" i="0" u="none" strike="noStrike" spc="-300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000" b="0" i="0" u="none" strike="noStrike" spc="-300" dirty="0">
                <a:solidFill>
                  <a:srgbClr val="000000"/>
                </a:solidFill>
                <a:ea typeface="Pretendard SemiBold"/>
              </a:rPr>
              <a:t>인원</a:t>
            </a:r>
            <a:r>
              <a:rPr lang="en-US" altLang="ko-KR" sz="2000" b="0" i="0" u="none" strike="noStrike" spc="-300" dirty="0">
                <a:solidFill>
                  <a:srgbClr val="000000"/>
                </a:solidFill>
                <a:ea typeface="Pretendard SemiBold"/>
              </a:rPr>
              <a:t> </a:t>
            </a:r>
            <a:r>
              <a:rPr lang="en-US" sz="2000" b="0" i="0" u="none" strike="noStrike" spc="-300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000" b="0" i="0" u="none" strike="noStrike" spc="-300" dirty="0">
                <a:solidFill>
                  <a:srgbClr val="000000"/>
                </a:solidFill>
                <a:ea typeface="Pretendard SemiBold"/>
              </a:rPr>
              <a:t>증대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6600" y="2044700"/>
            <a:ext cx="14986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1" i="0" u="none" strike="noStrike">
                <a:solidFill>
                  <a:srgbClr val="000000"/>
                </a:solidFill>
                <a:ea typeface="Pretendard SemiBold"/>
              </a:rPr>
              <a:t>개요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650" y="3507658"/>
            <a:ext cx="1206500" cy="1054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3650" y="4833579"/>
            <a:ext cx="1181100" cy="1054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3650" y="6113821"/>
            <a:ext cx="1206500" cy="1054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3502" y="7446502"/>
            <a:ext cx="1206500" cy="1054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29850" y="8947150"/>
            <a:ext cx="1054100" cy="571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" y="0"/>
            <a:ext cx="184531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946900" y="4559300"/>
            <a:ext cx="43815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500" b="0" i="0" u="none" strike="noStrike">
                <a:solidFill>
                  <a:srgbClr val="8D776A"/>
                </a:solidFill>
                <a:ea typeface="Pretendard SemiBold"/>
              </a:rPr>
              <a:t>구매</a:t>
            </a:r>
            <a:r>
              <a:rPr lang="en-US" sz="5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8D776A"/>
                </a:solidFill>
                <a:ea typeface="Pretendard SemiBold"/>
              </a:rPr>
              <a:t>전환</a:t>
            </a:r>
            <a:r>
              <a:rPr lang="en-US" sz="5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184023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" y="3860800"/>
            <a:ext cx="6781800" cy="4495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241800" y="4318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 dirty="0">
                <a:solidFill>
                  <a:srgbClr val="FFFFFF"/>
                </a:solidFill>
                <a:ea typeface="Pretendard SemiBold"/>
              </a:rPr>
              <a:t>상세페이지</a:t>
            </a:r>
            <a:r>
              <a:rPr lang="en-US" sz="5500" b="0" i="0" u="none" strike="noStrike" dirty="0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altLang="en-US" sz="5500" dirty="0">
                <a:solidFill>
                  <a:srgbClr val="FFFFFF"/>
                </a:solidFill>
                <a:latin typeface="Pretendard SemiBold"/>
                <a:ea typeface="Pretendard SemiBold"/>
              </a:rPr>
              <a:t>분석</a:t>
            </a:r>
            <a:endParaRPr lang="ko-KR" sz="55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endParaRPr lang="ko-KR" sz="1800" b="0" i="0" u="none" strike="noStrike" spc="200" dirty="0">
              <a:solidFill>
                <a:srgbClr val="F4F4EC"/>
              </a:solidFill>
              <a:ea typeface="Pretendard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229100" y="2082800"/>
            <a:ext cx="99314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[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상세페이지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분석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]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9" name="TextBox 9"/>
          <p:cNvSpPr txBox="1"/>
          <p:nvPr/>
        </p:nvSpPr>
        <p:spPr>
          <a:xfrm>
            <a:off x="9182100" y="3581400"/>
            <a:ext cx="87503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페이지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,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체류시간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39300" y="4356100"/>
            <a:ext cx="125222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페이지뷰와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체류시간이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높은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페이지와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낮은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페이지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비교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94800" y="5130800"/>
            <a:ext cx="87503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2.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구매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전환율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39300" y="5943600"/>
            <a:ext cx="125222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구매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프로세스의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복잡성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의심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상세페이지의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매력도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부족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or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상품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신뢰도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부족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의심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07500" y="7289800"/>
            <a:ext cx="87503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3.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리뷰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39300" y="8089900"/>
            <a:ext cx="125222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리뷰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분석을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통하여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장점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도출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C8E45D70-AB12-C87A-CA52-9FC6E0A63C6C}"/>
              </a:ext>
            </a:extLst>
          </p:cNvPr>
          <p:cNvSpPr txBox="1"/>
          <p:nvPr/>
        </p:nvSpPr>
        <p:spPr>
          <a:xfrm>
            <a:off x="13347700" y="4826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endParaRPr lang="ko-KR" sz="1800" b="0" i="0" u="none" strike="noStrike" spc="200" dirty="0">
              <a:solidFill>
                <a:srgbClr val="F4F4EC"/>
              </a:solidFill>
              <a:ea typeface="Pretendard Light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9D60930C-3317-7D39-73F4-50C9207240C6}"/>
              </a:ext>
            </a:extLst>
          </p:cNvPr>
          <p:cNvSpPr txBox="1"/>
          <p:nvPr/>
        </p:nvSpPr>
        <p:spPr>
          <a:xfrm>
            <a:off x="13420827" y="287594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182880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1374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5900" y="2448232"/>
            <a:ext cx="10337800" cy="782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200" y="3733124"/>
            <a:ext cx="5143500" cy="3403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241800" y="4318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상세페이지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개선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 dirty="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 dirty="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2147483648" y="2147483647"/>
            <a:ext cx="2147483647" cy="2147483647"/>
            <a:chOff x="0" y="0"/>
            <a:chExt cx="0" cy="0"/>
          </a:xfrm>
        </p:grpSpPr>
      </p:grpSp>
      <p:sp>
        <p:nvSpPr>
          <p:cNvPr id="9" name="TextBox 9"/>
          <p:cNvSpPr txBox="1"/>
          <p:nvPr/>
        </p:nvSpPr>
        <p:spPr>
          <a:xfrm>
            <a:off x="393700" y="3213100"/>
            <a:ext cx="2235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500" b="0" i="0" u="none" strike="noStrike" dirty="0">
                <a:solidFill>
                  <a:srgbClr val="000000"/>
                </a:solidFill>
                <a:ea typeface="Pretendard Bold"/>
              </a:rPr>
              <a:t>컨텐츠</a:t>
            </a:r>
            <a:r>
              <a:rPr lang="en-US" sz="3500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altLang="en-US" sz="3500" dirty="0">
                <a:solidFill>
                  <a:srgbClr val="000000"/>
                </a:solidFill>
                <a:latin typeface="Pretendard Bold"/>
                <a:ea typeface="Pretendard Bold"/>
              </a:rPr>
              <a:t>추가</a:t>
            </a:r>
            <a:endParaRPr lang="ko-KR" sz="35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165100" y="4610100"/>
            <a:ext cx="7531100" cy="187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상세한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상품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설명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고품질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이미지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영상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추가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리뷰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사용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후기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강조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B1EFD25-8AB9-5994-EAE7-835143F3C5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500" y="5705578"/>
            <a:ext cx="5030652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182880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241800" y="4318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상세페이지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개선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2147483648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431800" y="3238500"/>
            <a:ext cx="2235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500" b="0" i="0" u="none" strike="noStrike" dirty="0">
                <a:solidFill>
                  <a:srgbClr val="000000"/>
                </a:solidFill>
                <a:latin typeface="Pretendard Bold"/>
              </a:rPr>
              <a:t>UI/UX </a:t>
            </a:r>
            <a:r>
              <a:rPr lang="ko-KR" sz="3500" b="0" i="0" u="none" strike="noStrike" dirty="0">
                <a:solidFill>
                  <a:srgbClr val="000000"/>
                </a:solidFill>
                <a:ea typeface="Pretendard Bold"/>
              </a:rPr>
              <a:t>개선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2514600" y="3645310"/>
            <a:ext cx="85217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1104900" lvl="2" indent="-342900" algn="ctr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en-US" sz="3000" dirty="0">
                <a:solidFill>
                  <a:srgbClr val="000000"/>
                </a:solidFill>
                <a:latin typeface="Pretendard Medium"/>
                <a:ea typeface="Pretendard Medium"/>
              </a:rPr>
              <a:t>레이아웃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en-US" sz="3000" dirty="0">
                <a:solidFill>
                  <a:srgbClr val="000000"/>
                </a:solidFill>
                <a:latin typeface="Pretendard Medium"/>
                <a:ea typeface="Pretendard Medium"/>
              </a:rPr>
              <a:t>디자인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ea typeface="Pretendard Medium"/>
              </a:rPr>
              <a:t>조정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BC9B61E-4DCE-48C2-0880-782CE2471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0" y="1887794"/>
            <a:ext cx="5570308" cy="8386506"/>
          </a:xfrm>
          <a:prstGeom prst="rect">
            <a:avLst/>
          </a:prstGeom>
        </p:spPr>
      </p:pic>
      <p:pic>
        <p:nvPicPr>
          <p:cNvPr id="25" name="그림 2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80AA46F-2D49-5DB8-A217-C1506DBDD6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170" y="2667532"/>
            <a:ext cx="5791200" cy="65913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13383A9-39E7-F907-1268-68381B40CE6A}"/>
              </a:ext>
            </a:extLst>
          </p:cNvPr>
          <p:cNvSpPr txBox="1"/>
          <p:nvPr/>
        </p:nvSpPr>
        <p:spPr>
          <a:xfrm>
            <a:off x="2581787" y="2131757"/>
            <a:ext cx="9188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0" lvl="2" algn="ctr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b="0" i="0" u="none" strike="noStrike" dirty="0">
                <a:solidFill>
                  <a:srgbClr val="000000"/>
                </a:solidFill>
                <a:ea typeface="Pretendard Medium"/>
              </a:rPr>
              <a:t>기존 이벤트 페이지 </a:t>
            </a:r>
            <a:endParaRPr lang="ko-KR" altLang="ko-KR" sz="2400" b="0" i="0" u="none" strike="noStrike" dirty="0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561E2D77-2511-A9C4-4D7A-4A1FBD122221}"/>
              </a:ext>
            </a:extLst>
          </p:cNvPr>
          <p:cNvSpPr/>
          <p:nvPr/>
        </p:nvSpPr>
        <p:spPr>
          <a:xfrm>
            <a:off x="10733216" y="5963182"/>
            <a:ext cx="1318265" cy="6757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182880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241800" y="4318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상세페이지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개선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2147483648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431800" y="3238500"/>
            <a:ext cx="2235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500" b="0" i="0" u="none" strike="noStrike" dirty="0">
                <a:solidFill>
                  <a:srgbClr val="000000"/>
                </a:solidFill>
                <a:latin typeface="Pretendard Bold"/>
              </a:rPr>
              <a:t>UI/UX </a:t>
            </a:r>
            <a:r>
              <a:rPr lang="ko-KR" sz="3500" b="0" i="0" u="none" strike="noStrike" dirty="0">
                <a:solidFill>
                  <a:srgbClr val="000000"/>
                </a:solidFill>
                <a:ea typeface="Pretendard Bold"/>
              </a:rPr>
              <a:t>개선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571296" y="3848100"/>
            <a:ext cx="85217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1104900" lvl="2" indent="-342900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 dirty="0">
                <a:solidFill>
                  <a:srgbClr val="000000"/>
                </a:solidFill>
                <a:latin typeface="pret"/>
                <a:ea typeface="Pretendard Medium"/>
              </a:rPr>
              <a:t>전환율을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pret"/>
                <a:ea typeface="Pretendard Medium"/>
              </a:rPr>
              <a:t>높이기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pret"/>
                <a:ea typeface="Pretendard Medium"/>
              </a:rPr>
              <a:t>위</a:t>
            </a:r>
            <a:r>
              <a:rPr lang="ko-KR" altLang="en-US" sz="3000" b="0" i="0" u="none" strike="noStrike" dirty="0">
                <a:solidFill>
                  <a:srgbClr val="000000"/>
                </a:solidFill>
                <a:latin typeface="pret"/>
                <a:ea typeface="Pretendard Medium"/>
              </a:rPr>
              <a:t>한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"/>
              </a:rPr>
              <a:t> </a:t>
            </a:r>
            <a:br>
              <a:rPr lang="en-US" sz="3000" b="0" i="0" u="none" strike="noStrike" dirty="0">
                <a:solidFill>
                  <a:srgbClr val="000000"/>
                </a:solidFill>
                <a:latin typeface="pret"/>
              </a:rPr>
            </a:br>
            <a:r>
              <a:rPr lang="ko-KR" sz="3000" b="0" i="0" u="none" strike="noStrike" dirty="0">
                <a:solidFill>
                  <a:srgbClr val="000000"/>
                </a:solidFill>
                <a:latin typeface="pret"/>
                <a:ea typeface="Pretendard Medium"/>
              </a:rPr>
              <a:t>구매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pret"/>
                <a:ea typeface="Pretendard Medium"/>
              </a:rPr>
              <a:t>프로세스</a:t>
            </a:r>
            <a:r>
              <a:rPr lang="en-US" sz="3000" b="0" i="0" u="none" strike="noStrike" dirty="0">
                <a:solidFill>
                  <a:srgbClr val="000000"/>
                </a:solidFill>
                <a:latin typeface="pret"/>
              </a:rPr>
              <a:t> </a:t>
            </a:r>
            <a:r>
              <a:rPr lang="ko-KR" altLang="en-US" sz="3000" b="0" i="0" u="none" strike="noStrike" dirty="0">
                <a:solidFill>
                  <a:srgbClr val="000000"/>
                </a:solidFill>
                <a:latin typeface="pret"/>
              </a:rPr>
              <a:t>정보</a:t>
            </a:r>
            <a:r>
              <a:rPr lang="en-US" altLang="ko-KR" sz="3000" dirty="0">
                <a:solidFill>
                  <a:srgbClr val="000000"/>
                </a:solidFill>
                <a:latin typeface="pret"/>
              </a:rPr>
              <a:t> </a:t>
            </a:r>
            <a:r>
              <a:rPr lang="ko-KR" altLang="en-US" sz="3000" dirty="0">
                <a:solidFill>
                  <a:srgbClr val="000000"/>
                </a:solidFill>
                <a:latin typeface="pret"/>
              </a:rPr>
              <a:t>제공</a:t>
            </a:r>
            <a:endParaRPr lang="ko-KR" sz="3000" b="0" i="0" u="none" strike="noStrike" dirty="0">
              <a:solidFill>
                <a:srgbClr val="000000"/>
              </a:solidFill>
              <a:latin typeface="pret"/>
              <a:ea typeface="Pretendard Medium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CD00ADC-85C7-96BB-5B0E-D0BECC3311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0" y="2857500"/>
            <a:ext cx="5454445" cy="618699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348965-73CA-1156-59E9-F2FF5F4401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3954" y="2648431"/>
            <a:ext cx="5454445" cy="625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47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184023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213100"/>
            <a:ext cx="9855200" cy="580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2400300"/>
            <a:ext cx="9410700" cy="3149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000500" y="4953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매월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이벤트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기획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000500" y="4953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매월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이벤트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기획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92100" y="2425700"/>
            <a:ext cx="6794500" cy="3822700"/>
          </a:xfrm>
          <a:prstGeom prst="rect">
            <a:avLst/>
          </a:prstGeom>
          <a:effectLst>
            <a:outerShdw blurRad="145562" dist="17644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" y="7264400"/>
            <a:ext cx="8153400" cy="279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3200" y="7264400"/>
            <a:ext cx="8928100" cy="2794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347200" y="7391400"/>
            <a:ext cx="8077200" cy="208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6240"/>
              </a:lnSpc>
            </a:pPr>
            <a:r>
              <a:rPr lang="ko-KR" sz="3500" b="1" i="0" u="none" strike="noStrike" dirty="0">
                <a:solidFill>
                  <a:srgbClr val="8D776A"/>
                </a:solidFill>
                <a:ea typeface="Pretendard SemiBold"/>
              </a:rPr>
              <a:t>목표</a:t>
            </a:r>
          </a:p>
          <a:p>
            <a:pPr lvl="0" algn="l">
              <a:lnSpc>
                <a:spcPct val="106240"/>
              </a:lnSpc>
            </a:pP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경쟁사보다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더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가격적으로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경쟁에서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우위를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차지하는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인식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제공</a:t>
            </a:r>
          </a:p>
          <a:p>
            <a:pPr lvl="0" algn="l">
              <a:lnSpc>
                <a:spcPct val="106240"/>
              </a:lnSpc>
            </a:pP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단체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답례품의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합리적인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가격을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강조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7391400"/>
            <a:ext cx="7632700" cy="238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6240"/>
              </a:lnSpc>
            </a:pPr>
            <a:r>
              <a:rPr lang="ko-KR" sz="3200" b="1" i="0" u="none" strike="noStrike" dirty="0">
                <a:solidFill>
                  <a:srgbClr val="8D776A"/>
                </a:solidFill>
                <a:ea typeface="Pretendard SemiBold"/>
              </a:rPr>
              <a:t>개요</a:t>
            </a:r>
          </a:p>
          <a:p>
            <a:pPr lvl="0" algn="l">
              <a:lnSpc>
                <a:spcPct val="106240"/>
              </a:lnSpc>
            </a:pP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특정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고객을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타깃으로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이벤트를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진행하여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고객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개인화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성향의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이벤트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진행</a:t>
            </a:r>
          </a:p>
          <a:p>
            <a:pPr lvl="0" algn="l">
              <a:lnSpc>
                <a:spcPct val="106240"/>
              </a:lnSpc>
            </a:pP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기존의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할인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시스템을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유지하되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이름을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부여하여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이벤트의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명목을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다르게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하고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부담되지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않는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가격을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ea typeface="Pretendard SemiBold"/>
              </a:rPr>
              <a:t>제시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5300" y="2628900"/>
            <a:ext cx="5270500" cy="3517900"/>
          </a:xfrm>
          <a:prstGeom prst="rect">
            <a:avLst/>
          </a:prstGeom>
          <a:effectLst>
            <a:outerShdw blurRad="123089" dist="216343" dir="2700000">
              <a:srgbClr val="000000">
                <a:alpha val="5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84100" y="2603500"/>
            <a:ext cx="5321300" cy="3543300"/>
          </a:xfrm>
          <a:prstGeom prst="rect">
            <a:avLst/>
          </a:prstGeom>
          <a:effectLst>
            <a:outerShdw blurRad="125191" dist="218183" dir="2700000">
              <a:srgbClr val="000000">
                <a:alpha val="50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3302000"/>
            <a:ext cx="990600" cy="393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3860800"/>
            <a:ext cx="990600" cy="393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289300"/>
            <a:ext cx="990600" cy="393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860800"/>
            <a:ext cx="990600" cy="393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340100" y="2997200"/>
            <a:ext cx="45720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7200" b="0" i="0" u="none" strike="noStrike">
                <a:solidFill>
                  <a:srgbClr val="FDFDF2"/>
                </a:solidFill>
                <a:ea typeface="Pretendard SemiBold"/>
              </a:rPr>
              <a:t>신규</a:t>
            </a:r>
            <a:r>
              <a:rPr lang="en-US" sz="72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FDFDF2"/>
                </a:solidFill>
                <a:ea typeface="Pretendard SemiBold"/>
              </a:rPr>
              <a:t>유입량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34600" y="3403600"/>
            <a:ext cx="45212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7200" b="0" i="0" u="none" strike="noStrike" dirty="0">
                <a:solidFill>
                  <a:srgbClr val="E0D9D1"/>
                </a:solidFill>
                <a:ea typeface="Pretendard SemiBold"/>
              </a:rPr>
              <a:t>구매</a:t>
            </a:r>
            <a:r>
              <a:rPr lang="en-US" sz="7200" b="0" i="0" u="none" strike="noStrike" dirty="0">
                <a:solidFill>
                  <a:srgbClr val="E0D9D1"/>
                </a:solidFill>
                <a:latin typeface="Pretendard SemiBold"/>
              </a:rPr>
              <a:t> </a:t>
            </a:r>
            <a:r>
              <a:rPr lang="ko-KR" sz="7200" b="0" i="0" u="none" strike="noStrike" dirty="0" err="1">
                <a:solidFill>
                  <a:srgbClr val="E0D9D1"/>
                </a:solidFill>
                <a:ea typeface="Pretendard SemiBold"/>
              </a:rPr>
              <a:t>전환율</a:t>
            </a:r>
            <a:endParaRPr lang="ko-KR" sz="7200" b="0" i="0" u="none" strike="noStrike" dirty="0">
              <a:solidFill>
                <a:srgbClr val="E0D9D1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73400" y="5118100"/>
            <a:ext cx="112395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신규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고객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유입과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구매전환율을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높혀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매출을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상승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65600" y="330200"/>
            <a:ext cx="10287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목표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성과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0" y="5334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목표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성과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095500" y="2209800"/>
          <a:ext cx="14249400" cy="7327900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분류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현재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집행</a:t>
                      </a:r>
                      <a:r>
                        <a:rPr lang="en-US" sz="2400" b="1" i="0" u="sng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후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52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SNS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채널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 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유입량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결제율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6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월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최근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기준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4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/0%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안에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(7.17~7.31)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100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/10%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이상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2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파워링크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광고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 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유입량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결제율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6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월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최근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기준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94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/3.26%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안에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(7.17~7.31)</a:t>
                      </a:r>
                      <a:b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</a:b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200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/8%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이상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2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상세페이지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조회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대비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결제율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최근</a:t>
                      </a: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15</a:t>
                      </a:r>
                      <a:r>
                        <a:rPr lang="ko-KR" sz="23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기준</a:t>
                      </a: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(7.10)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55.5%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안에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(7.17~7.31)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80%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이상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2500" y="4064000"/>
            <a:ext cx="1003300" cy="156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200" y="4064000"/>
            <a:ext cx="1003300" cy="1562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187700" y="3911600"/>
            <a:ext cx="11912600" cy="194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11000" b="0" i="0" u="none" strike="noStrike">
                <a:solidFill>
                  <a:srgbClr val="F4F4EC"/>
                </a:solidFill>
                <a:latin typeface="Pretendard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1647</Words>
  <Application>Microsoft Office PowerPoint</Application>
  <PresentationFormat>사용자 지정</PresentationFormat>
  <Paragraphs>345</Paragraphs>
  <Slides>27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41" baseType="lpstr">
      <vt:lpstr>Calibri</vt:lpstr>
      <vt:lpstr>Pretendard Bold</vt:lpstr>
      <vt:lpstr>pret</vt:lpstr>
      <vt:lpstr>Hakgyoansim Gaeulsopung B</vt:lpstr>
      <vt:lpstr>Pretendard Medium</vt:lpstr>
      <vt:lpstr>Pretendard SemiBold</vt:lpstr>
      <vt:lpstr>Pretendard Light</vt:lpstr>
      <vt:lpstr>Pretendard Regular</vt:lpstr>
      <vt:lpstr>맑은 고딕</vt:lpstr>
      <vt:lpstr>S-Core Dream 4 Regular</vt:lpstr>
      <vt:lpstr>Arial</vt:lpstr>
      <vt:lpstr>S-Core Dream 5 Medium</vt:lpstr>
      <vt:lpstr>Pretendard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김보정</dc:creator>
  <cp:lastModifiedBy>보정 김</cp:lastModifiedBy>
  <cp:revision>4</cp:revision>
  <dcterms:created xsi:type="dcterms:W3CDTF">2006-08-16T00:00:00Z</dcterms:created>
  <dcterms:modified xsi:type="dcterms:W3CDTF">2024-07-12T04:14:39Z</dcterms:modified>
</cp:coreProperties>
</file>